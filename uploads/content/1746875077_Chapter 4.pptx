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72" r:id="rId4"/>
    <p:sldId id="271" r:id="rId5"/>
    <p:sldId id="258" r:id="rId6"/>
    <p:sldId id="259" r:id="rId7"/>
    <p:sldId id="274" r:id="rId8"/>
    <p:sldId id="273" r:id="rId9"/>
    <p:sldId id="260" r:id="rId10"/>
    <p:sldId id="261" r:id="rId11"/>
    <p:sldId id="275" r:id="rId12"/>
    <p:sldId id="262" r:id="rId13"/>
    <p:sldId id="276" r:id="rId14"/>
    <p:sldId id="277" r:id="rId15"/>
    <p:sldId id="278" r:id="rId16"/>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7" d="100"/>
          <a:sy n="57" d="100"/>
        </p:scale>
        <p:origin x="1376" y="4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4400" b="1" i="0">
                <a:solidFill>
                  <a:srgbClr val="080808"/>
                </a:solidFill>
                <a:latin typeface="Times New Roman"/>
                <a:cs typeface="Times New Roman"/>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2150" b="0" i="0">
                <a:solidFill>
                  <a:srgbClr val="080808"/>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9/29/2024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080808"/>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150" b="0" i="0">
                <a:solidFill>
                  <a:srgbClr val="080808"/>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9/29/2024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080808"/>
                </a:solidFill>
                <a:latin typeface="Times New Roman"/>
                <a:cs typeface="Times New Roman"/>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9/29/2024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080808"/>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9/29/2024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9/29/2024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46618" y="450143"/>
            <a:ext cx="8841105" cy="723265"/>
          </a:xfrm>
          <a:prstGeom prst="rect">
            <a:avLst/>
          </a:prstGeom>
        </p:spPr>
        <p:txBody>
          <a:bodyPr wrap="square" lIns="0" tIns="0" rIns="0" bIns="0">
            <a:spAutoFit/>
          </a:bodyPr>
          <a:lstStyle>
            <a:lvl1pPr>
              <a:defRPr sz="4400" b="1" i="0">
                <a:solidFill>
                  <a:srgbClr val="080808"/>
                </a:solidFill>
                <a:latin typeface="Times New Roman"/>
                <a:cs typeface="Times New Roman"/>
              </a:defRPr>
            </a:lvl1pPr>
          </a:lstStyle>
          <a:p>
            <a:endParaRPr/>
          </a:p>
        </p:txBody>
      </p:sp>
      <p:sp>
        <p:nvSpPr>
          <p:cNvPr id="3" name="Holder 3"/>
          <p:cNvSpPr>
            <a:spLocks noGrp="1"/>
          </p:cNvSpPr>
          <p:nvPr>
            <p:ph type="body" idx="1"/>
          </p:nvPr>
        </p:nvSpPr>
        <p:spPr>
          <a:xfrm>
            <a:off x="584802" y="2012412"/>
            <a:ext cx="4853940" cy="4784725"/>
          </a:xfrm>
          <a:prstGeom prst="rect">
            <a:avLst/>
          </a:prstGeom>
        </p:spPr>
        <p:txBody>
          <a:bodyPr wrap="square" lIns="0" tIns="0" rIns="0" bIns="0">
            <a:spAutoFit/>
          </a:bodyPr>
          <a:lstStyle>
            <a:lvl1pPr>
              <a:defRPr sz="2150" b="0" i="0">
                <a:solidFill>
                  <a:srgbClr val="080808"/>
                </a:solidFill>
                <a:latin typeface="Arial"/>
                <a:cs typeface="Arial"/>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9/29/2024</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272708"/>
            <a:ext cx="10058400" cy="7099934"/>
            <a:chOff x="0" y="272708"/>
            <a:chExt cx="10058400" cy="7099934"/>
          </a:xfrm>
        </p:grpSpPr>
        <p:pic>
          <p:nvPicPr>
            <p:cNvPr id="3" name="object 3"/>
            <p:cNvPicPr/>
            <p:nvPr/>
          </p:nvPicPr>
          <p:blipFill>
            <a:blip r:embed="rId2" cstate="print"/>
            <a:stretch>
              <a:fillRect/>
            </a:stretch>
          </p:blipFill>
          <p:spPr>
            <a:xfrm>
              <a:off x="0" y="1795426"/>
              <a:ext cx="10058400" cy="2590598"/>
            </a:xfrm>
            <a:prstGeom prst="rect">
              <a:avLst/>
            </a:prstGeom>
          </p:spPr>
        </p:pic>
        <p:sp>
          <p:nvSpPr>
            <p:cNvPr id="4" name="object 4"/>
            <p:cNvSpPr/>
            <p:nvPr/>
          </p:nvSpPr>
          <p:spPr>
            <a:xfrm>
              <a:off x="69100" y="272708"/>
              <a:ext cx="9951085" cy="7099934"/>
            </a:xfrm>
            <a:custGeom>
              <a:avLst/>
              <a:gdLst/>
              <a:ahLst/>
              <a:cxnLst/>
              <a:rect l="l" t="t" r="r" b="b"/>
              <a:pathLst>
                <a:path w="9951085" h="7099934">
                  <a:moveTo>
                    <a:pt x="0" y="7099425"/>
                  </a:moveTo>
                  <a:lnTo>
                    <a:pt x="0" y="4113316"/>
                  </a:lnTo>
                </a:path>
                <a:path w="9951085" h="7099934">
                  <a:moveTo>
                    <a:pt x="0" y="1522718"/>
                  </a:moveTo>
                  <a:lnTo>
                    <a:pt x="0" y="19775"/>
                  </a:lnTo>
                </a:path>
                <a:path w="9951085" h="7099934">
                  <a:moveTo>
                    <a:pt x="9950461" y="1522718"/>
                  </a:moveTo>
                  <a:lnTo>
                    <a:pt x="9950461" y="0"/>
                  </a:lnTo>
                </a:path>
              </a:pathLst>
            </a:custGeom>
            <a:ln w="9879">
              <a:solidFill>
                <a:srgbClr val="000000"/>
              </a:solidFill>
            </a:ln>
          </p:spPr>
          <p:txBody>
            <a:bodyPr wrap="square" lIns="0" tIns="0" rIns="0" bIns="0" rtlCol="0"/>
            <a:lstStyle/>
            <a:p>
              <a:endParaRPr/>
            </a:p>
          </p:txBody>
        </p:sp>
      </p:grpSp>
      <p:sp>
        <p:nvSpPr>
          <p:cNvPr id="5" name="object 5"/>
          <p:cNvSpPr/>
          <p:nvPr/>
        </p:nvSpPr>
        <p:spPr>
          <a:xfrm>
            <a:off x="236915" y="124392"/>
            <a:ext cx="9615170" cy="0"/>
          </a:xfrm>
          <a:custGeom>
            <a:avLst/>
            <a:gdLst/>
            <a:ahLst/>
            <a:cxnLst/>
            <a:rect l="l" t="t" r="r" b="b"/>
            <a:pathLst>
              <a:path w="9615170">
                <a:moveTo>
                  <a:pt x="0" y="0"/>
                </a:moveTo>
                <a:lnTo>
                  <a:pt x="9614831" y="0"/>
                </a:lnTo>
              </a:path>
            </a:pathLst>
          </a:custGeom>
          <a:ln w="9887">
            <a:solidFill>
              <a:srgbClr val="000000"/>
            </a:solidFill>
          </a:ln>
        </p:spPr>
        <p:txBody>
          <a:bodyPr wrap="square" lIns="0" tIns="0" rIns="0" bIns="0" rtlCol="0"/>
          <a:lstStyle/>
          <a:p>
            <a:endParaRPr/>
          </a:p>
        </p:txBody>
      </p:sp>
      <p:sp>
        <p:nvSpPr>
          <p:cNvPr id="6" name="object 6"/>
          <p:cNvSpPr/>
          <p:nvPr/>
        </p:nvSpPr>
        <p:spPr>
          <a:xfrm>
            <a:off x="236915" y="7530339"/>
            <a:ext cx="9634855" cy="0"/>
          </a:xfrm>
          <a:custGeom>
            <a:avLst/>
            <a:gdLst/>
            <a:ahLst/>
            <a:cxnLst/>
            <a:rect l="l" t="t" r="r" b="b"/>
            <a:pathLst>
              <a:path w="9634855">
                <a:moveTo>
                  <a:pt x="0" y="0"/>
                </a:moveTo>
                <a:lnTo>
                  <a:pt x="9634572" y="0"/>
                </a:lnTo>
              </a:path>
            </a:pathLst>
          </a:custGeom>
          <a:ln w="9887">
            <a:solidFill>
              <a:srgbClr val="000000"/>
            </a:solidFill>
          </a:ln>
        </p:spPr>
        <p:txBody>
          <a:bodyPr wrap="square" lIns="0" tIns="0" rIns="0" bIns="0" rtlCol="0"/>
          <a:lstStyle/>
          <a:p>
            <a:endParaRPr/>
          </a:p>
        </p:txBody>
      </p:sp>
      <p:sp>
        <p:nvSpPr>
          <p:cNvPr id="7" name="object 7"/>
          <p:cNvSpPr txBox="1">
            <a:spLocks noGrp="1"/>
          </p:cNvSpPr>
          <p:nvPr>
            <p:ph type="title"/>
          </p:nvPr>
        </p:nvSpPr>
        <p:spPr>
          <a:xfrm>
            <a:off x="3451212" y="1078841"/>
            <a:ext cx="4321188" cy="685444"/>
          </a:xfrm>
          <a:prstGeom prst="rect">
            <a:avLst/>
          </a:prstGeom>
        </p:spPr>
        <p:txBody>
          <a:bodyPr vert="horz" wrap="square" lIns="0" tIns="15875" rIns="0" bIns="0" rtlCol="0">
            <a:spAutoFit/>
          </a:bodyPr>
          <a:lstStyle/>
          <a:p>
            <a:pPr marL="12700">
              <a:lnSpc>
                <a:spcPct val="100000"/>
              </a:lnSpc>
              <a:spcBef>
                <a:spcPts val="125"/>
              </a:spcBef>
            </a:pPr>
            <a:r>
              <a:rPr sz="4350" spc="-775" dirty="0" smtClean="0">
                <a:solidFill>
                  <a:srgbClr val="0F0F0F"/>
                </a:solidFill>
              </a:rPr>
              <a:t>MODERN</a:t>
            </a:r>
            <a:r>
              <a:rPr lang="en-US" sz="4350" spc="-775" dirty="0" smtClean="0">
                <a:solidFill>
                  <a:srgbClr val="0F0F0F"/>
                </a:solidFill>
              </a:rPr>
              <a:t> </a:t>
            </a:r>
            <a:r>
              <a:rPr sz="4350" spc="-775" dirty="0" smtClean="0">
                <a:solidFill>
                  <a:srgbClr val="0F0F0F"/>
                </a:solidFill>
              </a:rPr>
              <a:t>ERP</a:t>
            </a:r>
            <a:endParaRPr sz="4350" dirty="0"/>
          </a:p>
        </p:txBody>
      </p:sp>
      <p:sp>
        <p:nvSpPr>
          <p:cNvPr id="8" name="object 8"/>
          <p:cNvSpPr txBox="1"/>
          <p:nvPr/>
        </p:nvSpPr>
        <p:spPr>
          <a:xfrm>
            <a:off x="9883199" y="2123649"/>
            <a:ext cx="137795" cy="447040"/>
          </a:xfrm>
          <a:prstGeom prst="rect">
            <a:avLst/>
          </a:prstGeom>
        </p:spPr>
        <p:txBody>
          <a:bodyPr vert="horz" wrap="square" lIns="0" tIns="14604" rIns="0" bIns="0" rtlCol="0">
            <a:spAutoFit/>
          </a:bodyPr>
          <a:lstStyle/>
          <a:p>
            <a:pPr marL="38100">
              <a:lnSpc>
                <a:spcPct val="100000"/>
              </a:lnSpc>
              <a:spcBef>
                <a:spcPts val="114"/>
              </a:spcBef>
            </a:pPr>
            <a:r>
              <a:rPr sz="4125" spc="-1200" baseline="-30303" dirty="0">
                <a:solidFill>
                  <a:srgbClr val="D88518"/>
                </a:solidFill>
                <a:latin typeface="Times New Roman"/>
                <a:cs typeface="Times New Roman"/>
              </a:rPr>
              <a:t>•</a:t>
            </a:r>
            <a:r>
              <a:rPr sz="1100" spc="-95" dirty="0">
                <a:solidFill>
                  <a:srgbClr val="D88518"/>
                </a:solidFill>
                <a:latin typeface="Times New Roman"/>
                <a:cs typeface="Times New Roman"/>
              </a:rPr>
              <a:t>I</a:t>
            </a:r>
            <a:endParaRPr sz="1100">
              <a:latin typeface="Times New Roman"/>
              <a:cs typeface="Times New Roman"/>
            </a:endParaRPr>
          </a:p>
        </p:txBody>
      </p:sp>
      <p:sp>
        <p:nvSpPr>
          <p:cNvPr id="9" name="object 9"/>
          <p:cNvSpPr txBox="1"/>
          <p:nvPr/>
        </p:nvSpPr>
        <p:spPr>
          <a:xfrm>
            <a:off x="9881796" y="2394740"/>
            <a:ext cx="200660" cy="477520"/>
          </a:xfrm>
          <a:prstGeom prst="rect">
            <a:avLst/>
          </a:prstGeom>
        </p:spPr>
        <p:txBody>
          <a:bodyPr vert="horz" wrap="square" lIns="0" tIns="14604" rIns="0" bIns="0" rtlCol="0">
            <a:spAutoFit/>
          </a:bodyPr>
          <a:lstStyle/>
          <a:p>
            <a:pPr marL="38100">
              <a:lnSpc>
                <a:spcPct val="100000"/>
              </a:lnSpc>
              <a:spcBef>
                <a:spcPts val="114"/>
              </a:spcBef>
            </a:pPr>
            <a:r>
              <a:rPr sz="2950" spc="-1035" dirty="0">
                <a:solidFill>
                  <a:srgbClr val="D88518"/>
                </a:solidFill>
                <a:latin typeface="Times New Roman"/>
                <a:cs typeface="Times New Roman"/>
              </a:rPr>
              <a:t>•</a:t>
            </a:r>
            <a:r>
              <a:rPr sz="3900" spc="-7" baseline="-18162" dirty="0">
                <a:solidFill>
                  <a:srgbClr val="D88518"/>
                </a:solidFill>
                <a:latin typeface="Times New Roman"/>
                <a:cs typeface="Times New Roman"/>
              </a:rPr>
              <a:t>•</a:t>
            </a:r>
            <a:endParaRPr sz="3900" baseline="-18162">
              <a:latin typeface="Times New Roman"/>
              <a:cs typeface="Times New Roman"/>
            </a:endParaRPr>
          </a:p>
        </p:txBody>
      </p:sp>
      <p:sp>
        <p:nvSpPr>
          <p:cNvPr id="10" name="object 10"/>
          <p:cNvSpPr txBox="1"/>
          <p:nvPr/>
        </p:nvSpPr>
        <p:spPr>
          <a:xfrm>
            <a:off x="9906144" y="2612888"/>
            <a:ext cx="163830" cy="501015"/>
          </a:xfrm>
          <a:prstGeom prst="rect">
            <a:avLst/>
          </a:prstGeom>
        </p:spPr>
        <p:txBody>
          <a:bodyPr vert="horz" wrap="square" lIns="0" tIns="14604" rIns="0" bIns="0" rtlCol="0">
            <a:spAutoFit/>
          </a:bodyPr>
          <a:lstStyle/>
          <a:p>
            <a:pPr marL="12700">
              <a:lnSpc>
                <a:spcPct val="100000"/>
              </a:lnSpc>
              <a:spcBef>
                <a:spcPts val="114"/>
              </a:spcBef>
            </a:pPr>
            <a:r>
              <a:rPr sz="3100" spc="-50" dirty="0">
                <a:solidFill>
                  <a:srgbClr val="D88518"/>
                </a:solidFill>
                <a:latin typeface="Times New Roman"/>
                <a:cs typeface="Times New Roman"/>
              </a:rPr>
              <a:t>•</a:t>
            </a:r>
            <a:endParaRPr sz="3100">
              <a:latin typeface="Times New Roman"/>
              <a:cs typeface="Times New Roman"/>
            </a:endParaRPr>
          </a:p>
        </p:txBody>
      </p:sp>
      <p:sp>
        <p:nvSpPr>
          <p:cNvPr id="11" name="object 11"/>
          <p:cNvSpPr txBox="1"/>
          <p:nvPr/>
        </p:nvSpPr>
        <p:spPr>
          <a:xfrm>
            <a:off x="1162206" y="4814195"/>
            <a:ext cx="7314565" cy="2063770"/>
          </a:xfrm>
          <a:prstGeom prst="rect">
            <a:avLst/>
          </a:prstGeom>
        </p:spPr>
        <p:txBody>
          <a:bodyPr vert="horz" wrap="square" lIns="0" tIns="12065" rIns="0" bIns="0" rtlCol="0">
            <a:spAutoFit/>
          </a:bodyPr>
          <a:lstStyle/>
          <a:p>
            <a:pPr marL="2573020" marR="636270" indent="-1801495">
              <a:lnSpc>
                <a:spcPct val="114500"/>
              </a:lnSpc>
              <a:spcBef>
                <a:spcPts val="95"/>
              </a:spcBef>
            </a:pPr>
            <a:r>
              <a:rPr sz="2550" spc="-360" dirty="0" smtClean="0">
                <a:solidFill>
                  <a:srgbClr val="0F0F0F"/>
                </a:solidFill>
                <a:latin typeface="Times New Roman"/>
                <a:cs typeface="Times New Roman"/>
              </a:rPr>
              <a:t>SELECT,</a:t>
            </a:r>
            <a:r>
              <a:rPr sz="2550" spc="-135" dirty="0" smtClean="0">
                <a:solidFill>
                  <a:srgbClr val="0F0F0F"/>
                </a:solidFill>
                <a:latin typeface="Times New Roman"/>
                <a:cs typeface="Times New Roman"/>
              </a:rPr>
              <a:t> </a:t>
            </a:r>
            <a:r>
              <a:rPr sz="2550" spc="-350" dirty="0" err="1" smtClean="0">
                <a:solidFill>
                  <a:srgbClr val="0F0F0F"/>
                </a:solidFill>
                <a:latin typeface="Times New Roman"/>
                <a:cs typeface="Times New Roman"/>
              </a:rPr>
              <a:t>lMPLEMENT</a:t>
            </a:r>
            <a:r>
              <a:rPr sz="2550" spc="-180" dirty="0" smtClean="0">
                <a:solidFill>
                  <a:srgbClr val="0F0F0F"/>
                </a:solidFill>
                <a:latin typeface="Times New Roman"/>
                <a:cs typeface="Times New Roman"/>
              </a:rPr>
              <a:t> </a:t>
            </a:r>
            <a:r>
              <a:rPr sz="2300" spc="-125" dirty="0" smtClean="0">
                <a:solidFill>
                  <a:srgbClr val="0F0F0F"/>
                </a:solidFill>
                <a:latin typeface="Times New Roman"/>
                <a:cs typeface="Times New Roman"/>
              </a:rPr>
              <a:t>&amp;</a:t>
            </a:r>
            <a:r>
              <a:rPr sz="2550" spc="-300" dirty="0" smtClean="0">
                <a:solidFill>
                  <a:srgbClr val="0F0F0F"/>
                </a:solidFill>
                <a:latin typeface="Times New Roman"/>
                <a:cs typeface="Times New Roman"/>
              </a:rPr>
              <a:t>US</a:t>
            </a:r>
            <a:r>
              <a:rPr sz="2550" spc="-20" dirty="0" smtClean="0">
                <a:solidFill>
                  <a:srgbClr val="0F0F0F"/>
                </a:solidFill>
                <a:latin typeface="Times New Roman"/>
                <a:cs typeface="Times New Roman"/>
              </a:rPr>
              <a:t>E</a:t>
            </a:r>
            <a:r>
              <a:rPr sz="2550" spc="-300" dirty="0" smtClean="0">
                <a:solidFill>
                  <a:srgbClr val="0F0F0F"/>
                </a:solidFill>
                <a:latin typeface="Times New Roman"/>
                <a:cs typeface="Times New Roman"/>
              </a:rPr>
              <a:t>TOD</a:t>
            </a:r>
            <a:r>
              <a:rPr sz="2550" spc="-615" dirty="0" smtClean="0">
                <a:solidFill>
                  <a:srgbClr val="0F0F0F"/>
                </a:solidFill>
                <a:latin typeface="Times New Roman"/>
                <a:cs typeface="Times New Roman"/>
              </a:rPr>
              <a:t>A</a:t>
            </a:r>
            <a:r>
              <a:rPr sz="2550" spc="-300" dirty="0" smtClean="0">
                <a:solidFill>
                  <a:srgbClr val="0F0F0F"/>
                </a:solidFill>
                <a:latin typeface="Times New Roman"/>
                <a:cs typeface="Times New Roman"/>
              </a:rPr>
              <a:t>Y'</a:t>
            </a:r>
            <a:r>
              <a:rPr sz="2550" spc="-125" dirty="0" smtClean="0">
                <a:solidFill>
                  <a:srgbClr val="0F0F0F"/>
                </a:solidFill>
                <a:latin typeface="Times New Roman"/>
                <a:cs typeface="Times New Roman"/>
              </a:rPr>
              <a:t>S</a:t>
            </a:r>
            <a:r>
              <a:rPr sz="2550" spc="-300" dirty="0" smtClean="0">
                <a:solidFill>
                  <a:srgbClr val="0F0F0F"/>
                </a:solidFill>
                <a:latin typeface="Times New Roman"/>
                <a:cs typeface="Times New Roman"/>
              </a:rPr>
              <a:t>AD</a:t>
            </a:r>
            <a:r>
              <a:rPr sz="2550" spc="-590" dirty="0" smtClean="0">
                <a:solidFill>
                  <a:srgbClr val="0F0F0F"/>
                </a:solidFill>
                <a:latin typeface="Times New Roman"/>
                <a:cs typeface="Times New Roman"/>
              </a:rPr>
              <a:t>V</a:t>
            </a:r>
            <a:r>
              <a:rPr sz="2550" spc="-300" dirty="0" smtClean="0">
                <a:solidFill>
                  <a:srgbClr val="0F0F0F"/>
                </a:solidFill>
                <a:latin typeface="Times New Roman"/>
                <a:cs typeface="Times New Roman"/>
              </a:rPr>
              <a:t>A</a:t>
            </a:r>
            <a:r>
              <a:rPr sz="2550" spc="-430" dirty="0" smtClean="0">
                <a:solidFill>
                  <a:srgbClr val="0F0F0F"/>
                </a:solidFill>
                <a:latin typeface="Times New Roman"/>
                <a:cs typeface="Times New Roman"/>
              </a:rPr>
              <a:t>N</a:t>
            </a:r>
            <a:r>
              <a:rPr sz="2550" spc="-300" dirty="0" smtClean="0">
                <a:solidFill>
                  <a:srgbClr val="0F0F0F"/>
                </a:solidFill>
                <a:latin typeface="Times New Roman"/>
                <a:cs typeface="Times New Roman"/>
              </a:rPr>
              <a:t>CED</a:t>
            </a:r>
            <a:r>
              <a:rPr sz="2550" spc="-310" dirty="0" smtClean="0">
                <a:solidFill>
                  <a:srgbClr val="0F0F0F"/>
                </a:solidFill>
                <a:latin typeface="Times New Roman"/>
                <a:cs typeface="Times New Roman"/>
              </a:rPr>
              <a:t> </a:t>
            </a:r>
            <a:r>
              <a:rPr sz="2550" spc="-350" dirty="0" err="1" smtClean="0">
                <a:solidFill>
                  <a:srgbClr val="0F0F0F"/>
                </a:solidFill>
                <a:latin typeface="Times New Roman"/>
                <a:cs typeface="Times New Roman"/>
              </a:rPr>
              <a:t>BUSlNESS</a:t>
            </a:r>
            <a:r>
              <a:rPr sz="2550" spc="-290" dirty="0" smtClean="0">
                <a:solidFill>
                  <a:srgbClr val="0F0F0F"/>
                </a:solidFill>
                <a:latin typeface="Times New Roman"/>
                <a:cs typeface="Times New Roman"/>
              </a:rPr>
              <a:t> </a:t>
            </a:r>
            <a:r>
              <a:rPr sz="2550" spc="-459" dirty="0" smtClean="0">
                <a:solidFill>
                  <a:srgbClr val="0F0F0F"/>
                </a:solidFill>
                <a:latin typeface="Times New Roman"/>
                <a:cs typeface="Times New Roman"/>
              </a:rPr>
              <a:t>SYSTEMS</a:t>
            </a:r>
            <a:endParaRPr sz="2550" dirty="0" smtClean="0">
              <a:latin typeface="Times New Roman"/>
              <a:cs typeface="Times New Roman"/>
            </a:endParaRPr>
          </a:p>
          <a:p>
            <a:pPr>
              <a:lnSpc>
                <a:spcPct val="100000"/>
              </a:lnSpc>
            </a:pPr>
            <a:endParaRPr sz="1750" dirty="0">
              <a:latin typeface="Arial"/>
              <a:cs typeface="Arial"/>
            </a:endParaRPr>
          </a:p>
          <a:p>
            <a:pPr>
              <a:lnSpc>
                <a:spcPct val="100000"/>
              </a:lnSpc>
            </a:pPr>
            <a:endParaRPr sz="1750" dirty="0">
              <a:latin typeface="Arial"/>
              <a:cs typeface="Arial"/>
            </a:endParaRPr>
          </a:p>
          <a:p>
            <a:pPr>
              <a:lnSpc>
                <a:spcPct val="100000"/>
              </a:lnSpc>
              <a:spcBef>
                <a:spcPts val="155"/>
              </a:spcBef>
            </a:pPr>
            <a:endParaRPr sz="1750" dirty="0">
              <a:latin typeface="Arial"/>
              <a:cs typeface="Arial"/>
            </a:endParaRPr>
          </a:p>
          <a:p>
            <a:pPr marL="12700">
              <a:lnSpc>
                <a:spcPct val="100000"/>
              </a:lnSpc>
            </a:pPr>
            <a:r>
              <a:rPr sz="2050" spc="135" dirty="0">
                <a:solidFill>
                  <a:srgbClr val="0F0F0F"/>
                </a:solidFill>
                <a:latin typeface="Times New Roman"/>
                <a:cs typeface="Times New Roman"/>
              </a:rPr>
              <a:t>Chapter</a:t>
            </a:r>
            <a:r>
              <a:rPr sz="2050" spc="-25" dirty="0">
                <a:solidFill>
                  <a:srgbClr val="0F0F0F"/>
                </a:solidFill>
                <a:latin typeface="Times New Roman"/>
                <a:cs typeface="Times New Roman"/>
              </a:rPr>
              <a:t> </a:t>
            </a:r>
            <a:r>
              <a:rPr sz="2050" spc="114" dirty="0" smtClean="0">
                <a:solidFill>
                  <a:srgbClr val="0F0F0F"/>
                </a:solidFill>
                <a:latin typeface="Times New Roman"/>
                <a:cs typeface="Times New Roman"/>
              </a:rPr>
              <a:t>4</a:t>
            </a:r>
            <a:r>
              <a:rPr sz="2050" spc="210" dirty="0" smtClean="0">
                <a:solidFill>
                  <a:srgbClr val="0F0F0F"/>
                </a:solidFill>
                <a:latin typeface="Times New Roman"/>
                <a:cs typeface="Times New Roman"/>
              </a:rPr>
              <a:t>:</a:t>
            </a:r>
            <a:r>
              <a:rPr sz="2050" spc="-125" dirty="0" smtClean="0">
                <a:solidFill>
                  <a:srgbClr val="0F0F0F"/>
                </a:solidFill>
                <a:latin typeface="Times New Roman"/>
                <a:cs typeface="Times New Roman"/>
              </a:rPr>
              <a:t> </a:t>
            </a:r>
            <a:r>
              <a:rPr lang="en-US" sz="2050" spc="135" dirty="0">
                <a:solidFill>
                  <a:srgbClr val="0F0F0F"/>
                </a:solidFill>
                <a:latin typeface="Times New Roman"/>
                <a:cs typeface="Times New Roman"/>
              </a:rPr>
              <a:t>ERP and Process Mapping </a:t>
            </a:r>
            <a:endParaRPr sz="2050" spc="135" dirty="0">
              <a:solidFill>
                <a:srgbClr val="0F0F0F"/>
              </a:solidFill>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09447" y="496081"/>
            <a:ext cx="5999480" cy="754694"/>
          </a:xfrm>
          <a:prstGeom prst="rect">
            <a:avLst/>
          </a:prstGeom>
        </p:spPr>
        <p:txBody>
          <a:bodyPr vert="horz" wrap="square" lIns="0" tIns="15875" rIns="0" bIns="0" rtlCol="0">
            <a:spAutoFit/>
          </a:bodyPr>
          <a:lstStyle/>
          <a:p>
            <a:pPr marL="12700">
              <a:lnSpc>
                <a:spcPct val="100000"/>
              </a:lnSpc>
              <a:spcBef>
                <a:spcPts val="1300"/>
              </a:spcBef>
              <a:tabLst>
                <a:tab pos="391160" algn="l"/>
              </a:tabLst>
            </a:pPr>
            <a:r>
              <a:rPr lang="en-US" sz="4800" spc="-25" dirty="0">
                <a:latin typeface="Arial"/>
                <a:cs typeface="Arial"/>
              </a:rPr>
              <a:t>Objectives</a:t>
            </a:r>
          </a:p>
        </p:txBody>
      </p:sp>
      <p:sp>
        <p:nvSpPr>
          <p:cNvPr id="3" name="object 3"/>
          <p:cNvSpPr txBox="1"/>
          <p:nvPr/>
        </p:nvSpPr>
        <p:spPr>
          <a:xfrm>
            <a:off x="672632" y="1308672"/>
            <a:ext cx="8194675" cy="2957220"/>
          </a:xfrm>
          <a:prstGeom prst="rect">
            <a:avLst/>
          </a:prstGeom>
        </p:spPr>
        <p:txBody>
          <a:bodyPr vert="horz" wrap="square" lIns="0" tIns="165100" rIns="0" bIns="0" rtlCol="0">
            <a:spAutoFit/>
          </a:bodyPr>
          <a:lstStyle/>
          <a:p>
            <a:pPr marL="391160" indent="-378460">
              <a:lnSpc>
                <a:spcPct val="100000"/>
              </a:lnSpc>
              <a:spcBef>
                <a:spcPts val="1300"/>
              </a:spcBef>
              <a:buChar char="•"/>
              <a:tabLst>
                <a:tab pos="391160" algn="l"/>
              </a:tabLst>
            </a:pPr>
            <a:r>
              <a:rPr lang="en-US" sz="2300" spc="-25" dirty="0" smtClean="0">
                <a:solidFill>
                  <a:srgbClr val="080808"/>
                </a:solidFill>
                <a:latin typeface="Arial"/>
                <a:cs typeface="Arial"/>
              </a:rPr>
              <a:t>Recognize the importance of process mapping</a:t>
            </a:r>
          </a:p>
          <a:p>
            <a:pPr marL="391160" indent="-378460">
              <a:lnSpc>
                <a:spcPct val="100000"/>
              </a:lnSpc>
              <a:spcBef>
                <a:spcPts val="1300"/>
              </a:spcBef>
              <a:buChar char="•"/>
              <a:tabLst>
                <a:tab pos="391160" algn="l"/>
              </a:tabLst>
            </a:pPr>
            <a:r>
              <a:rPr lang="en-US" sz="2300" spc="-25" dirty="0" smtClean="0">
                <a:solidFill>
                  <a:srgbClr val="080808"/>
                </a:solidFill>
                <a:latin typeface="Arial"/>
                <a:cs typeface="Arial"/>
              </a:rPr>
              <a:t>Understand the difference between “as is” and “to be” business processes</a:t>
            </a:r>
          </a:p>
          <a:p>
            <a:pPr marL="391160" indent="-378460">
              <a:lnSpc>
                <a:spcPct val="100000"/>
              </a:lnSpc>
              <a:spcBef>
                <a:spcPts val="1300"/>
              </a:spcBef>
              <a:buChar char="•"/>
              <a:tabLst>
                <a:tab pos="391160" algn="l"/>
              </a:tabLst>
            </a:pPr>
            <a:r>
              <a:rPr lang="en-US" sz="2300" spc="-25" dirty="0" smtClean="0">
                <a:solidFill>
                  <a:srgbClr val="080808"/>
                </a:solidFill>
                <a:latin typeface="Arial"/>
                <a:cs typeface="Arial"/>
              </a:rPr>
              <a:t>Become familiar with process map symbols</a:t>
            </a:r>
          </a:p>
          <a:p>
            <a:pPr marL="391160" indent="-378460">
              <a:lnSpc>
                <a:spcPct val="100000"/>
              </a:lnSpc>
              <a:spcBef>
                <a:spcPts val="1300"/>
              </a:spcBef>
              <a:buChar char="•"/>
              <a:tabLst>
                <a:tab pos="391160" algn="l"/>
              </a:tabLst>
            </a:pPr>
            <a:r>
              <a:rPr lang="en-US" sz="2300" spc="-25" dirty="0" smtClean="0">
                <a:solidFill>
                  <a:srgbClr val="080808"/>
                </a:solidFill>
                <a:latin typeface="Arial"/>
                <a:cs typeface="Arial"/>
              </a:rPr>
              <a:t>Distinguish among the various roles used in process mapping</a:t>
            </a:r>
          </a:p>
          <a:p>
            <a:pPr marL="391160" indent="-378460">
              <a:lnSpc>
                <a:spcPct val="100000"/>
              </a:lnSpc>
              <a:spcBef>
                <a:spcPts val="1300"/>
              </a:spcBef>
              <a:buChar char="•"/>
              <a:tabLst>
                <a:tab pos="391160" algn="l"/>
              </a:tabLst>
            </a:pPr>
            <a:r>
              <a:rPr lang="en-US" sz="2300" spc="-25" dirty="0" smtClean="0">
                <a:solidFill>
                  <a:srgbClr val="080808"/>
                </a:solidFill>
                <a:latin typeface="Arial"/>
                <a:cs typeface="Arial"/>
              </a:rPr>
              <a:t>Know the steps involved in mapping a business process</a:t>
            </a:r>
            <a:endParaRPr sz="2050" dirty="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09447" y="496081"/>
            <a:ext cx="5999480" cy="754694"/>
          </a:xfrm>
          <a:prstGeom prst="rect">
            <a:avLst/>
          </a:prstGeom>
        </p:spPr>
        <p:txBody>
          <a:bodyPr vert="horz" wrap="square" lIns="0" tIns="15875" rIns="0" bIns="0" rtlCol="0">
            <a:spAutoFit/>
          </a:bodyPr>
          <a:lstStyle/>
          <a:p>
            <a:pPr marL="12700">
              <a:lnSpc>
                <a:spcPct val="100000"/>
              </a:lnSpc>
              <a:spcBef>
                <a:spcPts val="1300"/>
              </a:spcBef>
              <a:tabLst>
                <a:tab pos="391160" algn="l"/>
              </a:tabLst>
            </a:pPr>
            <a:r>
              <a:rPr lang="en-US" sz="4800" dirty="0"/>
              <a:t>Introduction </a:t>
            </a:r>
            <a:endParaRPr lang="en-US" sz="4800" spc="-25" dirty="0">
              <a:latin typeface="Arial"/>
              <a:cs typeface="Arial"/>
            </a:endParaRPr>
          </a:p>
        </p:txBody>
      </p:sp>
      <p:sp>
        <p:nvSpPr>
          <p:cNvPr id="3" name="object 3"/>
          <p:cNvSpPr txBox="1"/>
          <p:nvPr/>
        </p:nvSpPr>
        <p:spPr>
          <a:xfrm>
            <a:off x="672632" y="1308672"/>
            <a:ext cx="8194675" cy="4729500"/>
          </a:xfrm>
          <a:prstGeom prst="rect">
            <a:avLst/>
          </a:prstGeom>
        </p:spPr>
        <p:txBody>
          <a:bodyPr vert="horz" wrap="square" lIns="0" tIns="165100" rIns="0" bIns="0" rtlCol="0">
            <a:spAutoFit/>
          </a:bodyPr>
          <a:lstStyle/>
          <a:p>
            <a:pPr marL="391160" indent="-378460">
              <a:lnSpc>
                <a:spcPct val="100000"/>
              </a:lnSpc>
              <a:spcBef>
                <a:spcPts val="1300"/>
              </a:spcBef>
              <a:buChar char="•"/>
              <a:tabLst>
                <a:tab pos="391160" algn="l"/>
              </a:tabLst>
            </a:pPr>
            <a:r>
              <a:rPr lang="en-US" sz="2400" dirty="0" smtClean="0"/>
              <a:t>As an organization grows, processes can become more complex and over time may become ineffectual. </a:t>
            </a:r>
          </a:p>
          <a:p>
            <a:pPr marL="391160" indent="-378460">
              <a:lnSpc>
                <a:spcPct val="100000"/>
              </a:lnSpc>
              <a:spcBef>
                <a:spcPts val="1300"/>
              </a:spcBef>
              <a:buChar char="•"/>
              <a:tabLst>
                <a:tab pos="391160" algn="l"/>
              </a:tabLst>
            </a:pPr>
            <a:r>
              <a:rPr lang="en-US" sz="2400" dirty="0" smtClean="0"/>
              <a:t>Eventually, management must take a long hard look at its business processes to determine if they need to be redesigned. </a:t>
            </a:r>
          </a:p>
          <a:p>
            <a:pPr marL="391160" indent="-378460">
              <a:lnSpc>
                <a:spcPct val="100000"/>
              </a:lnSpc>
              <a:spcBef>
                <a:spcPts val="1300"/>
              </a:spcBef>
              <a:buChar char="•"/>
              <a:tabLst>
                <a:tab pos="391160" algn="l"/>
              </a:tabLst>
            </a:pPr>
            <a:r>
              <a:rPr lang="en-US" sz="2400" dirty="0" smtClean="0"/>
              <a:t>Many times system diagrams are used to illustrate business processes so they are well understood by all. </a:t>
            </a:r>
          </a:p>
          <a:p>
            <a:pPr marL="391160" indent="-378460">
              <a:lnSpc>
                <a:spcPct val="100000"/>
              </a:lnSpc>
              <a:spcBef>
                <a:spcPts val="1300"/>
              </a:spcBef>
              <a:buChar char="•"/>
              <a:tabLst>
                <a:tab pos="391160" algn="l"/>
              </a:tabLst>
            </a:pPr>
            <a:r>
              <a:rPr lang="en-US" sz="2400" dirty="0" smtClean="0"/>
              <a:t>This chapter focuses on one system diagramming method, the process map, which is widely used in conjunction with ERP implementations and BPR and BPI initiatives.</a:t>
            </a:r>
            <a:endParaRPr sz="2050" dirty="0">
              <a:latin typeface="Arial"/>
              <a:cs typeface="Arial"/>
            </a:endParaRPr>
          </a:p>
        </p:txBody>
      </p:sp>
    </p:spTree>
    <p:extLst>
      <p:ext uri="{BB962C8B-B14F-4D97-AF65-F5344CB8AC3E}">
        <p14:creationId xmlns:p14="http://schemas.microsoft.com/office/powerpoint/2010/main" val="2439505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09447" y="496081"/>
            <a:ext cx="5999480" cy="754694"/>
          </a:xfrm>
          <a:prstGeom prst="rect">
            <a:avLst/>
          </a:prstGeom>
        </p:spPr>
        <p:txBody>
          <a:bodyPr vert="horz" wrap="square" lIns="0" tIns="15875" rIns="0" bIns="0" rtlCol="0">
            <a:spAutoFit/>
          </a:bodyPr>
          <a:lstStyle/>
          <a:p>
            <a:pPr marL="12700">
              <a:lnSpc>
                <a:spcPct val="100000"/>
              </a:lnSpc>
              <a:spcBef>
                <a:spcPts val="125"/>
              </a:spcBef>
            </a:pPr>
            <a:r>
              <a:rPr lang="en-US" sz="4800" dirty="0"/>
              <a:t>Systems Diagrams </a:t>
            </a:r>
            <a:endParaRPr sz="4500" dirty="0"/>
          </a:p>
        </p:txBody>
      </p:sp>
      <p:sp>
        <p:nvSpPr>
          <p:cNvPr id="3" name="object 3"/>
          <p:cNvSpPr txBox="1"/>
          <p:nvPr/>
        </p:nvSpPr>
        <p:spPr>
          <a:xfrm>
            <a:off x="672632" y="1308672"/>
            <a:ext cx="8194675" cy="4906471"/>
          </a:xfrm>
          <a:prstGeom prst="rect">
            <a:avLst/>
          </a:prstGeom>
        </p:spPr>
        <p:txBody>
          <a:bodyPr vert="horz" wrap="square" lIns="0" tIns="165100" rIns="0" bIns="0" rtlCol="0">
            <a:spAutoFit/>
          </a:bodyPr>
          <a:lstStyle/>
          <a:p>
            <a:pPr marL="382905" indent="-370205">
              <a:lnSpc>
                <a:spcPct val="100000"/>
              </a:lnSpc>
              <a:buFont typeface="Arial"/>
              <a:buChar char="•"/>
              <a:tabLst>
                <a:tab pos="382905" algn="l"/>
                <a:tab pos="3107055" algn="l"/>
              </a:tabLst>
            </a:pPr>
            <a:r>
              <a:rPr lang="en-US" sz="2300" b="1" spc="-85" dirty="0" smtClean="0">
                <a:solidFill>
                  <a:srgbClr val="1F87A3"/>
                </a:solidFill>
                <a:latin typeface="Arial"/>
                <a:cs typeface="Arial"/>
              </a:rPr>
              <a:t>Systems</a:t>
            </a:r>
            <a:r>
              <a:rPr lang="en-US" sz="2300" b="1" spc="-40" dirty="0" smtClean="0">
                <a:solidFill>
                  <a:srgbClr val="1F87A3"/>
                </a:solidFill>
                <a:latin typeface="Arial"/>
                <a:cs typeface="Arial"/>
              </a:rPr>
              <a:t> </a:t>
            </a:r>
            <a:r>
              <a:rPr lang="en-US" sz="2300" b="1" dirty="0" smtClean="0">
                <a:solidFill>
                  <a:srgbClr val="1F87A3"/>
                </a:solidFill>
                <a:latin typeface="Arial"/>
                <a:cs typeface="Arial"/>
              </a:rPr>
              <a:t>Diagram</a:t>
            </a:r>
            <a:r>
              <a:rPr lang="en-US" sz="2300" b="1" spc="-80" dirty="0" smtClean="0">
                <a:solidFill>
                  <a:srgbClr val="1F87A3"/>
                </a:solidFill>
                <a:latin typeface="Arial"/>
                <a:cs typeface="Arial"/>
              </a:rPr>
              <a:t> </a:t>
            </a:r>
            <a:r>
              <a:rPr lang="en-US" sz="2300" spc="-50" dirty="0" smtClean="0">
                <a:solidFill>
                  <a:srgbClr val="080808"/>
                </a:solidFill>
                <a:latin typeface="Arial"/>
                <a:cs typeface="Arial"/>
              </a:rPr>
              <a:t>-</a:t>
            </a:r>
            <a:r>
              <a:rPr lang="en-US" sz="2300" dirty="0" smtClean="0">
                <a:solidFill>
                  <a:srgbClr val="080808"/>
                </a:solidFill>
                <a:latin typeface="Arial"/>
                <a:cs typeface="Arial"/>
              </a:rPr>
              <a:t>	</a:t>
            </a:r>
            <a:r>
              <a:rPr lang="en-US" sz="2300" spc="-45" dirty="0" smtClean="0">
                <a:solidFill>
                  <a:srgbClr val="1A1A1A"/>
                </a:solidFill>
                <a:latin typeface="Arial"/>
                <a:cs typeface="Arial"/>
              </a:rPr>
              <a:t>a</a:t>
            </a:r>
            <a:r>
              <a:rPr lang="en-US" sz="2300" spc="-100" dirty="0" smtClean="0">
                <a:solidFill>
                  <a:srgbClr val="1A1A1A"/>
                </a:solidFill>
                <a:latin typeface="Arial"/>
                <a:cs typeface="Arial"/>
              </a:rPr>
              <a:t> </a:t>
            </a:r>
            <a:r>
              <a:rPr lang="en-US" sz="2300" dirty="0" smtClean="0">
                <a:solidFill>
                  <a:srgbClr val="080808"/>
                </a:solidFill>
                <a:latin typeface="Arial"/>
                <a:cs typeface="Arial"/>
              </a:rPr>
              <a:t>graphical</a:t>
            </a:r>
            <a:r>
              <a:rPr lang="en-US" sz="2300" spc="229" dirty="0" smtClean="0">
                <a:solidFill>
                  <a:srgbClr val="080808"/>
                </a:solidFill>
                <a:latin typeface="Arial"/>
                <a:cs typeface="Arial"/>
              </a:rPr>
              <a:t> </a:t>
            </a:r>
            <a:r>
              <a:rPr lang="en-US" sz="2300" spc="75" dirty="0" smtClean="0">
                <a:solidFill>
                  <a:srgbClr val="080808"/>
                </a:solidFill>
                <a:latin typeface="Arial"/>
                <a:cs typeface="Arial"/>
              </a:rPr>
              <a:t>representation</a:t>
            </a:r>
            <a:r>
              <a:rPr lang="en-US" sz="2300" spc="70" dirty="0" smtClean="0">
                <a:solidFill>
                  <a:srgbClr val="080808"/>
                </a:solidFill>
                <a:latin typeface="Arial"/>
                <a:cs typeface="Arial"/>
              </a:rPr>
              <a:t> </a:t>
            </a:r>
            <a:r>
              <a:rPr lang="en-US" sz="2300" spc="70" dirty="0" smtClean="0">
                <a:solidFill>
                  <a:srgbClr val="1A1A1A"/>
                </a:solidFill>
                <a:latin typeface="Arial"/>
                <a:cs typeface="Arial"/>
              </a:rPr>
              <a:t>of</a:t>
            </a:r>
            <a:r>
              <a:rPr lang="en-US" sz="2300" spc="200" dirty="0" smtClean="0">
                <a:solidFill>
                  <a:srgbClr val="1A1A1A"/>
                </a:solidFill>
                <a:latin typeface="Arial"/>
                <a:cs typeface="Arial"/>
              </a:rPr>
              <a:t> </a:t>
            </a:r>
            <a:r>
              <a:rPr lang="en-US" sz="2300" spc="-10" dirty="0" smtClean="0">
                <a:solidFill>
                  <a:srgbClr val="1A1A1A"/>
                </a:solidFill>
                <a:latin typeface="Arial"/>
                <a:cs typeface="Arial"/>
              </a:rPr>
              <a:t>systems</a:t>
            </a:r>
            <a:endParaRPr lang="en-US" sz="2300" dirty="0" smtClean="0">
              <a:latin typeface="Arial"/>
              <a:cs typeface="Arial"/>
            </a:endParaRPr>
          </a:p>
          <a:p>
            <a:pPr marL="835660" indent="-332105">
              <a:lnSpc>
                <a:spcPct val="100000"/>
              </a:lnSpc>
              <a:spcBef>
                <a:spcPts val="1070"/>
              </a:spcBef>
              <a:buChar char="-"/>
              <a:tabLst>
                <a:tab pos="835660" algn="l"/>
              </a:tabLst>
            </a:pPr>
            <a:r>
              <a:rPr lang="en-US" sz="2050" spc="55" dirty="0" smtClean="0">
                <a:solidFill>
                  <a:srgbClr val="080808"/>
                </a:solidFill>
                <a:latin typeface="Arial"/>
                <a:cs typeface="Arial"/>
              </a:rPr>
              <a:t>Flowcharts</a:t>
            </a:r>
            <a:endParaRPr lang="en-US" sz="2050" dirty="0" smtClean="0">
              <a:latin typeface="Arial"/>
              <a:cs typeface="Arial"/>
            </a:endParaRPr>
          </a:p>
          <a:p>
            <a:pPr marL="836294" indent="-332740">
              <a:lnSpc>
                <a:spcPct val="100000"/>
              </a:lnSpc>
              <a:spcBef>
                <a:spcPts val="1045"/>
              </a:spcBef>
              <a:buChar char="-"/>
              <a:tabLst>
                <a:tab pos="836294" algn="l"/>
              </a:tabLst>
            </a:pPr>
            <a:r>
              <a:rPr lang="en-US" sz="2050" spc="-185" dirty="0" smtClean="0">
                <a:solidFill>
                  <a:srgbClr val="080808"/>
                </a:solidFill>
                <a:latin typeface="Arial"/>
                <a:cs typeface="Arial"/>
              </a:rPr>
              <a:t>ER</a:t>
            </a:r>
            <a:r>
              <a:rPr lang="en-US" sz="2050" spc="40" dirty="0" smtClean="0">
                <a:solidFill>
                  <a:srgbClr val="080808"/>
                </a:solidFill>
                <a:latin typeface="Arial"/>
                <a:cs typeface="Arial"/>
              </a:rPr>
              <a:t> </a:t>
            </a:r>
            <a:r>
              <a:rPr lang="en-US" sz="2050" spc="-10" dirty="0" smtClean="0">
                <a:solidFill>
                  <a:srgbClr val="080808"/>
                </a:solidFill>
                <a:latin typeface="Arial"/>
                <a:cs typeface="Arial"/>
              </a:rPr>
              <a:t>Diagrams</a:t>
            </a:r>
            <a:endParaRPr lang="en-US" sz="2050" dirty="0" smtClean="0">
              <a:latin typeface="Arial"/>
              <a:cs typeface="Arial"/>
            </a:endParaRPr>
          </a:p>
          <a:p>
            <a:pPr marL="834390" indent="-330835">
              <a:lnSpc>
                <a:spcPct val="100000"/>
              </a:lnSpc>
              <a:spcBef>
                <a:spcPts val="1040"/>
              </a:spcBef>
              <a:buClr>
                <a:srgbClr val="080808"/>
              </a:buClr>
              <a:buChar char="-"/>
              <a:tabLst>
                <a:tab pos="834390" algn="l"/>
              </a:tabLst>
            </a:pPr>
            <a:r>
              <a:rPr lang="en-US" sz="2050" spc="100" dirty="0" smtClean="0">
                <a:solidFill>
                  <a:srgbClr val="1A1A1A"/>
                </a:solidFill>
                <a:latin typeface="Arial"/>
                <a:cs typeface="Arial"/>
              </a:rPr>
              <a:t>Other</a:t>
            </a:r>
            <a:r>
              <a:rPr lang="en-US" sz="2050" spc="60" dirty="0" smtClean="0">
                <a:solidFill>
                  <a:srgbClr val="1A1A1A"/>
                </a:solidFill>
                <a:latin typeface="Arial"/>
                <a:cs typeface="Arial"/>
              </a:rPr>
              <a:t> </a:t>
            </a:r>
            <a:r>
              <a:rPr lang="en-US" sz="2050" spc="75" dirty="0" smtClean="0">
                <a:solidFill>
                  <a:srgbClr val="080808"/>
                </a:solidFill>
                <a:latin typeface="Arial"/>
                <a:cs typeface="Arial"/>
              </a:rPr>
              <a:t>techniques</a:t>
            </a:r>
            <a:endParaRPr lang="en-US" sz="2050" dirty="0" smtClean="0">
              <a:latin typeface="Arial"/>
              <a:cs typeface="Arial"/>
            </a:endParaRPr>
          </a:p>
          <a:p>
            <a:pPr marL="12700">
              <a:lnSpc>
                <a:spcPct val="100000"/>
              </a:lnSpc>
              <a:spcBef>
                <a:spcPts val="1300"/>
              </a:spcBef>
              <a:tabLst>
                <a:tab pos="391160" algn="l"/>
              </a:tabLst>
            </a:pPr>
            <a:endParaRPr lang="en-US" sz="2300" spc="-25" dirty="0" smtClean="0">
              <a:solidFill>
                <a:srgbClr val="080808"/>
              </a:solidFill>
              <a:latin typeface="Arial"/>
              <a:cs typeface="Arial"/>
            </a:endParaRPr>
          </a:p>
          <a:p>
            <a:pPr marL="391160" indent="-378460">
              <a:lnSpc>
                <a:spcPct val="100000"/>
              </a:lnSpc>
              <a:spcBef>
                <a:spcPts val="1300"/>
              </a:spcBef>
              <a:buChar char="•"/>
              <a:tabLst>
                <a:tab pos="391160" algn="l"/>
              </a:tabLst>
            </a:pPr>
            <a:r>
              <a:rPr sz="2300" spc="-25" dirty="0" smtClean="0">
                <a:solidFill>
                  <a:srgbClr val="080808"/>
                </a:solidFill>
                <a:latin typeface="Arial"/>
                <a:cs typeface="Arial"/>
              </a:rPr>
              <a:t>Basic</a:t>
            </a:r>
            <a:r>
              <a:rPr sz="2300" spc="-55" dirty="0" smtClean="0">
                <a:solidFill>
                  <a:srgbClr val="080808"/>
                </a:solidFill>
                <a:latin typeface="Arial"/>
                <a:cs typeface="Arial"/>
              </a:rPr>
              <a:t> </a:t>
            </a:r>
            <a:r>
              <a:rPr sz="2300" dirty="0">
                <a:solidFill>
                  <a:srgbClr val="080808"/>
                </a:solidFill>
                <a:latin typeface="Arial"/>
                <a:cs typeface="Arial"/>
              </a:rPr>
              <a:t>Purposes</a:t>
            </a:r>
            <a:r>
              <a:rPr sz="2300" spc="50" dirty="0">
                <a:solidFill>
                  <a:srgbClr val="080808"/>
                </a:solidFill>
                <a:latin typeface="Arial"/>
                <a:cs typeface="Arial"/>
              </a:rPr>
              <a:t> </a:t>
            </a:r>
            <a:r>
              <a:rPr sz="2300" dirty="0">
                <a:solidFill>
                  <a:srgbClr val="080808"/>
                </a:solidFill>
                <a:latin typeface="Arial"/>
                <a:cs typeface="Arial"/>
              </a:rPr>
              <a:t>for</a:t>
            </a:r>
            <a:r>
              <a:rPr sz="2300" spc="240" dirty="0">
                <a:solidFill>
                  <a:srgbClr val="080808"/>
                </a:solidFill>
                <a:latin typeface="Arial"/>
                <a:cs typeface="Arial"/>
              </a:rPr>
              <a:t> </a:t>
            </a:r>
            <a:r>
              <a:rPr lang="en-US" sz="2300" b="1" spc="-85" dirty="0" smtClean="0">
                <a:solidFill>
                  <a:srgbClr val="1F87A3"/>
                </a:solidFill>
                <a:latin typeface="Arial"/>
                <a:cs typeface="Arial"/>
              </a:rPr>
              <a:t>Systems</a:t>
            </a:r>
            <a:r>
              <a:rPr lang="en-US" sz="2300" b="1" spc="-40" dirty="0" smtClean="0">
                <a:solidFill>
                  <a:srgbClr val="1F87A3"/>
                </a:solidFill>
                <a:latin typeface="Arial"/>
                <a:cs typeface="Arial"/>
              </a:rPr>
              <a:t> </a:t>
            </a:r>
            <a:r>
              <a:rPr lang="en-US" sz="2300" b="1" dirty="0" smtClean="0">
                <a:solidFill>
                  <a:srgbClr val="1F87A3"/>
                </a:solidFill>
                <a:latin typeface="Arial"/>
                <a:cs typeface="Arial"/>
              </a:rPr>
              <a:t>Diagram</a:t>
            </a:r>
            <a:r>
              <a:rPr sz="2300" spc="-30" dirty="0" smtClean="0">
                <a:solidFill>
                  <a:srgbClr val="1A1A1A"/>
                </a:solidFill>
                <a:latin typeface="Arial"/>
                <a:cs typeface="Arial"/>
              </a:rPr>
              <a:t> </a:t>
            </a:r>
            <a:endParaRPr sz="2300" dirty="0" smtClean="0">
              <a:latin typeface="Arial"/>
              <a:cs typeface="Arial"/>
            </a:endParaRPr>
          </a:p>
          <a:p>
            <a:pPr marL="826769" lvl="1" indent="-511175">
              <a:lnSpc>
                <a:spcPct val="100000"/>
              </a:lnSpc>
              <a:spcBef>
                <a:spcPts val="1070"/>
              </a:spcBef>
              <a:buAutoNum type="arabicPeriod"/>
              <a:tabLst>
                <a:tab pos="826769" algn="l"/>
              </a:tabLst>
            </a:pPr>
            <a:r>
              <a:rPr sz="2050" spc="50" dirty="0" smtClean="0">
                <a:solidFill>
                  <a:srgbClr val="080808"/>
                </a:solidFill>
                <a:latin typeface="Arial"/>
                <a:cs typeface="Arial"/>
              </a:rPr>
              <a:t>Describing</a:t>
            </a:r>
            <a:r>
              <a:rPr sz="2050" spc="80" dirty="0" smtClean="0">
                <a:solidFill>
                  <a:srgbClr val="080808"/>
                </a:solidFill>
                <a:latin typeface="Arial"/>
                <a:cs typeface="Arial"/>
              </a:rPr>
              <a:t> </a:t>
            </a:r>
            <a:r>
              <a:rPr sz="2050" dirty="0" smtClean="0">
                <a:solidFill>
                  <a:srgbClr val="080808"/>
                </a:solidFill>
                <a:latin typeface="Arial"/>
                <a:cs typeface="Arial"/>
              </a:rPr>
              <a:t>business</a:t>
            </a:r>
            <a:r>
              <a:rPr sz="2050" spc="225" dirty="0" smtClean="0">
                <a:solidFill>
                  <a:srgbClr val="080808"/>
                </a:solidFill>
                <a:latin typeface="Arial"/>
                <a:cs typeface="Arial"/>
              </a:rPr>
              <a:t> </a:t>
            </a:r>
            <a:r>
              <a:rPr sz="2050" spc="-10" dirty="0" smtClean="0">
                <a:solidFill>
                  <a:srgbClr val="080808"/>
                </a:solidFill>
                <a:latin typeface="Arial"/>
                <a:cs typeface="Arial"/>
              </a:rPr>
              <a:t>processes</a:t>
            </a:r>
            <a:endParaRPr sz="2050" dirty="0" smtClean="0">
              <a:latin typeface="Arial"/>
              <a:cs typeface="Arial"/>
            </a:endParaRPr>
          </a:p>
          <a:p>
            <a:pPr marL="828040" lvl="1" indent="-501650">
              <a:lnSpc>
                <a:spcPct val="100000"/>
              </a:lnSpc>
              <a:spcBef>
                <a:spcPts val="1120"/>
              </a:spcBef>
              <a:buClr>
                <a:srgbClr val="080808"/>
              </a:buClr>
              <a:buAutoNum type="arabicPeriod"/>
              <a:tabLst>
                <a:tab pos="828040" algn="l"/>
              </a:tabLst>
            </a:pPr>
            <a:r>
              <a:rPr sz="2050" dirty="0" smtClean="0">
                <a:solidFill>
                  <a:srgbClr val="1A1A1A"/>
                </a:solidFill>
                <a:latin typeface="Arial"/>
                <a:cs typeface="Arial"/>
              </a:rPr>
              <a:t>Assessing</a:t>
            </a:r>
            <a:r>
              <a:rPr sz="2050" spc="15" dirty="0" smtClean="0">
                <a:solidFill>
                  <a:srgbClr val="1A1A1A"/>
                </a:solidFill>
                <a:latin typeface="Arial"/>
                <a:cs typeface="Arial"/>
              </a:rPr>
              <a:t> </a:t>
            </a:r>
            <a:r>
              <a:rPr sz="2050" spc="95" dirty="0">
                <a:solidFill>
                  <a:srgbClr val="080808"/>
                </a:solidFill>
                <a:latin typeface="Arial"/>
                <a:cs typeface="Arial"/>
              </a:rPr>
              <a:t>internal</a:t>
            </a:r>
            <a:r>
              <a:rPr sz="2050" spc="10" dirty="0">
                <a:solidFill>
                  <a:srgbClr val="080808"/>
                </a:solidFill>
                <a:latin typeface="Arial"/>
                <a:cs typeface="Arial"/>
              </a:rPr>
              <a:t> </a:t>
            </a:r>
            <a:r>
              <a:rPr sz="2050" spc="105" dirty="0">
                <a:solidFill>
                  <a:srgbClr val="1A1A1A"/>
                </a:solidFill>
                <a:latin typeface="Arial"/>
                <a:cs typeface="Arial"/>
              </a:rPr>
              <a:t>control</a:t>
            </a:r>
            <a:r>
              <a:rPr sz="2050" spc="20" dirty="0">
                <a:solidFill>
                  <a:srgbClr val="1A1A1A"/>
                </a:solidFill>
                <a:latin typeface="Arial"/>
                <a:cs typeface="Arial"/>
              </a:rPr>
              <a:t> </a:t>
            </a:r>
            <a:r>
              <a:rPr sz="2050" spc="60" dirty="0">
                <a:solidFill>
                  <a:srgbClr val="080808"/>
                </a:solidFill>
                <a:latin typeface="Arial"/>
                <a:cs typeface="Arial"/>
              </a:rPr>
              <a:t>procedures</a:t>
            </a:r>
            <a:endParaRPr sz="2050" dirty="0">
              <a:latin typeface="Arial"/>
              <a:cs typeface="Arial"/>
            </a:endParaRPr>
          </a:p>
          <a:p>
            <a:pPr marL="826769" lvl="1" indent="-503555">
              <a:lnSpc>
                <a:spcPct val="100000"/>
              </a:lnSpc>
              <a:spcBef>
                <a:spcPts val="1045"/>
              </a:spcBef>
              <a:buClr>
                <a:srgbClr val="1A1A1A"/>
              </a:buClr>
              <a:buAutoNum type="arabicPeriod"/>
              <a:tabLst>
                <a:tab pos="826769" algn="l"/>
              </a:tabLst>
            </a:pPr>
            <a:r>
              <a:rPr sz="2050" dirty="0">
                <a:solidFill>
                  <a:srgbClr val="080808"/>
                </a:solidFill>
                <a:latin typeface="Arial"/>
                <a:cs typeface="Arial"/>
              </a:rPr>
              <a:t>Evaluating,</a:t>
            </a:r>
            <a:r>
              <a:rPr sz="2050" spc="140" dirty="0">
                <a:solidFill>
                  <a:srgbClr val="080808"/>
                </a:solidFill>
                <a:latin typeface="Arial"/>
                <a:cs typeface="Arial"/>
              </a:rPr>
              <a:t> </a:t>
            </a:r>
            <a:r>
              <a:rPr sz="2050" spc="50" dirty="0">
                <a:solidFill>
                  <a:srgbClr val="080808"/>
                </a:solidFill>
                <a:latin typeface="Arial"/>
                <a:cs typeface="Arial"/>
              </a:rPr>
              <a:t>designing,</a:t>
            </a:r>
            <a:r>
              <a:rPr sz="2050" spc="190" dirty="0">
                <a:solidFill>
                  <a:srgbClr val="080808"/>
                </a:solidFill>
                <a:latin typeface="Arial"/>
                <a:cs typeface="Arial"/>
              </a:rPr>
              <a:t> </a:t>
            </a:r>
            <a:r>
              <a:rPr sz="2050" spc="50" dirty="0">
                <a:solidFill>
                  <a:srgbClr val="1A1A1A"/>
                </a:solidFill>
                <a:latin typeface="Arial"/>
                <a:cs typeface="Arial"/>
              </a:rPr>
              <a:t>or</a:t>
            </a:r>
            <a:r>
              <a:rPr sz="2050" spc="335" dirty="0">
                <a:solidFill>
                  <a:srgbClr val="1A1A1A"/>
                </a:solidFill>
                <a:latin typeface="Arial"/>
                <a:cs typeface="Arial"/>
              </a:rPr>
              <a:t> </a:t>
            </a:r>
            <a:r>
              <a:rPr sz="2050" spc="55" dirty="0">
                <a:solidFill>
                  <a:srgbClr val="1A1A1A"/>
                </a:solidFill>
                <a:latin typeface="Arial"/>
                <a:cs typeface="Arial"/>
              </a:rPr>
              <a:t>changing</a:t>
            </a:r>
            <a:r>
              <a:rPr sz="2050" spc="-80" dirty="0">
                <a:solidFill>
                  <a:srgbClr val="1A1A1A"/>
                </a:solidFill>
                <a:latin typeface="Arial"/>
                <a:cs typeface="Arial"/>
              </a:rPr>
              <a:t> </a:t>
            </a:r>
            <a:r>
              <a:rPr sz="2050" spc="120" dirty="0">
                <a:solidFill>
                  <a:srgbClr val="080808"/>
                </a:solidFill>
                <a:latin typeface="Arial"/>
                <a:cs typeface="Arial"/>
              </a:rPr>
              <a:t>information</a:t>
            </a:r>
            <a:r>
              <a:rPr sz="2050" spc="135" dirty="0">
                <a:solidFill>
                  <a:srgbClr val="080808"/>
                </a:solidFill>
                <a:latin typeface="Arial"/>
                <a:cs typeface="Arial"/>
              </a:rPr>
              <a:t> </a:t>
            </a:r>
            <a:r>
              <a:rPr sz="2050" spc="-10" dirty="0">
                <a:solidFill>
                  <a:srgbClr val="1A1A1A"/>
                </a:solidFill>
                <a:latin typeface="Arial"/>
                <a:cs typeface="Arial"/>
              </a:rPr>
              <a:t>systems</a:t>
            </a:r>
            <a:endParaRPr sz="2050" dirty="0">
              <a:latin typeface="Arial"/>
              <a:cs typeface="Arial"/>
            </a:endParaRPr>
          </a:p>
          <a:p>
            <a:pPr lvl="1">
              <a:lnSpc>
                <a:spcPct val="100000"/>
              </a:lnSpc>
              <a:buAutoNum type="arabicPeriod"/>
            </a:pPr>
            <a:endParaRPr sz="2050" dirty="0">
              <a:latin typeface="Arial"/>
              <a:cs typeface="Arial"/>
            </a:endParaRPr>
          </a:p>
          <a:p>
            <a:pPr lvl="1">
              <a:lnSpc>
                <a:spcPct val="100000"/>
              </a:lnSpc>
              <a:spcBef>
                <a:spcPts val="50"/>
              </a:spcBef>
              <a:buAutoNum type="arabicPeriod"/>
            </a:pPr>
            <a:endParaRPr sz="2050" dirty="0">
              <a:latin typeface="Arial"/>
              <a:cs typeface="Arial"/>
            </a:endParaRPr>
          </a:p>
        </p:txBody>
      </p:sp>
    </p:spTree>
    <p:extLst>
      <p:ext uri="{BB962C8B-B14F-4D97-AF65-F5344CB8AC3E}">
        <p14:creationId xmlns:p14="http://schemas.microsoft.com/office/powerpoint/2010/main" val="3850588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8488" y="500612"/>
            <a:ext cx="8411845" cy="638810"/>
          </a:xfrm>
          <a:prstGeom prst="rect">
            <a:avLst/>
          </a:prstGeom>
        </p:spPr>
        <p:txBody>
          <a:bodyPr vert="horz" wrap="square" lIns="0" tIns="15240" rIns="0" bIns="0" rtlCol="0">
            <a:spAutoFit/>
          </a:bodyPr>
          <a:lstStyle/>
          <a:p>
            <a:pPr marL="12700">
              <a:lnSpc>
                <a:spcPct val="100000"/>
              </a:lnSpc>
              <a:spcBef>
                <a:spcPts val="120"/>
              </a:spcBef>
              <a:tabLst>
                <a:tab pos="3332479" algn="l"/>
              </a:tabLst>
            </a:pPr>
            <a:r>
              <a:rPr sz="4000" dirty="0">
                <a:solidFill>
                  <a:srgbClr val="0A0A0A"/>
                </a:solidFill>
              </a:rPr>
              <a:t>Importance</a:t>
            </a:r>
            <a:r>
              <a:rPr sz="4000" spc="210" dirty="0">
                <a:solidFill>
                  <a:srgbClr val="0A0A0A"/>
                </a:solidFill>
              </a:rPr>
              <a:t> </a:t>
            </a:r>
            <a:r>
              <a:rPr sz="4000" spc="-25" dirty="0">
                <a:solidFill>
                  <a:srgbClr val="0A0A0A"/>
                </a:solidFill>
              </a:rPr>
              <a:t>of</a:t>
            </a:r>
            <a:r>
              <a:rPr sz="4000" dirty="0">
                <a:solidFill>
                  <a:srgbClr val="0A0A0A"/>
                </a:solidFill>
              </a:rPr>
              <a:t>	</a:t>
            </a:r>
            <a:r>
              <a:rPr sz="4000" spc="90" dirty="0">
                <a:solidFill>
                  <a:srgbClr val="0A0A0A"/>
                </a:solidFill>
              </a:rPr>
              <a:t>Systems</a:t>
            </a:r>
            <a:r>
              <a:rPr sz="4000" spc="290" dirty="0">
                <a:solidFill>
                  <a:srgbClr val="0A0A0A"/>
                </a:solidFill>
              </a:rPr>
              <a:t> </a:t>
            </a:r>
            <a:r>
              <a:rPr sz="4000" spc="-10" dirty="0">
                <a:solidFill>
                  <a:srgbClr val="0A0A0A"/>
                </a:solidFill>
              </a:rPr>
              <a:t>Diagramming</a:t>
            </a:r>
            <a:endParaRPr sz="4000"/>
          </a:p>
        </p:txBody>
      </p:sp>
      <p:sp>
        <p:nvSpPr>
          <p:cNvPr id="3" name="object 3"/>
          <p:cNvSpPr txBox="1"/>
          <p:nvPr/>
        </p:nvSpPr>
        <p:spPr>
          <a:xfrm>
            <a:off x="583451" y="1502368"/>
            <a:ext cx="8187055" cy="4418646"/>
          </a:xfrm>
          <a:prstGeom prst="rect">
            <a:avLst/>
          </a:prstGeom>
        </p:spPr>
        <p:txBody>
          <a:bodyPr vert="horz" wrap="square" lIns="0" tIns="10160" rIns="0" bIns="0" rtlCol="0">
            <a:spAutoFit/>
          </a:bodyPr>
          <a:lstStyle/>
          <a:p>
            <a:pPr marL="398780" marR="5080" indent="-386715">
              <a:lnSpc>
                <a:spcPct val="101200"/>
              </a:lnSpc>
              <a:spcBef>
                <a:spcPts val="80"/>
              </a:spcBef>
              <a:buChar char="•"/>
              <a:tabLst>
                <a:tab pos="398780" algn="l"/>
                <a:tab pos="403860" algn="l"/>
              </a:tabLst>
            </a:pPr>
            <a:r>
              <a:rPr sz="2350" dirty="0">
                <a:solidFill>
                  <a:srgbClr val="0A0A0A"/>
                </a:solidFill>
                <a:latin typeface="Arial"/>
                <a:cs typeface="Arial"/>
              </a:rPr>
              <a:t>	</a:t>
            </a:r>
            <a:r>
              <a:rPr lang="en-US" sz="2350" dirty="0" smtClean="0">
                <a:solidFill>
                  <a:srgbClr val="0A0A0A"/>
                </a:solidFill>
                <a:latin typeface="Arial"/>
                <a:cs typeface="Arial"/>
              </a:rPr>
              <a:t>Often, it is easier to show how something works or how ideas or events are connected by drawing a diagram of it rather than writing a narrative or trying to explain it verbally.</a:t>
            </a:r>
          </a:p>
          <a:p>
            <a:pPr marL="398780" marR="5080" indent="-386715">
              <a:lnSpc>
                <a:spcPct val="101200"/>
              </a:lnSpc>
              <a:spcBef>
                <a:spcPts val="80"/>
              </a:spcBef>
              <a:buChar char="•"/>
              <a:tabLst>
                <a:tab pos="398780" algn="l"/>
                <a:tab pos="403860" algn="l"/>
              </a:tabLst>
            </a:pPr>
            <a:r>
              <a:rPr lang="en-US" sz="2350" dirty="0" smtClean="0">
                <a:solidFill>
                  <a:srgbClr val="0A0A0A"/>
                </a:solidFill>
                <a:latin typeface="Arial"/>
                <a:cs typeface="Arial"/>
              </a:rPr>
              <a:t>Often your audience has an easier time thinking systematically and logically about a problem that has been illustrated.</a:t>
            </a:r>
          </a:p>
          <a:p>
            <a:pPr marL="398780" marR="5080" indent="-386715">
              <a:lnSpc>
                <a:spcPct val="101200"/>
              </a:lnSpc>
              <a:spcBef>
                <a:spcPts val="80"/>
              </a:spcBef>
              <a:buChar char="•"/>
              <a:tabLst>
                <a:tab pos="398780" algn="l"/>
                <a:tab pos="403860" algn="l"/>
              </a:tabLst>
            </a:pPr>
            <a:r>
              <a:rPr lang="en-US" sz="2350" dirty="0" smtClean="0">
                <a:solidFill>
                  <a:srgbClr val="0A0A0A"/>
                </a:solidFill>
                <a:latin typeface="Arial"/>
                <a:cs typeface="Arial"/>
              </a:rPr>
              <a:t>It’s important for business professionals to be able to read SDs—to extract information from them and interpret what that information means. It is also important to be able to draw SDs to capture ideas and interpretations of a complex situation.</a:t>
            </a:r>
            <a:endParaRPr sz="2100" dirty="0">
              <a:latin typeface="Aria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5875" rIns="0" bIns="0" rtlCol="0">
            <a:spAutoFit/>
          </a:bodyPr>
          <a:lstStyle/>
          <a:p>
            <a:pPr marL="2717800">
              <a:lnSpc>
                <a:spcPct val="100000"/>
              </a:lnSpc>
              <a:spcBef>
                <a:spcPts val="125"/>
              </a:spcBef>
            </a:pPr>
            <a:r>
              <a:rPr sz="4450" spc="55" dirty="0">
                <a:solidFill>
                  <a:srgbClr val="0C0C0C"/>
                </a:solidFill>
              </a:rPr>
              <a:t>Process</a:t>
            </a:r>
            <a:r>
              <a:rPr sz="4450" spc="200" dirty="0">
                <a:solidFill>
                  <a:srgbClr val="0C0C0C"/>
                </a:solidFill>
              </a:rPr>
              <a:t> </a:t>
            </a:r>
            <a:r>
              <a:rPr sz="4450" spc="-20" dirty="0">
                <a:solidFill>
                  <a:srgbClr val="0C0C0C"/>
                </a:solidFill>
              </a:rPr>
              <a:t>Maps</a:t>
            </a:r>
            <a:endParaRPr sz="4450"/>
          </a:p>
        </p:txBody>
      </p:sp>
      <p:sp>
        <p:nvSpPr>
          <p:cNvPr id="3" name="object 3"/>
          <p:cNvSpPr txBox="1"/>
          <p:nvPr/>
        </p:nvSpPr>
        <p:spPr>
          <a:xfrm>
            <a:off x="585478" y="1481356"/>
            <a:ext cx="8350250" cy="4239237"/>
          </a:xfrm>
          <a:prstGeom prst="rect">
            <a:avLst/>
          </a:prstGeom>
        </p:spPr>
        <p:txBody>
          <a:bodyPr vert="horz" wrap="square" lIns="0" tIns="24765" rIns="0" bIns="0" rtlCol="0">
            <a:spAutoFit/>
          </a:bodyPr>
          <a:lstStyle/>
          <a:p>
            <a:pPr marL="394335" marR="203835" indent="-382270">
              <a:lnSpc>
                <a:spcPct val="96500"/>
              </a:lnSpc>
              <a:spcBef>
                <a:spcPts val="195"/>
              </a:spcBef>
              <a:buChar char="•"/>
              <a:tabLst>
                <a:tab pos="394335" algn="l"/>
                <a:tab pos="401955" algn="l"/>
              </a:tabLst>
            </a:pPr>
            <a:r>
              <a:rPr lang="en-US" sz="2050" dirty="0" smtClean="0">
                <a:solidFill>
                  <a:srgbClr val="0C0C0C"/>
                </a:solidFill>
                <a:latin typeface="Arial"/>
                <a:cs typeface="Arial"/>
              </a:rPr>
              <a:t>A process map is a graphical technique that documents inputs, outputs, activities, and decision points in order to effectively tell the reader the step-by-step procedures for a specific business process.</a:t>
            </a:r>
            <a:r>
              <a:rPr sz="2050" dirty="0">
                <a:solidFill>
                  <a:srgbClr val="0C0C0C"/>
                </a:solidFill>
                <a:latin typeface="Arial"/>
                <a:cs typeface="Arial"/>
              </a:rPr>
              <a:t>	</a:t>
            </a:r>
            <a:endParaRPr lang="en-US" sz="2050" dirty="0" smtClean="0">
              <a:solidFill>
                <a:srgbClr val="0C0C0C"/>
              </a:solidFill>
              <a:latin typeface="Arial"/>
              <a:cs typeface="Arial"/>
            </a:endParaRPr>
          </a:p>
          <a:p>
            <a:pPr marL="394335" marR="203835" indent="-382270">
              <a:lnSpc>
                <a:spcPct val="96500"/>
              </a:lnSpc>
              <a:spcBef>
                <a:spcPts val="195"/>
              </a:spcBef>
              <a:buChar char="•"/>
              <a:tabLst>
                <a:tab pos="394335" algn="l"/>
                <a:tab pos="401955" algn="l"/>
              </a:tabLst>
            </a:pPr>
            <a:r>
              <a:rPr sz="2050" dirty="0" smtClean="0">
                <a:solidFill>
                  <a:srgbClr val="1A1A1A"/>
                </a:solidFill>
                <a:latin typeface="Arial"/>
                <a:cs typeface="Arial"/>
              </a:rPr>
              <a:t>A</a:t>
            </a:r>
            <a:r>
              <a:rPr sz="2050" spc="-10" dirty="0" smtClean="0">
                <a:solidFill>
                  <a:srgbClr val="1A1A1A"/>
                </a:solidFill>
                <a:latin typeface="Arial"/>
                <a:cs typeface="Arial"/>
              </a:rPr>
              <a:t> </a:t>
            </a:r>
            <a:r>
              <a:rPr sz="2000" b="1" dirty="0">
                <a:solidFill>
                  <a:srgbClr val="24879E"/>
                </a:solidFill>
                <a:latin typeface="Arial"/>
                <a:cs typeface="Arial"/>
              </a:rPr>
              <a:t>process</a:t>
            </a:r>
            <a:r>
              <a:rPr sz="2000" b="1" spc="45" dirty="0">
                <a:solidFill>
                  <a:srgbClr val="24879E"/>
                </a:solidFill>
                <a:latin typeface="Arial"/>
                <a:cs typeface="Arial"/>
              </a:rPr>
              <a:t> </a:t>
            </a:r>
            <a:r>
              <a:rPr sz="2000" b="1" spc="100" dirty="0">
                <a:solidFill>
                  <a:srgbClr val="24879E"/>
                </a:solidFill>
                <a:latin typeface="Arial"/>
                <a:cs typeface="Arial"/>
              </a:rPr>
              <a:t>map</a:t>
            </a:r>
            <a:r>
              <a:rPr sz="2000" b="1" spc="100" dirty="0">
                <a:solidFill>
                  <a:srgbClr val="1A1A1A"/>
                </a:solidFill>
                <a:latin typeface="Arial"/>
                <a:cs typeface="Arial"/>
              </a:rPr>
              <a:t>,</a:t>
            </a:r>
            <a:r>
              <a:rPr sz="2000" b="1" spc="120" dirty="0">
                <a:solidFill>
                  <a:srgbClr val="1A1A1A"/>
                </a:solidFill>
                <a:latin typeface="Arial"/>
                <a:cs typeface="Arial"/>
              </a:rPr>
              <a:t> </a:t>
            </a:r>
            <a:r>
              <a:rPr sz="2050" dirty="0">
                <a:solidFill>
                  <a:srgbClr val="1A1A1A"/>
                </a:solidFill>
                <a:latin typeface="Arial"/>
                <a:cs typeface="Arial"/>
              </a:rPr>
              <a:t>also</a:t>
            </a:r>
            <a:r>
              <a:rPr sz="2050" spc="125" dirty="0">
                <a:solidFill>
                  <a:srgbClr val="1A1A1A"/>
                </a:solidFill>
                <a:latin typeface="Arial"/>
                <a:cs typeface="Arial"/>
              </a:rPr>
              <a:t> </a:t>
            </a:r>
            <a:r>
              <a:rPr sz="2050" spc="110" dirty="0">
                <a:solidFill>
                  <a:srgbClr val="0C0C0C"/>
                </a:solidFill>
                <a:latin typeface="Arial"/>
                <a:cs typeface="Arial"/>
              </a:rPr>
              <a:t>known</a:t>
            </a:r>
            <a:r>
              <a:rPr sz="2050" spc="155" dirty="0">
                <a:solidFill>
                  <a:srgbClr val="0C0C0C"/>
                </a:solidFill>
                <a:latin typeface="Arial"/>
                <a:cs typeface="Arial"/>
              </a:rPr>
              <a:t> </a:t>
            </a:r>
            <a:r>
              <a:rPr sz="2050" dirty="0">
                <a:solidFill>
                  <a:srgbClr val="1A1A1A"/>
                </a:solidFill>
                <a:latin typeface="Arial"/>
                <a:cs typeface="Arial"/>
              </a:rPr>
              <a:t>as</a:t>
            </a:r>
            <a:r>
              <a:rPr sz="2050" spc="-15" dirty="0">
                <a:solidFill>
                  <a:srgbClr val="1A1A1A"/>
                </a:solidFill>
                <a:latin typeface="Arial"/>
                <a:cs typeface="Arial"/>
              </a:rPr>
              <a:t> </a:t>
            </a:r>
            <a:r>
              <a:rPr sz="2050" dirty="0">
                <a:solidFill>
                  <a:srgbClr val="1A1A1A"/>
                </a:solidFill>
                <a:latin typeface="Arial"/>
                <a:cs typeface="Arial"/>
              </a:rPr>
              <a:t>a</a:t>
            </a:r>
            <a:r>
              <a:rPr sz="2050" spc="15" dirty="0">
                <a:solidFill>
                  <a:srgbClr val="1A1A1A"/>
                </a:solidFill>
                <a:latin typeface="Arial"/>
                <a:cs typeface="Arial"/>
              </a:rPr>
              <a:t> </a:t>
            </a:r>
            <a:r>
              <a:rPr sz="2000" b="1" dirty="0">
                <a:solidFill>
                  <a:srgbClr val="24879E"/>
                </a:solidFill>
                <a:latin typeface="Arial"/>
                <a:cs typeface="Arial"/>
              </a:rPr>
              <a:t>cross</a:t>
            </a:r>
            <a:r>
              <a:rPr sz="2000" b="1" dirty="0">
                <a:solidFill>
                  <a:srgbClr val="2A6E79"/>
                </a:solidFill>
                <a:latin typeface="Arial"/>
                <a:cs typeface="Arial"/>
              </a:rPr>
              <a:t>-</a:t>
            </a:r>
            <a:r>
              <a:rPr sz="2000" b="1" dirty="0">
                <a:solidFill>
                  <a:srgbClr val="24879E"/>
                </a:solidFill>
                <a:latin typeface="Arial"/>
                <a:cs typeface="Arial"/>
              </a:rPr>
              <a:t>functional</a:t>
            </a:r>
            <a:r>
              <a:rPr sz="2000" b="1" spc="5" dirty="0">
                <a:solidFill>
                  <a:srgbClr val="24879E"/>
                </a:solidFill>
                <a:latin typeface="Arial"/>
                <a:cs typeface="Arial"/>
              </a:rPr>
              <a:t> </a:t>
            </a:r>
            <a:r>
              <a:rPr sz="2000" b="1" spc="80" dirty="0" smtClean="0">
                <a:solidFill>
                  <a:srgbClr val="24879E"/>
                </a:solidFill>
                <a:latin typeface="Arial"/>
                <a:cs typeface="Arial"/>
              </a:rPr>
              <a:t>flowchart</a:t>
            </a:r>
            <a:r>
              <a:rPr lang="en-US" sz="2000" b="1" spc="80" dirty="0" smtClean="0">
                <a:solidFill>
                  <a:srgbClr val="24879E"/>
                </a:solidFill>
                <a:latin typeface="Arial"/>
                <a:cs typeface="Arial"/>
              </a:rPr>
              <a:t> or swim lane diagrams</a:t>
            </a:r>
            <a:r>
              <a:rPr sz="2000" b="1" spc="80" dirty="0" smtClean="0">
                <a:solidFill>
                  <a:srgbClr val="1A1A1A"/>
                </a:solidFill>
                <a:latin typeface="Arial"/>
                <a:cs typeface="Arial"/>
              </a:rPr>
              <a:t>,</a:t>
            </a:r>
            <a:r>
              <a:rPr sz="2000" b="1" spc="135" dirty="0" smtClean="0">
                <a:solidFill>
                  <a:srgbClr val="1A1A1A"/>
                </a:solidFill>
                <a:latin typeface="Arial"/>
                <a:cs typeface="Arial"/>
              </a:rPr>
              <a:t> </a:t>
            </a:r>
            <a:r>
              <a:rPr sz="2050" spc="-25" dirty="0">
                <a:solidFill>
                  <a:srgbClr val="0C0C0C"/>
                </a:solidFill>
                <a:latin typeface="Arial"/>
                <a:cs typeface="Arial"/>
              </a:rPr>
              <a:t>is </a:t>
            </a:r>
            <a:r>
              <a:rPr sz="2050" spc="60" dirty="0">
                <a:solidFill>
                  <a:srgbClr val="0C0C0C"/>
                </a:solidFill>
                <a:latin typeface="Arial"/>
                <a:cs typeface="Arial"/>
              </a:rPr>
              <a:t>used</a:t>
            </a:r>
            <a:r>
              <a:rPr sz="2050" spc="-15" dirty="0">
                <a:solidFill>
                  <a:srgbClr val="0C0C0C"/>
                </a:solidFill>
                <a:latin typeface="Arial"/>
                <a:cs typeface="Arial"/>
              </a:rPr>
              <a:t> </a:t>
            </a:r>
            <a:r>
              <a:rPr sz="2050" spc="105" dirty="0">
                <a:solidFill>
                  <a:srgbClr val="0C0C0C"/>
                </a:solidFill>
                <a:latin typeface="Arial"/>
                <a:cs typeface="Arial"/>
              </a:rPr>
              <a:t>by</a:t>
            </a:r>
            <a:r>
              <a:rPr sz="2050" spc="-75" dirty="0">
                <a:solidFill>
                  <a:srgbClr val="0C0C0C"/>
                </a:solidFill>
                <a:latin typeface="Arial"/>
                <a:cs typeface="Arial"/>
              </a:rPr>
              <a:t> </a:t>
            </a:r>
            <a:r>
              <a:rPr sz="2050" spc="100" dirty="0">
                <a:solidFill>
                  <a:srgbClr val="0C0C0C"/>
                </a:solidFill>
                <a:latin typeface="Arial"/>
                <a:cs typeface="Arial"/>
              </a:rPr>
              <a:t>many</a:t>
            </a:r>
            <a:r>
              <a:rPr sz="2050" spc="65" dirty="0">
                <a:solidFill>
                  <a:srgbClr val="0C0C0C"/>
                </a:solidFill>
                <a:latin typeface="Arial"/>
                <a:cs typeface="Arial"/>
              </a:rPr>
              <a:t> </a:t>
            </a:r>
            <a:r>
              <a:rPr sz="2050" spc="55" dirty="0">
                <a:solidFill>
                  <a:srgbClr val="1A1A1A"/>
                </a:solidFill>
                <a:latin typeface="Arial"/>
                <a:cs typeface="Arial"/>
              </a:rPr>
              <a:t>organizations</a:t>
            </a:r>
            <a:r>
              <a:rPr sz="2050" spc="160" dirty="0">
                <a:solidFill>
                  <a:srgbClr val="1A1A1A"/>
                </a:solidFill>
                <a:latin typeface="Arial"/>
                <a:cs typeface="Arial"/>
              </a:rPr>
              <a:t> </a:t>
            </a:r>
            <a:r>
              <a:rPr lang="en-US" sz="2050" spc="45" dirty="0" smtClean="0">
                <a:solidFill>
                  <a:srgbClr val="1A1A1A"/>
                </a:solidFill>
                <a:latin typeface="Arial"/>
                <a:cs typeface="Arial"/>
              </a:rPr>
              <a:t>seeking to analyze, design, and improve business processes. </a:t>
            </a:r>
            <a:endParaRPr sz="2050" dirty="0">
              <a:latin typeface="Arial"/>
              <a:cs typeface="Arial"/>
            </a:endParaRPr>
          </a:p>
          <a:p>
            <a:pPr marL="401955" indent="-389255">
              <a:lnSpc>
                <a:spcPct val="100000"/>
              </a:lnSpc>
              <a:spcBef>
                <a:spcPts val="420"/>
              </a:spcBef>
              <a:buClr>
                <a:srgbClr val="0C0C0C"/>
              </a:buClr>
              <a:buChar char="•"/>
              <a:tabLst>
                <a:tab pos="401955" algn="l"/>
              </a:tabLst>
            </a:pPr>
            <a:r>
              <a:rPr lang="en-US" sz="2050" spc="45" dirty="0" smtClean="0">
                <a:solidFill>
                  <a:srgbClr val="1A1A1A"/>
                </a:solidFill>
                <a:latin typeface="Arial"/>
                <a:cs typeface="Arial"/>
              </a:rPr>
              <a:t>This SD technique divides a process into a series of steps, or</a:t>
            </a:r>
          </a:p>
          <a:p>
            <a:pPr marL="401955" indent="-389255">
              <a:lnSpc>
                <a:spcPct val="100000"/>
              </a:lnSpc>
              <a:spcBef>
                <a:spcPts val="420"/>
              </a:spcBef>
              <a:buClr>
                <a:srgbClr val="0C0C0C"/>
              </a:buClr>
              <a:buChar char="•"/>
              <a:tabLst>
                <a:tab pos="401955" algn="l"/>
              </a:tabLst>
            </a:pPr>
            <a:r>
              <a:rPr lang="en-US" sz="2050" spc="45" dirty="0" smtClean="0">
                <a:solidFill>
                  <a:srgbClr val="1A1A1A"/>
                </a:solidFill>
                <a:latin typeface="Arial"/>
                <a:cs typeface="Arial"/>
              </a:rPr>
              <a:t>activities, and identifies the role responsible for each step. </a:t>
            </a:r>
          </a:p>
          <a:p>
            <a:pPr marL="401955" indent="-389255">
              <a:lnSpc>
                <a:spcPct val="100000"/>
              </a:lnSpc>
              <a:spcBef>
                <a:spcPts val="420"/>
              </a:spcBef>
              <a:buClr>
                <a:srgbClr val="0C0C0C"/>
              </a:buClr>
              <a:buChar char="•"/>
              <a:tabLst>
                <a:tab pos="401955" algn="l"/>
              </a:tabLst>
            </a:pPr>
            <a:r>
              <a:rPr lang="en-US" sz="2050" spc="45" dirty="0" smtClean="0">
                <a:solidFill>
                  <a:srgbClr val="1A1A1A"/>
                </a:solidFill>
                <a:latin typeface="Arial"/>
                <a:cs typeface="Arial"/>
              </a:rPr>
              <a:t>A role is the party responsible for an activity in the process and can be an external entity, such as a customer, supplier, or business partner, or an internal entity, such as a customer service representative or a purchasing manager.</a:t>
            </a:r>
            <a:endParaRPr lang="en-US" sz="2050" spc="45" dirty="0">
              <a:solidFill>
                <a:srgbClr val="1A1A1A"/>
              </a:solidFill>
              <a:latin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5875" rIns="0" bIns="0" rtlCol="0">
            <a:spAutoFit/>
          </a:bodyPr>
          <a:lstStyle/>
          <a:p>
            <a:pPr marL="2717800">
              <a:lnSpc>
                <a:spcPct val="100000"/>
              </a:lnSpc>
              <a:spcBef>
                <a:spcPts val="125"/>
              </a:spcBef>
            </a:pPr>
            <a:r>
              <a:rPr sz="4450" spc="55" dirty="0">
                <a:solidFill>
                  <a:srgbClr val="0C0C0C"/>
                </a:solidFill>
              </a:rPr>
              <a:t>Process</a:t>
            </a:r>
            <a:r>
              <a:rPr sz="4450" spc="200" dirty="0">
                <a:solidFill>
                  <a:srgbClr val="0C0C0C"/>
                </a:solidFill>
              </a:rPr>
              <a:t> </a:t>
            </a:r>
            <a:r>
              <a:rPr sz="4450" spc="-20" dirty="0">
                <a:solidFill>
                  <a:srgbClr val="0C0C0C"/>
                </a:solidFill>
              </a:rPr>
              <a:t>Maps</a:t>
            </a:r>
            <a:endParaRPr sz="4450"/>
          </a:p>
        </p:txBody>
      </p:sp>
      <p:sp>
        <p:nvSpPr>
          <p:cNvPr id="3" name="object 3"/>
          <p:cNvSpPr txBox="1"/>
          <p:nvPr/>
        </p:nvSpPr>
        <p:spPr>
          <a:xfrm>
            <a:off x="585478" y="1481356"/>
            <a:ext cx="8350250" cy="5660909"/>
          </a:xfrm>
          <a:prstGeom prst="rect">
            <a:avLst/>
          </a:prstGeom>
        </p:spPr>
        <p:txBody>
          <a:bodyPr vert="horz" wrap="square" lIns="0" tIns="24765" rIns="0" bIns="0" rtlCol="0">
            <a:spAutoFit/>
          </a:bodyPr>
          <a:lstStyle/>
          <a:p>
            <a:pPr marL="394335" marR="203835" indent="-382270">
              <a:lnSpc>
                <a:spcPct val="96500"/>
              </a:lnSpc>
              <a:spcBef>
                <a:spcPts val="195"/>
              </a:spcBef>
              <a:buChar char="•"/>
              <a:tabLst>
                <a:tab pos="394335" algn="l"/>
                <a:tab pos="401955" algn="l"/>
              </a:tabLst>
            </a:pPr>
            <a:r>
              <a:rPr lang="en-US" sz="2050" dirty="0" smtClean="0">
                <a:solidFill>
                  <a:srgbClr val="0C0C0C"/>
                </a:solidFill>
                <a:latin typeface="Arial"/>
                <a:cs typeface="Arial"/>
              </a:rPr>
              <a:t>Process maps allow the reader to understand how the process is currently operating.</a:t>
            </a:r>
          </a:p>
          <a:p>
            <a:pPr marL="394335" marR="203835" indent="-382270">
              <a:lnSpc>
                <a:spcPct val="96500"/>
              </a:lnSpc>
              <a:spcBef>
                <a:spcPts val="195"/>
              </a:spcBef>
              <a:buChar char="•"/>
              <a:tabLst>
                <a:tab pos="394335" algn="l"/>
                <a:tab pos="401955" algn="l"/>
              </a:tabLst>
            </a:pPr>
            <a:r>
              <a:rPr lang="en-US" sz="2050" dirty="0" smtClean="0">
                <a:solidFill>
                  <a:srgbClr val="0C0C0C"/>
                </a:solidFill>
                <a:latin typeface="Arial"/>
                <a:cs typeface="Arial"/>
              </a:rPr>
              <a:t>Additionally, they enable the reader to think about how the process can be improved.</a:t>
            </a:r>
          </a:p>
          <a:p>
            <a:pPr marL="394335" marR="203835" indent="-382270">
              <a:lnSpc>
                <a:spcPct val="96500"/>
              </a:lnSpc>
              <a:spcBef>
                <a:spcPts val="195"/>
              </a:spcBef>
              <a:buChar char="•"/>
              <a:tabLst>
                <a:tab pos="394335" algn="l"/>
                <a:tab pos="401955" algn="l"/>
              </a:tabLst>
            </a:pPr>
            <a:r>
              <a:rPr lang="en-US" sz="2050" dirty="0" smtClean="0">
                <a:solidFill>
                  <a:srgbClr val="0C0C0C"/>
                </a:solidFill>
                <a:latin typeface="Arial"/>
                <a:cs typeface="Arial"/>
              </a:rPr>
              <a:t>The first type of map is the “as is” process map. Mapping out current processes will help a project team develop requirements for an ERP system and make necessary changes to their processes. For ERP implementations, the “as is” map will be used as the starting point for mapping the existing processes into configurations of the ERP system. Processes will undoubtedly need to be changed to match the best practices in the ERP software. </a:t>
            </a:r>
          </a:p>
          <a:p>
            <a:pPr marL="394335" marR="203835" indent="-382270">
              <a:lnSpc>
                <a:spcPct val="96500"/>
              </a:lnSpc>
              <a:spcBef>
                <a:spcPts val="195"/>
              </a:spcBef>
              <a:buChar char="•"/>
              <a:tabLst>
                <a:tab pos="394335" algn="l"/>
                <a:tab pos="401955" algn="l"/>
              </a:tabLst>
            </a:pPr>
            <a:r>
              <a:rPr lang="en-US" sz="2050" dirty="0" smtClean="0">
                <a:solidFill>
                  <a:srgbClr val="0C0C0C"/>
                </a:solidFill>
                <a:latin typeface="Arial"/>
                <a:cs typeface="Arial"/>
              </a:rPr>
              <a:t>The second type of process map, the “to be” process map, is a visual representation of the redesigned process, which is more efficient and effective. This future-state process is developed to reflect changes that need to be made to the process. </a:t>
            </a:r>
          </a:p>
          <a:p>
            <a:pPr marL="394335" marR="203835" indent="-382270">
              <a:lnSpc>
                <a:spcPct val="96500"/>
              </a:lnSpc>
              <a:spcBef>
                <a:spcPts val="195"/>
              </a:spcBef>
              <a:buChar char="•"/>
              <a:tabLst>
                <a:tab pos="394335" algn="l"/>
                <a:tab pos="401955" algn="l"/>
              </a:tabLst>
            </a:pPr>
            <a:endParaRPr lang="en-US" sz="2050" dirty="0" smtClean="0">
              <a:solidFill>
                <a:srgbClr val="0C0C0C"/>
              </a:solidFill>
              <a:latin typeface="Arial"/>
              <a:cs typeface="Arial"/>
            </a:endParaRPr>
          </a:p>
          <a:p>
            <a:pPr marL="394335" marR="203835" indent="-382270">
              <a:lnSpc>
                <a:spcPct val="96500"/>
              </a:lnSpc>
              <a:spcBef>
                <a:spcPts val="195"/>
              </a:spcBef>
              <a:buChar char="•"/>
              <a:tabLst>
                <a:tab pos="394335" algn="l"/>
                <a:tab pos="401955" algn="l"/>
              </a:tabLst>
            </a:pPr>
            <a:endParaRPr lang="en-US" sz="2050" spc="45" dirty="0">
              <a:solidFill>
                <a:srgbClr val="1A1A1A"/>
              </a:solidFill>
              <a:latin typeface="Arial"/>
              <a:cs typeface="Arial"/>
            </a:endParaRPr>
          </a:p>
        </p:txBody>
      </p:sp>
    </p:spTree>
    <p:extLst>
      <p:ext uri="{BB962C8B-B14F-4D97-AF65-F5344CB8AC3E}">
        <p14:creationId xmlns:p14="http://schemas.microsoft.com/office/powerpoint/2010/main" val="37964716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5875" rIns="0" bIns="0" rtlCol="0">
            <a:spAutoFit/>
          </a:bodyPr>
          <a:lstStyle/>
          <a:p>
            <a:pPr marL="2717800">
              <a:lnSpc>
                <a:spcPct val="100000"/>
              </a:lnSpc>
              <a:spcBef>
                <a:spcPts val="125"/>
              </a:spcBef>
            </a:pPr>
            <a:r>
              <a:rPr sz="4450" spc="55" dirty="0">
                <a:solidFill>
                  <a:srgbClr val="0C0C0C"/>
                </a:solidFill>
              </a:rPr>
              <a:t>Process</a:t>
            </a:r>
            <a:r>
              <a:rPr sz="4450" spc="200" dirty="0">
                <a:solidFill>
                  <a:srgbClr val="0C0C0C"/>
                </a:solidFill>
              </a:rPr>
              <a:t> </a:t>
            </a:r>
            <a:r>
              <a:rPr sz="4450" spc="-20" dirty="0">
                <a:solidFill>
                  <a:srgbClr val="0C0C0C"/>
                </a:solidFill>
              </a:rPr>
              <a:t>Maps</a:t>
            </a:r>
            <a:endParaRPr sz="4450" dirty="0"/>
          </a:p>
        </p:txBody>
      </p:sp>
      <p:sp>
        <p:nvSpPr>
          <p:cNvPr id="3" name="object 3"/>
          <p:cNvSpPr txBox="1"/>
          <p:nvPr/>
        </p:nvSpPr>
        <p:spPr>
          <a:xfrm>
            <a:off x="585478" y="1481356"/>
            <a:ext cx="8350250" cy="4078039"/>
          </a:xfrm>
          <a:prstGeom prst="rect">
            <a:avLst/>
          </a:prstGeom>
        </p:spPr>
        <p:txBody>
          <a:bodyPr vert="horz" wrap="square" lIns="0" tIns="24765" rIns="0" bIns="0" rtlCol="0">
            <a:spAutoFit/>
          </a:bodyPr>
          <a:lstStyle/>
          <a:p>
            <a:pPr marL="401955" indent="-389255">
              <a:lnSpc>
                <a:spcPct val="100000"/>
              </a:lnSpc>
              <a:spcBef>
                <a:spcPts val="420"/>
              </a:spcBef>
              <a:buClr>
                <a:srgbClr val="0C0C0C"/>
              </a:buClr>
              <a:buChar char="•"/>
              <a:tabLst>
                <a:tab pos="401955" algn="l"/>
              </a:tabLst>
            </a:pPr>
            <a:r>
              <a:rPr sz="2050" spc="45" dirty="0" smtClean="0">
                <a:solidFill>
                  <a:srgbClr val="1A1A1A"/>
                </a:solidFill>
                <a:latin typeface="Arial"/>
                <a:cs typeface="Arial"/>
              </a:rPr>
              <a:t>Benefits</a:t>
            </a:r>
            <a:r>
              <a:rPr sz="2050" spc="45" dirty="0">
                <a:solidFill>
                  <a:srgbClr val="1A1A1A"/>
                </a:solidFill>
                <a:latin typeface="Arial"/>
                <a:cs typeface="Arial"/>
              </a:rPr>
              <a:t>:</a:t>
            </a:r>
            <a:endParaRPr sz="2050" dirty="0">
              <a:latin typeface="Arial"/>
              <a:cs typeface="Arial"/>
            </a:endParaRPr>
          </a:p>
          <a:p>
            <a:pPr marL="1177289" marR="311785" indent="-342900">
              <a:lnSpc>
                <a:spcPct val="93300"/>
              </a:lnSpc>
              <a:spcBef>
                <a:spcPts val="430"/>
              </a:spcBef>
              <a:buFont typeface="Arial" panose="020B0604020202020204" pitchFamily="34" charset="0"/>
              <a:buChar char="•"/>
            </a:pPr>
            <a:r>
              <a:rPr sz="1950" i="1" dirty="0">
                <a:solidFill>
                  <a:srgbClr val="1A1A1A"/>
                </a:solidFill>
                <a:latin typeface="Arial"/>
                <a:cs typeface="Arial"/>
              </a:rPr>
              <a:t>Defining</a:t>
            </a:r>
            <a:r>
              <a:rPr sz="1950" i="1" spc="140" dirty="0">
                <a:solidFill>
                  <a:srgbClr val="1A1A1A"/>
                </a:solidFill>
                <a:latin typeface="Arial"/>
                <a:cs typeface="Arial"/>
              </a:rPr>
              <a:t> </a:t>
            </a:r>
            <a:r>
              <a:rPr sz="1900" dirty="0">
                <a:solidFill>
                  <a:srgbClr val="1A1A1A"/>
                </a:solidFill>
                <a:latin typeface="Arial"/>
                <a:cs typeface="Arial"/>
              </a:rPr>
              <a:t>the</a:t>
            </a:r>
            <a:r>
              <a:rPr sz="1900" spc="325" dirty="0">
                <a:solidFill>
                  <a:srgbClr val="1A1A1A"/>
                </a:solidFill>
                <a:latin typeface="Arial"/>
                <a:cs typeface="Arial"/>
              </a:rPr>
              <a:t> </a:t>
            </a:r>
            <a:r>
              <a:rPr sz="2050" b="1" spc="-35" dirty="0">
                <a:solidFill>
                  <a:srgbClr val="2B2B2B"/>
                </a:solidFill>
                <a:latin typeface="Arial"/>
                <a:cs typeface="Arial"/>
              </a:rPr>
              <a:t>"</a:t>
            </a:r>
            <a:r>
              <a:rPr sz="2050" b="1" spc="-35" dirty="0" smtClean="0">
                <a:solidFill>
                  <a:srgbClr val="24879E"/>
                </a:solidFill>
                <a:latin typeface="Arial"/>
                <a:cs typeface="Arial"/>
              </a:rPr>
              <a:t>as</a:t>
            </a:r>
            <a:r>
              <a:rPr lang="en-US" sz="2050" b="1" spc="-35" dirty="0" smtClean="0">
                <a:solidFill>
                  <a:srgbClr val="24879E"/>
                </a:solidFill>
                <a:latin typeface="Arial"/>
                <a:cs typeface="Arial"/>
              </a:rPr>
              <a:t> </a:t>
            </a:r>
            <a:r>
              <a:rPr sz="2050" b="1" spc="-35" dirty="0" smtClean="0">
                <a:solidFill>
                  <a:srgbClr val="24879E"/>
                </a:solidFill>
                <a:latin typeface="Arial"/>
                <a:cs typeface="Arial"/>
              </a:rPr>
              <a:t>is</a:t>
            </a:r>
            <a:r>
              <a:rPr sz="2050" b="1" spc="-35" dirty="0">
                <a:solidFill>
                  <a:srgbClr val="2B2B2B"/>
                </a:solidFill>
                <a:latin typeface="Arial"/>
                <a:cs typeface="Arial"/>
              </a:rPr>
              <a:t>"</a:t>
            </a:r>
            <a:r>
              <a:rPr sz="2050" b="1" spc="-110" dirty="0">
                <a:solidFill>
                  <a:srgbClr val="2B2B2B"/>
                </a:solidFill>
                <a:latin typeface="Arial"/>
                <a:cs typeface="Arial"/>
              </a:rPr>
              <a:t> </a:t>
            </a:r>
            <a:r>
              <a:rPr sz="1900" dirty="0">
                <a:solidFill>
                  <a:srgbClr val="0C0C0C"/>
                </a:solidFill>
                <a:latin typeface="Arial"/>
                <a:cs typeface="Arial"/>
              </a:rPr>
              <a:t>business</a:t>
            </a:r>
            <a:r>
              <a:rPr sz="1900" spc="120" dirty="0">
                <a:solidFill>
                  <a:srgbClr val="0C0C0C"/>
                </a:solidFill>
                <a:latin typeface="Arial"/>
                <a:cs typeface="Arial"/>
              </a:rPr>
              <a:t> </a:t>
            </a:r>
            <a:r>
              <a:rPr sz="1900" dirty="0">
                <a:solidFill>
                  <a:srgbClr val="0C0C0C"/>
                </a:solidFill>
                <a:latin typeface="Arial"/>
                <a:cs typeface="Arial"/>
              </a:rPr>
              <a:t>process</a:t>
            </a:r>
            <a:r>
              <a:rPr sz="1900" spc="105" dirty="0">
                <a:solidFill>
                  <a:srgbClr val="0C0C0C"/>
                </a:solidFill>
                <a:latin typeface="Arial"/>
                <a:cs typeface="Arial"/>
              </a:rPr>
              <a:t> </a:t>
            </a:r>
            <a:r>
              <a:rPr sz="1900" spc="70" dirty="0">
                <a:solidFill>
                  <a:srgbClr val="1A1A1A"/>
                </a:solidFill>
                <a:latin typeface="Arial"/>
                <a:cs typeface="Arial"/>
              </a:rPr>
              <a:t>and</a:t>
            </a:r>
            <a:r>
              <a:rPr sz="1900" spc="-20" dirty="0">
                <a:solidFill>
                  <a:srgbClr val="1A1A1A"/>
                </a:solidFill>
                <a:latin typeface="Arial"/>
                <a:cs typeface="Arial"/>
              </a:rPr>
              <a:t> </a:t>
            </a:r>
            <a:r>
              <a:rPr sz="1900" spc="70" dirty="0">
                <a:solidFill>
                  <a:srgbClr val="1A1A1A"/>
                </a:solidFill>
                <a:latin typeface="Arial"/>
                <a:cs typeface="Arial"/>
              </a:rPr>
              <a:t>clarifying</a:t>
            </a:r>
            <a:r>
              <a:rPr sz="1900" spc="-70" dirty="0">
                <a:solidFill>
                  <a:srgbClr val="1A1A1A"/>
                </a:solidFill>
                <a:latin typeface="Arial"/>
                <a:cs typeface="Arial"/>
              </a:rPr>
              <a:t> </a:t>
            </a:r>
            <a:r>
              <a:rPr sz="1900" spc="85" dirty="0">
                <a:solidFill>
                  <a:srgbClr val="1A1A1A"/>
                </a:solidFill>
                <a:latin typeface="Arial"/>
                <a:cs typeface="Arial"/>
              </a:rPr>
              <a:t>the</a:t>
            </a:r>
            <a:r>
              <a:rPr sz="1900" spc="185" dirty="0">
                <a:solidFill>
                  <a:srgbClr val="1A1A1A"/>
                </a:solidFill>
                <a:latin typeface="Arial"/>
                <a:cs typeface="Arial"/>
              </a:rPr>
              <a:t> </a:t>
            </a:r>
            <a:r>
              <a:rPr sz="1900" spc="-10" dirty="0">
                <a:solidFill>
                  <a:srgbClr val="1A1A1A"/>
                </a:solidFill>
                <a:latin typeface="Arial"/>
                <a:cs typeface="Arial"/>
              </a:rPr>
              <a:t>changes </a:t>
            </a:r>
            <a:r>
              <a:rPr sz="1900" dirty="0">
                <a:solidFill>
                  <a:srgbClr val="1A1A1A"/>
                </a:solidFill>
                <a:latin typeface="Arial"/>
                <a:cs typeface="Arial"/>
              </a:rPr>
              <a:t>necessary</a:t>
            </a:r>
            <a:r>
              <a:rPr sz="1900" spc="-15" dirty="0">
                <a:solidFill>
                  <a:srgbClr val="1A1A1A"/>
                </a:solidFill>
                <a:latin typeface="Arial"/>
                <a:cs typeface="Arial"/>
              </a:rPr>
              <a:t> </a:t>
            </a:r>
            <a:r>
              <a:rPr sz="1900" dirty="0">
                <a:solidFill>
                  <a:srgbClr val="1A1A1A"/>
                </a:solidFill>
                <a:latin typeface="Arial"/>
                <a:cs typeface="Arial"/>
              </a:rPr>
              <a:t>to</a:t>
            </a:r>
            <a:r>
              <a:rPr sz="1900" spc="325" dirty="0">
                <a:solidFill>
                  <a:srgbClr val="1A1A1A"/>
                </a:solidFill>
                <a:latin typeface="Arial"/>
                <a:cs typeface="Arial"/>
              </a:rPr>
              <a:t> </a:t>
            </a:r>
            <a:r>
              <a:rPr sz="1900" spc="85" dirty="0">
                <a:solidFill>
                  <a:srgbClr val="1A1A1A"/>
                </a:solidFill>
                <a:latin typeface="Arial"/>
                <a:cs typeface="Arial"/>
              </a:rPr>
              <a:t>transform</a:t>
            </a:r>
            <a:r>
              <a:rPr sz="1900" spc="65" dirty="0">
                <a:solidFill>
                  <a:srgbClr val="1A1A1A"/>
                </a:solidFill>
                <a:latin typeface="Arial"/>
                <a:cs typeface="Arial"/>
              </a:rPr>
              <a:t> </a:t>
            </a:r>
            <a:r>
              <a:rPr sz="1900" spc="85" dirty="0">
                <a:solidFill>
                  <a:srgbClr val="1A1A1A"/>
                </a:solidFill>
                <a:latin typeface="Arial"/>
                <a:cs typeface="Arial"/>
              </a:rPr>
              <a:t>the</a:t>
            </a:r>
            <a:r>
              <a:rPr sz="1900" spc="170" dirty="0">
                <a:solidFill>
                  <a:srgbClr val="1A1A1A"/>
                </a:solidFill>
                <a:latin typeface="Arial"/>
                <a:cs typeface="Arial"/>
              </a:rPr>
              <a:t> </a:t>
            </a:r>
            <a:r>
              <a:rPr sz="1900" spc="55" dirty="0">
                <a:solidFill>
                  <a:srgbClr val="0C0C0C"/>
                </a:solidFill>
                <a:latin typeface="Arial"/>
                <a:cs typeface="Arial"/>
              </a:rPr>
              <a:t>present</a:t>
            </a:r>
            <a:r>
              <a:rPr sz="1900" spc="25" dirty="0">
                <a:solidFill>
                  <a:srgbClr val="0C0C0C"/>
                </a:solidFill>
                <a:latin typeface="Arial"/>
                <a:cs typeface="Arial"/>
              </a:rPr>
              <a:t> </a:t>
            </a:r>
            <a:r>
              <a:rPr sz="1900" dirty="0">
                <a:solidFill>
                  <a:srgbClr val="1A1A1A"/>
                </a:solidFill>
                <a:latin typeface="Arial"/>
                <a:cs typeface="Arial"/>
              </a:rPr>
              <a:t>process</a:t>
            </a:r>
            <a:r>
              <a:rPr sz="1900" spc="10" dirty="0">
                <a:solidFill>
                  <a:srgbClr val="1A1A1A"/>
                </a:solidFill>
                <a:latin typeface="Arial"/>
                <a:cs typeface="Arial"/>
              </a:rPr>
              <a:t> </a:t>
            </a:r>
            <a:r>
              <a:rPr sz="1900" spc="150" dirty="0">
                <a:solidFill>
                  <a:srgbClr val="1A1A1A"/>
                </a:solidFill>
                <a:latin typeface="Arial"/>
                <a:cs typeface="Arial"/>
              </a:rPr>
              <a:t>into</a:t>
            </a:r>
            <a:r>
              <a:rPr sz="1900" spc="-130" dirty="0">
                <a:solidFill>
                  <a:srgbClr val="1A1A1A"/>
                </a:solidFill>
                <a:latin typeface="Arial"/>
                <a:cs typeface="Arial"/>
              </a:rPr>
              <a:t> </a:t>
            </a:r>
            <a:r>
              <a:rPr sz="1900" spc="170" dirty="0">
                <a:solidFill>
                  <a:srgbClr val="1A1A1A"/>
                </a:solidFill>
                <a:latin typeface="Arial"/>
                <a:cs typeface="Arial"/>
              </a:rPr>
              <a:t>the</a:t>
            </a:r>
            <a:r>
              <a:rPr sz="1900" spc="-180" dirty="0">
                <a:solidFill>
                  <a:srgbClr val="1A1A1A"/>
                </a:solidFill>
                <a:latin typeface="Arial"/>
                <a:cs typeface="Arial"/>
              </a:rPr>
              <a:t> </a:t>
            </a:r>
            <a:r>
              <a:rPr sz="1900" b="1" spc="50" dirty="0">
                <a:solidFill>
                  <a:srgbClr val="0C0C0C"/>
                </a:solidFill>
                <a:latin typeface="Arial"/>
                <a:cs typeface="Arial"/>
              </a:rPr>
              <a:t>"</a:t>
            </a:r>
            <a:r>
              <a:rPr sz="1900" b="1" spc="50" dirty="0">
                <a:solidFill>
                  <a:srgbClr val="24879E"/>
                </a:solidFill>
                <a:latin typeface="Arial"/>
                <a:cs typeface="Arial"/>
              </a:rPr>
              <a:t>to</a:t>
            </a:r>
            <a:r>
              <a:rPr sz="1900" b="1" spc="45" dirty="0">
                <a:solidFill>
                  <a:srgbClr val="24879E"/>
                </a:solidFill>
                <a:latin typeface="Arial"/>
                <a:cs typeface="Arial"/>
              </a:rPr>
              <a:t> </a:t>
            </a:r>
            <a:r>
              <a:rPr sz="1900" b="1" spc="-25" dirty="0">
                <a:solidFill>
                  <a:srgbClr val="24879E"/>
                </a:solidFill>
                <a:latin typeface="Arial"/>
                <a:cs typeface="Arial"/>
              </a:rPr>
              <a:t>be</a:t>
            </a:r>
            <a:r>
              <a:rPr sz="1900" b="1" spc="-25" dirty="0">
                <a:solidFill>
                  <a:srgbClr val="1A1A1A"/>
                </a:solidFill>
                <a:latin typeface="Arial"/>
                <a:cs typeface="Arial"/>
              </a:rPr>
              <a:t>" </a:t>
            </a:r>
            <a:r>
              <a:rPr sz="1900" spc="-10" dirty="0" smtClean="0">
                <a:solidFill>
                  <a:srgbClr val="1A1A1A"/>
                </a:solidFill>
                <a:latin typeface="Arial"/>
                <a:cs typeface="Arial"/>
              </a:rPr>
              <a:t>process</a:t>
            </a:r>
            <a:r>
              <a:rPr lang="en-US" sz="1900" spc="-10" dirty="0" smtClean="0">
                <a:solidFill>
                  <a:srgbClr val="1A1A1A"/>
                </a:solidFill>
                <a:latin typeface="Arial"/>
                <a:cs typeface="Arial"/>
              </a:rPr>
              <a:t>. </a:t>
            </a:r>
          </a:p>
          <a:p>
            <a:pPr marL="1177289" marR="311785" indent="-342900">
              <a:lnSpc>
                <a:spcPct val="93300"/>
              </a:lnSpc>
              <a:spcBef>
                <a:spcPts val="430"/>
              </a:spcBef>
              <a:buFont typeface="Arial" panose="020B0604020202020204" pitchFamily="34" charset="0"/>
              <a:buChar char="•"/>
            </a:pPr>
            <a:r>
              <a:rPr sz="1950" i="1" dirty="0" smtClean="0">
                <a:solidFill>
                  <a:srgbClr val="1A1A1A"/>
                </a:solidFill>
                <a:latin typeface="Arial"/>
                <a:cs typeface="Arial"/>
              </a:rPr>
              <a:t>Determining</a:t>
            </a:r>
            <a:r>
              <a:rPr sz="1950" i="1" spc="315" dirty="0" smtClean="0">
                <a:solidFill>
                  <a:srgbClr val="1A1A1A"/>
                </a:solidFill>
                <a:latin typeface="Arial"/>
                <a:cs typeface="Arial"/>
              </a:rPr>
              <a:t> </a:t>
            </a:r>
            <a:r>
              <a:rPr sz="1900" spc="95" dirty="0">
                <a:solidFill>
                  <a:srgbClr val="1A1A1A"/>
                </a:solidFill>
                <a:latin typeface="Arial"/>
                <a:cs typeface="Arial"/>
              </a:rPr>
              <a:t>whether</a:t>
            </a:r>
            <a:r>
              <a:rPr sz="1900" spc="215" dirty="0">
                <a:solidFill>
                  <a:srgbClr val="1A1A1A"/>
                </a:solidFill>
                <a:latin typeface="Arial"/>
                <a:cs typeface="Arial"/>
              </a:rPr>
              <a:t> </a:t>
            </a:r>
            <a:r>
              <a:rPr sz="1900" dirty="0">
                <a:solidFill>
                  <a:srgbClr val="1A1A1A"/>
                </a:solidFill>
                <a:latin typeface="Arial"/>
                <a:cs typeface="Arial"/>
              </a:rPr>
              <a:t>"as</a:t>
            </a:r>
            <a:r>
              <a:rPr sz="1900" spc="45" dirty="0">
                <a:solidFill>
                  <a:srgbClr val="1A1A1A"/>
                </a:solidFill>
                <a:latin typeface="Arial"/>
                <a:cs typeface="Arial"/>
              </a:rPr>
              <a:t> </a:t>
            </a:r>
            <a:r>
              <a:rPr sz="1900" dirty="0">
                <a:solidFill>
                  <a:srgbClr val="1A1A1A"/>
                </a:solidFill>
                <a:latin typeface="Arial"/>
                <a:cs typeface="Arial"/>
              </a:rPr>
              <a:t>is"</a:t>
            </a:r>
            <a:r>
              <a:rPr sz="1900" spc="315" dirty="0">
                <a:solidFill>
                  <a:srgbClr val="1A1A1A"/>
                </a:solidFill>
                <a:latin typeface="Arial"/>
                <a:cs typeface="Arial"/>
              </a:rPr>
              <a:t> </a:t>
            </a:r>
            <a:r>
              <a:rPr sz="1900" dirty="0">
                <a:solidFill>
                  <a:srgbClr val="0C0C0C"/>
                </a:solidFill>
                <a:latin typeface="Arial"/>
                <a:cs typeface="Arial"/>
              </a:rPr>
              <a:t>measures</a:t>
            </a:r>
            <a:r>
              <a:rPr sz="1900" spc="185" dirty="0">
                <a:solidFill>
                  <a:srgbClr val="0C0C0C"/>
                </a:solidFill>
                <a:latin typeface="Arial"/>
                <a:cs typeface="Arial"/>
              </a:rPr>
              <a:t> </a:t>
            </a:r>
            <a:r>
              <a:rPr sz="1900" dirty="0">
                <a:solidFill>
                  <a:srgbClr val="1A1A1A"/>
                </a:solidFill>
                <a:latin typeface="Arial"/>
                <a:cs typeface="Arial"/>
              </a:rPr>
              <a:t>are</a:t>
            </a:r>
            <a:r>
              <a:rPr sz="1900" spc="100" dirty="0">
                <a:solidFill>
                  <a:srgbClr val="1A1A1A"/>
                </a:solidFill>
                <a:latin typeface="Arial"/>
                <a:cs typeface="Arial"/>
              </a:rPr>
              <a:t> </a:t>
            </a:r>
            <a:r>
              <a:rPr sz="1900" spc="45" dirty="0">
                <a:solidFill>
                  <a:srgbClr val="1A1A1A"/>
                </a:solidFill>
                <a:latin typeface="Arial"/>
                <a:cs typeface="Arial"/>
              </a:rPr>
              <a:t>appropriate</a:t>
            </a:r>
            <a:endParaRPr sz="1900" dirty="0">
              <a:latin typeface="Arial"/>
              <a:cs typeface="Arial"/>
            </a:endParaRPr>
          </a:p>
          <a:p>
            <a:pPr marL="1187450" indent="-342900">
              <a:lnSpc>
                <a:spcPct val="100000"/>
              </a:lnSpc>
              <a:spcBef>
                <a:spcPts val="309"/>
              </a:spcBef>
              <a:buFont typeface="Arial" panose="020B0604020202020204" pitchFamily="34" charset="0"/>
              <a:buChar char="•"/>
            </a:pPr>
            <a:r>
              <a:rPr sz="1950" i="1" dirty="0">
                <a:solidFill>
                  <a:srgbClr val="1A1A1A"/>
                </a:solidFill>
                <a:latin typeface="Arial"/>
                <a:cs typeface="Arial"/>
              </a:rPr>
              <a:t>Promoting</a:t>
            </a:r>
            <a:r>
              <a:rPr sz="1950" i="1" spc="265" dirty="0">
                <a:solidFill>
                  <a:srgbClr val="1A1A1A"/>
                </a:solidFill>
                <a:latin typeface="Arial"/>
                <a:cs typeface="Arial"/>
              </a:rPr>
              <a:t> </a:t>
            </a:r>
            <a:r>
              <a:rPr sz="1900" dirty="0">
                <a:solidFill>
                  <a:srgbClr val="1A1A1A"/>
                </a:solidFill>
                <a:latin typeface="Arial"/>
                <a:cs typeface="Arial"/>
              </a:rPr>
              <a:t>awareness</a:t>
            </a:r>
            <a:r>
              <a:rPr sz="1900" spc="204" dirty="0">
                <a:solidFill>
                  <a:srgbClr val="1A1A1A"/>
                </a:solidFill>
                <a:latin typeface="Arial"/>
                <a:cs typeface="Arial"/>
              </a:rPr>
              <a:t> </a:t>
            </a:r>
            <a:r>
              <a:rPr sz="1900" dirty="0">
                <a:solidFill>
                  <a:srgbClr val="1A1A1A"/>
                </a:solidFill>
                <a:latin typeface="Arial"/>
                <a:cs typeface="Arial"/>
              </a:rPr>
              <a:t>of</a:t>
            </a:r>
            <a:r>
              <a:rPr sz="1900" spc="300" dirty="0">
                <a:solidFill>
                  <a:srgbClr val="1A1A1A"/>
                </a:solidFill>
                <a:latin typeface="Arial"/>
                <a:cs typeface="Arial"/>
              </a:rPr>
              <a:t> </a:t>
            </a:r>
            <a:r>
              <a:rPr sz="1900" spc="50" dirty="0">
                <a:solidFill>
                  <a:srgbClr val="1A1A1A"/>
                </a:solidFill>
                <a:latin typeface="Arial"/>
                <a:cs typeface="Arial"/>
              </a:rPr>
              <a:t>employees'</a:t>
            </a:r>
            <a:r>
              <a:rPr sz="1900" spc="185" dirty="0">
                <a:solidFill>
                  <a:srgbClr val="1A1A1A"/>
                </a:solidFill>
                <a:latin typeface="Arial"/>
                <a:cs typeface="Arial"/>
              </a:rPr>
              <a:t> </a:t>
            </a:r>
            <a:r>
              <a:rPr sz="1900" spc="50" dirty="0">
                <a:solidFill>
                  <a:srgbClr val="1A1A1A"/>
                </a:solidFill>
                <a:latin typeface="Arial"/>
                <a:cs typeface="Arial"/>
              </a:rPr>
              <a:t>responsibilities</a:t>
            </a:r>
            <a:endParaRPr sz="1900" dirty="0">
              <a:latin typeface="Arial"/>
              <a:cs typeface="Arial"/>
            </a:endParaRPr>
          </a:p>
          <a:p>
            <a:pPr marL="1187450" indent="-342900">
              <a:lnSpc>
                <a:spcPct val="100000"/>
              </a:lnSpc>
              <a:spcBef>
                <a:spcPts val="245"/>
              </a:spcBef>
              <a:buFont typeface="Arial" panose="020B0604020202020204" pitchFamily="34" charset="0"/>
              <a:buChar char="•"/>
            </a:pPr>
            <a:r>
              <a:rPr sz="1950" i="1" dirty="0" smtClean="0">
                <a:solidFill>
                  <a:srgbClr val="0C0C0C"/>
                </a:solidFill>
                <a:latin typeface="Arial"/>
                <a:cs typeface="Arial"/>
              </a:rPr>
              <a:t>Highlighting</a:t>
            </a:r>
            <a:r>
              <a:rPr sz="1950" i="1" spc="409" dirty="0" smtClean="0">
                <a:solidFill>
                  <a:srgbClr val="0C0C0C"/>
                </a:solidFill>
                <a:latin typeface="Arial"/>
                <a:cs typeface="Arial"/>
              </a:rPr>
              <a:t> </a:t>
            </a:r>
            <a:r>
              <a:rPr sz="1900" spc="114" dirty="0">
                <a:solidFill>
                  <a:srgbClr val="1A1A1A"/>
                </a:solidFill>
                <a:latin typeface="Arial"/>
                <a:cs typeface="Arial"/>
              </a:rPr>
              <a:t>workflow</a:t>
            </a:r>
            <a:r>
              <a:rPr sz="1900" spc="180" dirty="0">
                <a:solidFill>
                  <a:srgbClr val="1A1A1A"/>
                </a:solidFill>
                <a:latin typeface="Arial"/>
                <a:cs typeface="Arial"/>
              </a:rPr>
              <a:t> </a:t>
            </a:r>
            <a:r>
              <a:rPr sz="1900" spc="50" dirty="0">
                <a:solidFill>
                  <a:srgbClr val="0C0C0C"/>
                </a:solidFill>
                <a:latin typeface="Arial"/>
                <a:cs typeface="Arial"/>
              </a:rPr>
              <a:t>inefficiencies</a:t>
            </a:r>
            <a:endParaRPr sz="1900" dirty="0">
              <a:latin typeface="Arial"/>
              <a:cs typeface="Arial"/>
            </a:endParaRPr>
          </a:p>
          <a:p>
            <a:pPr marL="1183640" indent="-342900">
              <a:lnSpc>
                <a:spcPct val="100000"/>
              </a:lnSpc>
              <a:spcBef>
                <a:spcPts val="229"/>
              </a:spcBef>
              <a:buFont typeface="Arial" panose="020B0604020202020204" pitchFamily="34" charset="0"/>
              <a:buChar char="•"/>
            </a:pPr>
            <a:r>
              <a:rPr lang="en-US" sz="1950" i="1" dirty="0" smtClean="0">
                <a:solidFill>
                  <a:srgbClr val="1A1A1A"/>
                </a:solidFill>
                <a:latin typeface="Arial"/>
                <a:cs typeface="Arial"/>
              </a:rPr>
              <a:t>Orienting and training </a:t>
            </a:r>
            <a:r>
              <a:rPr lang="en-US" sz="1950" dirty="0" smtClean="0">
                <a:solidFill>
                  <a:srgbClr val="1A1A1A"/>
                </a:solidFill>
                <a:latin typeface="Arial"/>
                <a:cs typeface="Arial"/>
              </a:rPr>
              <a:t>new employees or retraining existing employees</a:t>
            </a:r>
          </a:p>
          <a:p>
            <a:pPr marL="1183640" indent="-342900">
              <a:lnSpc>
                <a:spcPct val="100000"/>
              </a:lnSpc>
              <a:spcBef>
                <a:spcPts val="229"/>
              </a:spcBef>
              <a:buFont typeface="Arial" panose="020B0604020202020204" pitchFamily="34" charset="0"/>
              <a:buChar char="•"/>
            </a:pPr>
            <a:r>
              <a:rPr sz="1950" i="1" dirty="0" smtClean="0">
                <a:solidFill>
                  <a:srgbClr val="1A1A1A"/>
                </a:solidFill>
                <a:latin typeface="Arial"/>
                <a:cs typeface="Arial"/>
              </a:rPr>
              <a:t>Pinpointing</a:t>
            </a:r>
            <a:r>
              <a:rPr sz="1950" i="1" spc="40" dirty="0" smtClean="0">
                <a:solidFill>
                  <a:srgbClr val="1A1A1A"/>
                </a:solidFill>
                <a:latin typeface="Arial"/>
                <a:cs typeface="Arial"/>
              </a:rPr>
              <a:t> </a:t>
            </a:r>
            <a:r>
              <a:rPr sz="1900" spc="85" dirty="0">
                <a:solidFill>
                  <a:srgbClr val="1A1A1A"/>
                </a:solidFill>
                <a:latin typeface="Arial"/>
                <a:cs typeface="Arial"/>
              </a:rPr>
              <a:t>internal</a:t>
            </a:r>
            <a:r>
              <a:rPr sz="1900" spc="40" dirty="0">
                <a:solidFill>
                  <a:srgbClr val="1A1A1A"/>
                </a:solidFill>
                <a:latin typeface="Arial"/>
                <a:cs typeface="Arial"/>
              </a:rPr>
              <a:t> </a:t>
            </a:r>
            <a:r>
              <a:rPr sz="1900" spc="65" dirty="0">
                <a:solidFill>
                  <a:srgbClr val="1A1A1A"/>
                </a:solidFill>
                <a:latin typeface="Arial"/>
                <a:cs typeface="Arial"/>
              </a:rPr>
              <a:t>controls</a:t>
            </a:r>
            <a:r>
              <a:rPr sz="1900" spc="40" dirty="0">
                <a:solidFill>
                  <a:srgbClr val="1A1A1A"/>
                </a:solidFill>
                <a:latin typeface="Arial"/>
                <a:cs typeface="Arial"/>
              </a:rPr>
              <a:t> </a:t>
            </a:r>
            <a:r>
              <a:rPr sz="1900" spc="130" dirty="0">
                <a:solidFill>
                  <a:srgbClr val="1A1A1A"/>
                </a:solidFill>
                <a:latin typeface="Arial"/>
                <a:cs typeface="Arial"/>
              </a:rPr>
              <a:t>that</a:t>
            </a:r>
            <a:r>
              <a:rPr sz="1900" spc="-25" dirty="0">
                <a:solidFill>
                  <a:srgbClr val="1A1A1A"/>
                </a:solidFill>
                <a:latin typeface="Arial"/>
                <a:cs typeface="Arial"/>
              </a:rPr>
              <a:t> </a:t>
            </a:r>
            <a:r>
              <a:rPr sz="1900" spc="60" dirty="0">
                <a:solidFill>
                  <a:srgbClr val="0C0C0C"/>
                </a:solidFill>
                <a:latin typeface="Arial"/>
                <a:cs typeface="Arial"/>
              </a:rPr>
              <a:t>need</a:t>
            </a:r>
            <a:r>
              <a:rPr sz="1900" spc="50" dirty="0">
                <a:solidFill>
                  <a:srgbClr val="0C0C0C"/>
                </a:solidFill>
                <a:latin typeface="Arial"/>
                <a:cs typeface="Arial"/>
              </a:rPr>
              <a:t> </a:t>
            </a:r>
            <a:r>
              <a:rPr sz="1900" spc="50" dirty="0">
                <a:solidFill>
                  <a:srgbClr val="1A1A1A"/>
                </a:solidFill>
                <a:latin typeface="Arial"/>
                <a:cs typeface="Arial"/>
              </a:rPr>
              <a:t>to</a:t>
            </a:r>
            <a:r>
              <a:rPr sz="1900" spc="225" dirty="0">
                <a:solidFill>
                  <a:srgbClr val="1A1A1A"/>
                </a:solidFill>
                <a:latin typeface="Arial"/>
                <a:cs typeface="Arial"/>
              </a:rPr>
              <a:t> </a:t>
            </a:r>
            <a:r>
              <a:rPr sz="1900" spc="60" dirty="0">
                <a:solidFill>
                  <a:srgbClr val="1A1A1A"/>
                </a:solidFill>
                <a:latin typeface="Arial"/>
                <a:cs typeface="Arial"/>
              </a:rPr>
              <a:t>be</a:t>
            </a:r>
            <a:r>
              <a:rPr sz="1900" spc="-20" dirty="0">
                <a:solidFill>
                  <a:srgbClr val="1A1A1A"/>
                </a:solidFill>
                <a:latin typeface="Arial"/>
                <a:cs typeface="Arial"/>
              </a:rPr>
              <a:t> </a:t>
            </a:r>
            <a:r>
              <a:rPr sz="1900" spc="70" dirty="0">
                <a:solidFill>
                  <a:srgbClr val="0C0C0C"/>
                </a:solidFill>
                <a:latin typeface="Arial"/>
                <a:cs typeface="Arial"/>
              </a:rPr>
              <a:t>tested</a:t>
            </a:r>
            <a:r>
              <a:rPr sz="1900" spc="130" dirty="0">
                <a:solidFill>
                  <a:srgbClr val="0C0C0C"/>
                </a:solidFill>
                <a:latin typeface="Arial"/>
                <a:cs typeface="Arial"/>
              </a:rPr>
              <a:t> </a:t>
            </a:r>
            <a:r>
              <a:rPr sz="1900" spc="80" dirty="0">
                <a:solidFill>
                  <a:srgbClr val="1A1A1A"/>
                </a:solidFill>
                <a:latin typeface="Arial"/>
                <a:cs typeface="Arial"/>
              </a:rPr>
              <a:t>during</a:t>
            </a:r>
            <a:r>
              <a:rPr sz="1900" spc="-90" dirty="0">
                <a:solidFill>
                  <a:srgbClr val="1A1A1A"/>
                </a:solidFill>
                <a:latin typeface="Arial"/>
                <a:cs typeface="Arial"/>
              </a:rPr>
              <a:t> </a:t>
            </a:r>
            <a:r>
              <a:rPr sz="1900" spc="30" dirty="0">
                <a:solidFill>
                  <a:srgbClr val="1A1A1A"/>
                </a:solidFill>
                <a:latin typeface="Arial"/>
                <a:cs typeface="Arial"/>
              </a:rPr>
              <a:t>an </a:t>
            </a:r>
            <a:r>
              <a:rPr sz="1900" spc="65" dirty="0" smtClean="0">
                <a:solidFill>
                  <a:srgbClr val="1A1A1A"/>
                </a:solidFill>
                <a:latin typeface="Arial"/>
                <a:cs typeface="Arial"/>
              </a:rPr>
              <a:t>audit</a:t>
            </a:r>
            <a:endParaRPr lang="en-US" sz="1900" spc="65" dirty="0" smtClean="0">
              <a:solidFill>
                <a:srgbClr val="1A1A1A"/>
              </a:solidFill>
              <a:latin typeface="Arial"/>
              <a:cs typeface="Arial"/>
            </a:endParaRPr>
          </a:p>
          <a:p>
            <a:pPr marL="1183640" indent="-342900">
              <a:lnSpc>
                <a:spcPct val="100000"/>
              </a:lnSpc>
              <a:spcBef>
                <a:spcPts val="229"/>
              </a:spcBef>
              <a:buFont typeface="Arial" panose="020B0604020202020204" pitchFamily="34" charset="0"/>
              <a:buChar char="•"/>
            </a:pPr>
            <a:r>
              <a:rPr lang="en-US" sz="1900" i="1" dirty="0" smtClean="0">
                <a:latin typeface="Arial"/>
                <a:cs typeface="Arial"/>
              </a:rPr>
              <a:t>Serving</a:t>
            </a:r>
            <a:r>
              <a:rPr lang="en-US" sz="1900" dirty="0" smtClean="0">
                <a:latin typeface="Arial"/>
                <a:cs typeface="Arial"/>
              </a:rPr>
              <a:t> as an integral part of the company’s policies and procedures documentation</a:t>
            </a:r>
            <a:endParaRPr sz="1900" dirty="0">
              <a:latin typeface="Arial"/>
              <a:cs typeface="Arial"/>
            </a:endParaRPr>
          </a:p>
        </p:txBody>
      </p:sp>
    </p:spTree>
    <p:extLst>
      <p:ext uri="{BB962C8B-B14F-4D97-AF65-F5344CB8AC3E}">
        <p14:creationId xmlns:p14="http://schemas.microsoft.com/office/powerpoint/2010/main" val="818119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object 15"/>
          <p:cNvSpPr txBox="1">
            <a:spLocks noGrp="1"/>
          </p:cNvSpPr>
          <p:nvPr>
            <p:ph type="title"/>
          </p:nvPr>
        </p:nvSpPr>
        <p:spPr>
          <a:prstGeom prst="rect">
            <a:avLst/>
          </a:prstGeom>
        </p:spPr>
        <p:txBody>
          <a:bodyPr vert="horz" wrap="square" lIns="0" tIns="15875" rIns="0" bIns="0" rtlCol="0">
            <a:spAutoFit/>
          </a:bodyPr>
          <a:lstStyle/>
          <a:p>
            <a:pPr marL="1680845">
              <a:lnSpc>
                <a:spcPct val="100000"/>
              </a:lnSpc>
              <a:spcBef>
                <a:spcPts val="125"/>
              </a:spcBef>
            </a:pPr>
            <a:r>
              <a:rPr sz="4500" dirty="0"/>
              <a:t>Process</a:t>
            </a:r>
            <a:r>
              <a:rPr sz="4500" spc="145" dirty="0"/>
              <a:t> </a:t>
            </a:r>
            <a:r>
              <a:rPr sz="4500" dirty="0"/>
              <a:t>Map</a:t>
            </a:r>
            <a:r>
              <a:rPr sz="4500" spc="280" dirty="0"/>
              <a:t> </a:t>
            </a:r>
            <a:r>
              <a:rPr sz="4500" spc="-10" dirty="0" smtClean="0"/>
              <a:t>Sy</a:t>
            </a:r>
            <a:r>
              <a:rPr lang="en-US" sz="4500" spc="-10" dirty="0" smtClean="0"/>
              <a:t>m</a:t>
            </a:r>
            <a:r>
              <a:rPr sz="4500" spc="-10" dirty="0" smtClean="0"/>
              <a:t>bols</a:t>
            </a:r>
            <a:endParaRPr sz="4500" dirty="0"/>
          </a:p>
        </p:txBody>
      </p:sp>
      <p:sp>
        <p:nvSpPr>
          <p:cNvPr id="16" name="object 16"/>
          <p:cNvSpPr txBox="1"/>
          <p:nvPr/>
        </p:nvSpPr>
        <p:spPr>
          <a:xfrm>
            <a:off x="584802" y="1310379"/>
            <a:ext cx="8559198" cy="675826"/>
          </a:xfrm>
          <a:prstGeom prst="rect">
            <a:avLst/>
          </a:prstGeom>
        </p:spPr>
        <p:txBody>
          <a:bodyPr vert="horz" wrap="square" lIns="0" tIns="34290" rIns="0" bIns="0" rtlCol="0">
            <a:spAutoFit/>
          </a:bodyPr>
          <a:lstStyle/>
          <a:p>
            <a:pPr marL="393700" marR="5080" indent="-381635">
              <a:lnSpc>
                <a:spcPts val="2490"/>
              </a:lnSpc>
              <a:spcBef>
                <a:spcPts val="270"/>
              </a:spcBef>
              <a:buChar char="•"/>
              <a:tabLst>
                <a:tab pos="393700" algn="l"/>
                <a:tab pos="402590" algn="l"/>
              </a:tabLst>
            </a:pPr>
            <a:r>
              <a:rPr sz="2150" dirty="0">
                <a:solidFill>
                  <a:srgbClr val="080808"/>
                </a:solidFill>
                <a:latin typeface="Arial"/>
                <a:cs typeface="Arial"/>
              </a:rPr>
              <a:t>	</a:t>
            </a:r>
            <a:r>
              <a:rPr sz="2150" spc="80" dirty="0">
                <a:solidFill>
                  <a:srgbClr val="080808"/>
                </a:solidFill>
                <a:latin typeface="Arial"/>
                <a:cs typeface="Arial"/>
              </a:rPr>
              <a:t>Activities</a:t>
            </a:r>
            <a:r>
              <a:rPr sz="2150" spc="25" dirty="0">
                <a:solidFill>
                  <a:srgbClr val="080808"/>
                </a:solidFill>
                <a:latin typeface="Arial"/>
                <a:cs typeface="Arial"/>
              </a:rPr>
              <a:t> </a:t>
            </a:r>
            <a:r>
              <a:rPr sz="2150" spc="85" dirty="0">
                <a:solidFill>
                  <a:srgbClr val="080808"/>
                </a:solidFill>
                <a:latin typeface="Arial"/>
                <a:cs typeface="Arial"/>
              </a:rPr>
              <a:t>(or</a:t>
            </a:r>
            <a:r>
              <a:rPr sz="2150" spc="95" dirty="0">
                <a:solidFill>
                  <a:srgbClr val="080808"/>
                </a:solidFill>
                <a:latin typeface="Arial"/>
                <a:cs typeface="Arial"/>
              </a:rPr>
              <a:t> </a:t>
            </a:r>
            <a:r>
              <a:rPr sz="2100" b="1" spc="60" dirty="0">
                <a:solidFill>
                  <a:srgbClr val="1A87A1"/>
                </a:solidFill>
                <a:latin typeface="Arial"/>
                <a:cs typeface="Arial"/>
              </a:rPr>
              <a:t>event</a:t>
            </a:r>
            <a:r>
              <a:rPr sz="2100" b="1" spc="60" dirty="0">
                <a:solidFill>
                  <a:srgbClr val="34879C"/>
                </a:solidFill>
                <a:latin typeface="Arial"/>
                <a:cs typeface="Arial"/>
              </a:rPr>
              <a:t>s</a:t>
            </a:r>
            <a:r>
              <a:rPr sz="2100" b="1" spc="60" dirty="0">
                <a:solidFill>
                  <a:srgbClr val="181818"/>
                </a:solidFill>
                <a:latin typeface="Arial"/>
                <a:cs typeface="Arial"/>
              </a:rPr>
              <a:t>):</a:t>
            </a:r>
            <a:r>
              <a:rPr sz="2100" b="1" spc="-200" dirty="0">
                <a:solidFill>
                  <a:srgbClr val="181818"/>
                </a:solidFill>
                <a:latin typeface="Arial"/>
                <a:cs typeface="Arial"/>
              </a:rPr>
              <a:t> </a:t>
            </a:r>
            <a:r>
              <a:rPr sz="2150" spc="110" dirty="0">
                <a:solidFill>
                  <a:srgbClr val="080808"/>
                </a:solidFill>
                <a:latin typeface="Arial"/>
                <a:cs typeface="Arial"/>
              </a:rPr>
              <a:t>transform </a:t>
            </a:r>
            <a:r>
              <a:rPr sz="2150" spc="120" dirty="0">
                <a:solidFill>
                  <a:srgbClr val="080808"/>
                </a:solidFill>
                <a:latin typeface="Arial"/>
                <a:cs typeface="Arial"/>
              </a:rPr>
              <a:t>inputs</a:t>
            </a:r>
            <a:r>
              <a:rPr sz="2150" spc="-15" dirty="0">
                <a:solidFill>
                  <a:srgbClr val="080808"/>
                </a:solidFill>
                <a:latin typeface="Arial"/>
                <a:cs typeface="Arial"/>
              </a:rPr>
              <a:t> </a:t>
            </a:r>
            <a:r>
              <a:rPr sz="2150" spc="140" dirty="0">
                <a:solidFill>
                  <a:srgbClr val="080808"/>
                </a:solidFill>
                <a:latin typeface="Arial"/>
                <a:cs typeface="Arial"/>
              </a:rPr>
              <a:t>into</a:t>
            </a:r>
            <a:r>
              <a:rPr sz="2150" spc="5" dirty="0">
                <a:solidFill>
                  <a:srgbClr val="080808"/>
                </a:solidFill>
                <a:latin typeface="Arial"/>
                <a:cs typeface="Arial"/>
              </a:rPr>
              <a:t> </a:t>
            </a:r>
            <a:r>
              <a:rPr sz="2150" spc="130" dirty="0" smtClean="0">
                <a:solidFill>
                  <a:srgbClr val="181818"/>
                </a:solidFill>
                <a:latin typeface="Arial"/>
                <a:cs typeface="Arial"/>
              </a:rPr>
              <a:t>outputs</a:t>
            </a:r>
            <a:r>
              <a:rPr lang="en-US" sz="2150" spc="130" dirty="0" smtClean="0">
                <a:solidFill>
                  <a:srgbClr val="181818"/>
                </a:solidFill>
                <a:latin typeface="Arial"/>
                <a:cs typeface="Arial"/>
              </a:rPr>
              <a:t>, depicted in process maps with rectangles.</a:t>
            </a:r>
            <a:endParaRPr sz="2150" dirty="0">
              <a:latin typeface="Arial"/>
              <a:cs typeface="Arial"/>
            </a:endParaRPr>
          </a:p>
        </p:txBody>
      </p:sp>
      <p:sp>
        <p:nvSpPr>
          <p:cNvPr id="17" name="object 17"/>
          <p:cNvSpPr txBox="1">
            <a:spLocks noGrp="1"/>
          </p:cNvSpPr>
          <p:nvPr>
            <p:ph type="body" idx="1"/>
          </p:nvPr>
        </p:nvSpPr>
        <p:spPr>
          <a:xfrm>
            <a:off x="584802" y="2012412"/>
            <a:ext cx="4853940" cy="5479898"/>
          </a:xfrm>
          <a:prstGeom prst="rect">
            <a:avLst/>
          </a:prstGeom>
        </p:spPr>
        <p:txBody>
          <a:bodyPr vert="horz" wrap="square" lIns="0" tIns="29845" rIns="0" bIns="0" rtlCol="0">
            <a:spAutoFit/>
          </a:bodyPr>
          <a:lstStyle/>
          <a:p>
            <a:pPr marL="400685" marR="137160" indent="-388620">
              <a:lnSpc>
                <a:spcPct val="95100"/>
              </a:lnSpc>
              <a:spcBef>
                <a:spcPts val="235"/>
              </a:spcBef>
              <a:buChar char="•"/>
              <a:tabLst>
                <a:tab pos="402590" algn="l"/>
              </a:tabLst>
            </a:pPr>
            <a:r>
              <a:rPr dirty="0"/>
              <a:t>Decision</a:t>
            </a:r>
            <a:r>
              <a:rPr spc="335" dirty="0"/>
              <a:t> </a:t>
            </a:r>
            <a:r>
              <a:rPr spc="100" dirty="0"/>
              <a:t>points:</a:t>
            </a:r>
            <a:r>
              <a:rPr spc="70" dirty="0"/>
              <a:t> </a:t>
            </a:r>
            <a:r>
              <a:rPr spc="90" dirty="0">
                <a:solidFill>
                  <a:srgbClr val="181818"/>
                </a:solidFill>
              </a:rPr>
              <a:t>yes/no 	</a:t>
            </a:r>
            <a:r>
              <a:rPr spc="95" dirty="0"/>
              <a:t>(positive/negative)</a:t>
            </a:r>
            <a:r>
              <a:rPr spc="-55" dirty="0"/>
              <a:t> </a:t>
            </a:r>
            <a:r>
              <a:rPr spc="110" dirty="0">
                <a:solidFill>
                  <a:srgbClr val="181818"/>
                </a:solidFill>
              </a:rPr>
              <a:t>outcome</a:t>
            </a:r>
            <a:r>
              <a:rPr spc="80" dirty="0">
                <a:solidFill>
                  <a:srgbClr val="181818"/>
                </a:solidFill>
              </a:rPr>
              <a:t> </a:t>
            </a:r>
            <a:r>
              <a:rPr spc="114" dirty="0"/>
              <a:t>that 	</a:t>
            </a:r>
            <a:r>
              <a:rPr spc="75" dirty="0"/>
              <a:t>depicts</a:t>
            </a:r>
            <a:r>
              <a:rPr spc="-10" dirty="0"/>
              <a:t> </a:t>
            </a:r>
            <a:r>
              <a:rPr spc="75" dirty="0"/>
              <a:t>the</a:t>
            </a:r>
            <a:r>
              <a:rPr spc="250" dirty="0"/>
              <a:t> </a:t>
            </a:r>
            <a:r>
              <a:rPr spc="80" dirty="0" smtClean="0">
                <a:solidFill>
                  <a:srgbClr val="181818"/>
                </a:solidFill>
              </a:rPr>
              <a:t>alternatives</a:t>
            </a:r>
            <a:r>
              <a:rPr lang="en-US" spc="80" dirty="0" smtClean="0">
                <a:solidFill>
                  <a:srgbClr val="181818"/>
                </a:solidFill>
              </a:rPr>
              <a:t>. [</a:t>
            </a:r>
            <a:r>
              <a:rPr lang="en-US" dirty="0" smtClean="0"/>
              <a:t>diamonds].</a:t>
            </a:r>
            <a:endParaRPr spc="80" dirty="0">
              <a:solidFill>
                <a:srgbClr val="181818"/>
              </a:solidFill>
            </a:endParaRPr>
          </a:p>
          <a:p>
            <a:pPr marL="393700" marR="5080" indent="-381635">
              <a:lnSpc>
                <a:spcPct val="96600"/>
              </a:lnSpc>
              <a:spcBef>
                <a:spcPts val="470"/>
              </a:spcBef>
              <a:buChar char="•"/>
              <a:tabLst>
                <a:tab pos="393700" algn="l"/>
                <a:tab pos="400685" algn="l"/>
              </a:tabLst>
            </a:pPr>
            <a:r>
              <a:rPr dirty="0"/>
              <a:t>	Process </a:t>
            </a:r>
            <a:r>
              <a:rPr spc="175" dirty="0"/>
              <a:t>flow</a:t>
            </a:r>
            <a:r>
              <a:rPr spc="15" dirty="0"/>
              <a:t> </a:t>
            </a:r>
            <a:r>
              <a:rPr spc="50" dirty="0"/>
              <a:t>lines:</a:t>
            </a:r>
            <a:r>
              <a:rPr spc="-15" dirty="0"/>
              <a:t> </a:t>
            </a:r>
            <a:r>
              <a:rPr lang="en-US" spc="-15" dirty="0" smtClean="0"/>
              <a:t>[</a:t>
            </a:r>
            <a:r>
              <a:rPr lang="en-US" dirty="0"/>
              <a:t>Directional arrows </a:t>
            </a:r>
            <a:r>
              <a:rPr lang="en-US" dirty="0" smtClean="0"/>
              <a:t>] </a:t>
            </a:r>
            <a:r>
              <a:rPr spc="60" dirty="0" smtClean="0">
                <a:solidFill>
                  <a:srgbClr val="181818"/>
                </a:solidFill>
              </a:rPr>
              <a:t>connect </a:t>
            </a:r>
            <a:r>
              <a:rPr spc="65" dirty="0">
                <a:solidFill>
                  <a:srgbClr val="181818"/>
                </a:solidFill>
              </a:rPr>
              <a:t>symbols</a:t>
            </a:r>
            <a:r>
              <a:rPr spc="25" dirty="0">
                <a:solidFill>
                  <a:srgbClr val="181818"/>
                </a:solidFill>
              </a:rPr>
              <a:t> </a:t>
            </a:r>
            <a:r>
              <a:rPr spc="100" dirty="0">
                <a:solidFill>
                  <a:srgbClr val="181818"/>
                </a:solidFill>
              </a:rPr>
              <a:t>and</a:t>
            </a:r>
            <a:r>
              <a:rPr spc="-5" dirty="0">
                <a:solidFill>
                  <a:srgbClr val="181818"/>
                </a:solidFill>
              </a:rPr>
              <a:t> </a:t>
            </a:r>
            <a:r>
              <a:rPr spc="55" dirty="0">
                <a:solidFill>
                  <a:srgbClr val="181818"/>
                </a:solidFill>
              </a:rPr>
              <a:t>are</a:t>
            </a:r>
            <a:r>
              <a:rPr spc="10" dirty="0">
                <a:solidFill>
                  <a:srgbClr val="181818"/>
                </a:solidFill>
              </a:rPr>
              <a:t> </a:t>
            </a:r>
            <a:r>
              <a:rPr spc="85" dirty="0"/>
              <a:t>labeled</a:t>
            </a:r>
            <a:r>
              <a:rPr spc="-35" dirty="0"/>
              <a:t> </a:t>
            </a:r>
            <a:r>
              <a:rPr spc="185" dirty="0">
                <a:solidFill>
                  <a:srgbClr val="181818"/>
                </a:solidFill>
              </a:rPr>
              <a:t>with</a:t>
            </a:r>
            <a:r>
              <a:rPr spc="-15" dirty="0">
                <a:solidFill>
                  <a:srgbClr val="181818"/>
                </a:solidFill>
              </a:rPr>
              <a:t> </a:t>
            </a:r>
            <a:r>
              <a:rPr spc="170" dirty="0"/>
              <a:t>the </a:t>
            </a:r>
            <a:r>
              <a:rPr spc="135" dirty="0"/>
              <a:t>type</a:t>
            </a:r>
            <a:r>
              <a:rPr spc="10" dirty="0"/>
              <a:t> </a:t>
            </a:r>
            <a:r>
              <a:rPr spc="120" dirty="0">
                <a:solidFill>
                  <a:srgbClr val="181818"/>
                </a:solidFill>
              </a:rPr>
              <a:t>of</a:t>
            </a:r>
            <a:r>
              <a:rPr spc="15" dirty="0">
                <a:solidFill>
                  <a:srgbClr val="181818"/>
                </a:solidFill>
              </a:rPr>
              <a:t> </a:t>
            </a:r>
            <a:r>
              <a:rPr spc="120" dirty="0"/>
              <a:t>information</a:t>
            </a:r>
            <a:r>
              <a:rPr spc="150" dirty="0"/>
              <a:t> </a:t>
            </a:r>
            <a:r>
              <a:rPr spc="125" dirty="0"/>
              <a:t>flowing</a:t>
            </a:r>
            <a:r>
              <a:rPr spc="-130" dirty="0"/>
              <a:t> </a:t>
            </a:r>
            <a:r>
              <a:rPr spc="170" dirty="0"/>
              <a:t>into</a:t>
            </a:r>
            <a:r>
              <a:rPr spc="-25" dirty="0"/>
              <a:t> </a:t>
            </a:r>
            <a:r>
              <a:rPr lang="en-US" spc="190" dirty="0">
                <a:solidFill>
                  <a:srgbClr val="181818"/>
                </a:solidFill>
              </a:rPr>
              <a:t>/</a:t>
            </a:r>
            <a:r>
              <a:rPr spc="190" dirty="0" smtClean="0">
                <a:solidFill>
                  <a:srgbClr val="181818"/>
                </a:solidFill>
              </a:rPr>
              <a:t> </a:t>
            </a:r>
            <a:r>
              <a:rPr spc="195" dirty="0"/>
              <a:t>out</a:t>
            </a:r>
            <a:r>
              <a:rPr spc="-70" dirty="0"/>
              <a:t> </a:t>
            </a:r>
            <a:r>
              <a:rPr spc="175" dirty="0">
                <a:solidFill>
                  <a:srgbClr val="181818"/>
                </a:solidFill>
              </a:rPr>
              <a:t>of</a:t>
            </a:r>
            <a:r>
              <a:rPr spc="-75" dirty="0">
                <a:solidFill>
                  <a:srgbClr val="181818"/>
                </a:solidFill>
              </a:rPr>
              <a:t> </a:t>
            </a:r>
            <a:r>
              <a:rPr spc="195" dirty="0"/>
              <a:t>the</a:t>
            </a:r>
            <a:r>
              <a:rPr spc="-120" dirty="0"/>
              <a:t> </a:t>
            </a:r>
            <a:r>
              <a:rPr spc="70" dirty="0">
                <a:solidFill>
                  <a:srgbClr val="181818"/>
                </a:solidFill>
              </a:rPr>
              <a:t>activities</a:t>
            </a:r>
          </a:p>
          <a:p>
            <a:pPr marL="400685" indent="-387985">
              <a:lnSpc>
                <a:spcPct val="100000"/>
              </a:lnSpc>
              <a:spcBef>
                <a:spcPts val="455"/>
              </a:spcBef>
              <a:buChar char="•"/>
              <a:tabLst>
                <a:tab pos="400685" algn="l"/>
              </a:tabLst>
            </a:pPr>
            <a:r>
              <a:rPr spc="50" dirty="0"/>
              <a:t>Data</a:t>
            </a:r>
            <a:r>
              <a:rPr spc="-75" dirty="0"/>
              <a:t> </a:t>
            </a:r>
            <a:r>
              <a:rPr spc="60" dirty="0">
                <a:solidFill>
                  <a:srgbClr val="181818"/>
                </a:solidFill>
              </a:rPr>
              <a:t>stores:</a:t>
            </a:r>
            <a:r>
              <a:rPr spc="35" dirty="0">
                <a:solidFill>
                  <a:srgbClr val="181818"/>
                </a:solidFill>
              </a:rPr>
              <a:t> </a:t>
            </a:r>
            <a:r>
              <a:rPr spc="114" dirty="0">
                <a:solidFill>
                  <a:srgbClr val="181818"/>
                </a:solidFill>
              </a:rPr>
              <a:t>support</a:t>
            </a:r>
            <a:r>
              <a:rPr spc="20" dirty="0">
                <a:solidFill>
                  <a:srgbClr val="181818"/>
                </a:solidFill>
              </a:rPr>
              <a:t> </a:t>
            </a:r>
            <a:r>
              <a:rPr spc="114" dirty="0"/>
              <a:t>the</a:t>
            </a:r>
            <a:r>
              <a:rPr spc="145" dirty="0"/>
              <a:t> </a:t>
            </a:r>
            <a:r>
              <a:rPr spc="-10" dirty="0"/>
              <a:t>process</a:t>
            </a:r>
          </a:p>
          <a:p>
            <a:pPr marL="386080" marR="204470" indent="-374015">
              <a:lnSpc>
                <a:spcPts val="2490"/>
              </a:lnSpc>
              <a:spcBef>
                <a:spcPts val="615"/>
              </a:spcBef>
              <a:buChar char="•"/>
              <a:tabLst>
                <a:tab pos="403860" algn="l"/>
              </a:tabLst>
            </a:pPr>
            <a:r>
              <a:rPr spc="85" dirty="0"/>
              <a:t>Termination:</a:t>
            </a:r>
            <a:r>
              <a:rPr spc="170" dirty="0"/>
              <a:t> </a:t>
            </a:r>
            <a:r>
              <a:rPr spc="114" dirty="0"/>
              <a:t>points</a:t>
            </a:r>
            <a:r>
              <a:rPr spc="-70" dirty="0"/>
              <a:t> </a:t>
            </a:r>
            <a:r>
              <a:rPr spc="105" dirty="0">
                <a:solidFill>
                  <a:srgbClr val="181818"/>
                </a:solidFill>
              </a:rPr>
              <a:t>at</a:t>
            </a:r>
            <a:r>
              <a:rPr spc="25" dirty="0">
                <a:solidFill>
                  <a:srgbClr val="181818"/>
                </a:solidFill>
              </a:rPr>
              <a:t> </a:t>
            </a:r>
            <a:r>
              <a:rPr spc="114" dirty="0">
                <a:solidFill>
                  <a:srgbClr val="181818"/>
                </a:solidFill>
              </a:rPr>
              <a:t>which</a:t>
            </a:r>
            <a:r>
              <a:rPr spc="15" dirty="0">
                <a:solidFill>
                  <a:srgbClr val="181818"/>
                </a:solidFill>
              </a:rPr>
              <a:t> </a:t>
            </a:r>
            <a:r>
              <a:rPr spc="80" dirty="0"/>
              <a:t>the 	</a:t>
            </a:r>
            <a:r>
              <a:rPr dirty="0"/>
              <a:t>process</a:t>
            </a:r>
            <a:r>
              <a:rPr spc="300" dirty="0"/>
              <a:t> </a:t>
            </a:r>
            <a:r>
              <a:rPr spc="35" dirty="0">
                <a:solidFill>
                  <a:srgbClr val="181818"/>
                </a:solidFill>
              </a:rPr>
              <a:t>ends</a:t>
            </a:r>
          </a:p>
          <a:p>
            <a:pPr marL="398780" marR="28575" indent="-386715">
              <a:lnSpc>
                <a:spcPts val="2490"/>
              </a:lnSpc>
              <a:spcBef>
                <a:spcPts val="470"/>
              </a:spcBef>
              <a:buChar char="•"/>
              <a:tabLst>
                <a:tab pos="402590" algn="l"/>
              </a:tabLst>
            </a:pPr>
            <a:r>
              <a:rPr dirty="0"/>
              <a:t>On-page</a:t>
            </a:r>
            <a:r>
              <a:rPr spc="200" dirty="0"/>
              <a:t> </a:t>
            </a:r>
            <a:r>
              <a:rPr spc="85" dirty="0">
                <a:solidFill>
                  <a:srgbClr val="181818"/>
                </a:solidFill>
              </a:rPr>
              <a:t>connector</a:t>
            </a:r>
            <a:r>
              <a:rPr spc="85" dirty="0" smtClean="0">
                <a:solidFill>
                  <a:srgbClr val="181818"/>
                </a:solidFill>
              </a:rPr>
              <a:t>:</a:t>
            </a:r>
            <a:r>
              <a:rPr lang="en-US" spc="85" dirty="0" smtClean="0">
                <a:solidFill>
                  <a:srgbClr val="181818"/>
                </a:solidFill>
              </a:rPr>
              <a:t>[</a:t>
            </a:r>
            <a:r>
              <a:rPr lang="en-US" dirty="0" smtClean="0"/>
              <a:t>circles]</a:t>
            </a:r>
            <a:r>
              <a:rPr spc="315" dirty="0" smtClean="0">
                <a:solidFill>
                  <a:srgbClr val="181818"/>
                </a:solidFill>
              </a:rPr>
              <a:t> </a:t>
            </a:r>
            <a:r>
              <a:rPr spc="70"/>
              <a:t>reduce</a:t>
            </a:r>
            <a:r>
              <a:rPr spc="105"/>
              <a:t> </a:t>
            </a:r>
            <a:r>
              <a:rPr spc="110" smtClean="0">
                <a:solidFill>
                  <a:srgbClr val="181818"/>
                </a:solidFill>
              </a:rPr>
              <a:t>clutte</a:t>
            </a:r>
            <a:r>
              <a:rPr lang="en-US" spc="110" smtClean="0">
                <a:solidFill>
                  <a:srgbClr val="181818"/>
                </a:solidFill>
              </a:rPr>
              <a:t>r</a:t>
            </a:r>
            <a:r>
              <a:rPr spc="110" smtClean="0">
                <a:solidFill>
                  <a:srgbClr val="181818"/>
                </a:solidFill>
              </a:rPr>
              <a:t> </a:t>
            </a:r>
            <a:r>
              <a:rPr spc="110" dirty="0">
                <a:solidFill>
                  <a:srgbClr val="181818"/>
                </a:solidFill>
              </a:rPr>
              <a:t>	</a:t>
            </a:r>
            <a:r>
              <a:rPr spc="175" dirty="0">
                <a:solidFill>
                  <a:srgbClr val="181818"/>
                </a:solidFill>
              </a:rPr>
              <a:t>on</a:t>
            </a:r>
            <a:r>
              <a:rPr spc="-120" dirty="0">
                <a:solidFill>
                  <a:srgbClr val="181818"/>
                </a:solidFill>
              </a:rPr>
              <a:t> </a:t>
            </a:r>
            <a:r>
              <a:rPr dirty="0">
                <a:solidFill>
                  <a:srgbClr val="181818"/>
                </a:solidFill>
              </a:rPr>
              <a:t>a</a:t>
            </a:r>
            <a:r>
              <a:rPr spc="25" dirty="0">
                <a:solidFill>
                  <a:srgbClr val="181818"/>
                </a:solidFill>
              </a:rPr>
              <a:t> </a:t>
            </a:r>
            <a:r>
              <a:rPr spc="-20" dirty="0"/>
              <a:t>page</a:t>
            </a:r>
          </a:p>
          <a:p>
            <a:pPr marL="398780" marR="469265" indent="-386715">
              <a:lnSpc>
                <a:spcPts val="2490"/>
              </a:lnSpc>
              <a:spcBef>
                <a:spcPts val="545"/>
              </a:spcBef>
              <a:buChar char="•"/>
              <a:tabLst>
                <a:tab pos="403860" algn="l"/>
              </a:tabLst>
            </a:pPr>
            <a:r>
              <a:rPr dirty="0"/>
              <a:t>Off-</a:t>
            </a:r>
            <a:r>
              <a:rPr spc="65" dirty="0"/>
              <a:t>page</a:t>
            </a:r>
            <a:r>
              <a:rPr spc="175" dirty="0"/>
              <a:t> </a:t>
            </a:r>
            <a:r>
              <a:rPr spc="95" dirty="0">
                <a:solidFill>
                  <a:srgbClr val="181818"/>
                </a:solidFill>
              </a:rPr>
              <a:t>connector:</a:t>
            </a:r>
            <a:r>
              <a:rPr spc="180" dirty="0">
                <a:solidFill>
                  <a:srgbClr val="181818"/>
                </a:solidFill>
              </a:rPr>
              <a:t> </a:t>
            </a:r>
            <a:r>
              <a:rPr spc="114" dirty="0"/>
              <a:t>when 	</a:t>
            </a:r>
            <a:r>
              <a:rPr dirty="0"/>
              <a:t>processes</a:t>
            </a:r>
            <a:r>
              <a:rPr spc="200" dirty="0"/>
              <a:t> </a:t>
            </a:r>
            <a:r>
              <a:rPr dirty="0">
                <a:solidFill>
                  <a:srgbClr val="181818"/>
                </a:solidFill>
              </a:rPr>
              <a:t>span</a:t>
            </a:r>
            <a:r>
              <a:rPr spc="175" dirty="0">
                <a:solidFill>
                  <a:srgbClr val="181818"/>
                </a:solidFill>
              </a:rPr>
              <a:t> </a:t>
            </a:r>
            <a:r>
              <a:rPr spc="130" dirty="0"/>
              <a:t>multiple</a:t>
            </a:r>
            <a:r>
              <a:rPr spc="114" dirty="0"/>
              <a:t> </a:t>
            </a:r>
            <a:r>
              <a:rPr spc="-20" dirty="0"/>
              <a:t>pages</a:t>
            </a:r>
          </a:p>
        </p:txBody>
      </p:sp>
      <p:sp>
        <p:nvSpPr>
          <p:cNvPr id="18" name="object 18"/>
          <p:cNvSpPr txBox="1"/>
          <p:nvPr/>
        </p:nvSpPr>
        <p:spPr>
          <a:xfrm>
            <a:off x="7428566" y="3117989"/>
            <a:ext cx="80645" cy="286385"/>
          </a:xfrm>
          <a:prstGeom prst="rect">
            <a:avLst/>
          </a:prstGeom>
        </p:spPr>
        <p:txBody>
          <a:bodyPr vert="horz" wrap="square" lIns="0" tIns="13970" rIns="0" bIns="0" rtlCol="0">
            <a:spAutoFit/>
          </a:bodyPr>
          <a:lstStyle/>
          <a:p>
            <a:pPr marL="12700">
              <a:lnSpc>
                <a:spcPct val="100000"/>
              </a:lnSpc>
              <a:spcBef>
                <a:spcPts val="110"/>
              </a:spcBef>
            </a:pPr>
            <a:r>
              <a:rPr sz="1700" spc="-50" dirty="0">
                <a:solidFill>
                  <a:srgbClr val="080808"/>
                </a:solidFill>
                <a:latin typeface="Times New Roman"/>
                <a:cs typeface="Times New Roman"/>
              </a:rPr>
              <a:t>,</a:t>
            </a:r>
            <a:endParaRPr sz="1700">
              <a:latin typeface="Times New Roman"/>
              <a:cs typeface="Times New Roman"/>
            </a:endParaRPr>
          </a:p>
        </p:txBody>
      </p:sp>
      <p:sp>
        <p:nvSpPr>
          <p:cNvPr id="20" name="object 20"/>
          <p:cNvSpPr txBox="1"/>
          <p:nvPr/>
        </p:nvSpPr>
        <p:spPr>
          <a:xfrm>
            <a:off x="7427769" y="3721761"/>
            <a:ext cx="107314" cy="309245"/>
          </a:xfrm>
          <a:prstGeom prst="rect">
            <a:avLst/>
          </a:prstGeom>
        </p:spPr>
        <p:txBody>
          <a:bodyPr vert="horz" wrap="square" lIns="0" tIns="13970" rIns="0" bIns="0" rtlCol="0">
            <a:spAutoFit/>
          </a:bodyPr>
          <a:lstStyle/>
          <a:p>
            <a:pPr marL="12700">
              <a:lnSpc>
                <a:spcPct val="100000"/>
              </a:lnSpc>
              <a:spcBef>
                <a:spcPts val="110"/>
              </a:spcBef>
            </a:pPr>
            <a:r>
              <a:rPr sz="1850" spc="-50" dirty="0">
                <a:solidFill>
                  <a:srgbClr val="080808"/>
                </a:solidFill>
                <a:latin typeface="Arial"/>
                <a:cs typeface="Arial"/>
              </a:rPr>
              <a:t>•</a:t>
            </a:r>
            <a:endParaRPr sz="1850">
              <a:latin typeface="Arial"/>
              <a:cs typeface="Arial"/>
            </a:endParaRPr>
          </a:p>
        </p:txBody>
      </p:sp>
      <p:pic>
        <p:nvPicPr>
          <p:cNvPr id="22" name="Picture 21"/>
          <p:cNvPicPr>
            <a:picLocks noChangeAspect="1"/>
          </p:cNvPicPr>
          <p:nvPr/>
        </p:nvPicPr>
        <p:blipFill>
          <a:blip r:embed="rId2"/>
          <a:stretch>
            <a:fillRect/>
          </a:stretch>
        </p:blipFill>
        <p:spPr>
          <a:xfrm>
            <a:off x="5715000" y="2123176"/>
            <a:ext cx="4057650" cy="44767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1364" rIns="0" bIns="0" rtlCol="0">
            <a:spAutoFit/>
          </a:bodyPr>
          <a:lstStyle/>
          <a:p>
            <a:pPr marL="26670">
              <a:lnSpc>
                <a:spcPct val="100000"/>
              </a:lnSpc>
              <a:spcBef>
                <a:spcPts val="120"/>
              </a:spcBef>
            </a:pPr>
            <a:r>
              <a:rPr sz="3800" dirty="0">
                <a:solidFill>
                  <a:srgbClr val="0A0A0A"/>
                </a:solidFill>
              </a:rPr>
              <a:t>Gathering</a:t>
            </a:r>
            <a:r>
              <a:rPr sz="3800" spc="320" dirty="0">
                <a:solidFill>
                  <a:srgbClr val="0A0A0A"/>
                </a:solidFill>
              </a:rPr>
              <a:t> </a:t>
            </a:r>
            <a:r>
              <a:rPr sz="3800" dirty="0">
                <a:solidFill>
                  <a:srgbClr val="0A0A0A"/>
                </a:solidFill>
              </a:rPr>
              <a:t>Information</a:t>
            </a:r>
            <a:r>
              <a:rPr sz="3800" spc="195" dirty="0">
                <a:solidFill>
                  <a:srgbClr val="0A0A0A"/>
                </a:solidFill>
              </a:rPr>
              <a:t> </a:t>
            </a:r>
            <a:r>
              <a:rPr sz="3800" dirty="0">
                <a:solidFill>
                  <a:srgbClr val="0A0A0A"/>
                </a:solidFill>
              </a:rPr>
              <a:t>for</a:t>
            </a:r>
            <a:r>
              <a:rPr sz="3800" spc="-75" dirty="0">
                <a:solidFill>
                  <a:srgbClr val="0A0A0A"/>
                </a:solidFill>
              </a:rPr>
              <a:t> </a:t>
            </a:r>
            <a:r>
              <a:rPr sz="3800" spc="170" dirty="0">
                <a:solidFill>
                  <a:srgbClr val="0A0A0A"/>
                </a:solidFill>
              </a:rPr>
              <a:t>a</a:t>
            </a:r>
            <a:r>
              <a:rPr sz="3800" spc="-100" dirty="0">
                <a:solidFill>
                  <a:srgbClr val="0A0A0A"/>
                </a:solidFill>
              </a:rPr>
              <a:t> </a:t>
            </a:r>
            <a:r>
              <a:rPr sz="3800" spc="65" dirty="0">
                <a:solidFill>
                  <a:srgbClr val="0A0A0A"/>
                </a:solidFill>
              </a:rPr>
              <a:t>Process</a:t>
            </a:r>
            <a:r>
              <a:rPr sz="3800" spc="180" dirty="0">
                <a:solidFill>
                  <a:srgbClr val="0A0A0A"/>
                </a:solidFill>
              </a:rPr>
              <a:t> </a:t>
            </a:r>
            <a:r>
              <a:rPr sz="3800" spc="-25" dirty="0">
                <a:solidFill>
                  <a:srgbClr val="0A0A0A"/>
                </a:solidFill>
              </a:rPr>
              <a:t>Map</a:t>
            </a:r>
            <a:endParaRPr sz="3800"/>
          </a:p>
        </p:txBody>
      </p:sp>
      <p:sp>
        <p:nvSpPr>
          <p:cNvPr id="3" name="object 3"/>
          <p:cNvSpPr txBox="1"/>
          <p:nvPr/>
        </p:nvSpPr>
        <p:spPr>
          <a:xfrm>
            <a:off x="584126" y="1475628"/>
            <a:ext cx="8396605" cy="6609373"/>
          </a:xfrm>
          <a:prstGeom prst="rect">
            <a:avLst/>
          </a:prstGeom>
        </p:spPr>
        <p:txBody>
          <a:bodyPr vert="horz" wrap="square" lIns="0" tIns="12065" rIns="0" bIns="0" rtlCol="0">
            <a:spAutoFit/>
          </a:bodyPr>
          <a:lstStyle/>
          <a:p>
            <a:pPr marL="398780" marR="829944" indent="-386715">
              <a:lnSpc>
                <a:spcPct val="107200"/>
              </a:lnSpc>
              <a:spcBef>
                <a:spcPts val="95"/>
              </a:spcBef>
              <a:buFont typeface="Arial"/>
              <a:buChar char="•"/>
              <a:tabLst>
                <a:tab pos="403225" algn="l"/>
                <a:tab pos="4172585" algn="l"/>
              </a:tabLst>
            </a:pPr>
            <a:r>
              <a:rPr sz="2250" b="1" dirty="0">
                <a:solidFill>
                  <a:srgbClr val="1D87A3"/>
                </a:solidFill>
                <a:latin typeface="Arial"/>
                <a:cs typeface="Arial"/>
              </a:rPr>
              <a:t>Group</a:t>
            </a:r>
            <a:r>
              <a:rPr sz="2250" b="1" spc="-35" dirty="0">
                <a:solidFill>
                  <a:srgbClr val="1D87A3"/>
                </a:solidFill>
                <a:latin typeface="Arial"/>
                <a:cs typeface="Arial"/>
              </a:rPr>
              <a:t> </a:t>
            </a:r>
            <a:r>
              <a:rPr sz="2250" b="1" spc="60" dirty="0">
                <a:solidFill>
                  <a:srgbClr val="1D87A3"/>
                </a:solidFill>
                <a:latin typeface="Arial"/>
                <a:cs typeface="Arial"/>
              </a:rPr>
              <a:t>interview</a:t>
            </a:r>
            <a:r>
              <a:rPr sz="2250" b="1" spc="95" dirty="0">
                <a:solidFill>
                  <a:srgbClr val="1D87A3"/>
                </a:solidFill>
                <a:latin typeface="Arial"/>
                <a:cs typeface="Arial"/>
              </a:rPr>
              <a:t> </a:t>
            </a:r>
            <a:r>
              <a:rPr sz="2250" b="1" spc="75" dirty="0">
                <a:solidFill>
                  <a:srgbClr val="1D87A3"/>
                </a:solidFill>
                <a:latin typeface="Arial"/>
                <a:cs typeface="Arial"/>
              </a:rPr>
              <a:t>method</a:t>
            </a:r>
            <a:r>
              <a:rPr sz="2250" b="1" spc="-80" dirty="0">
                <a:solidFill>
                  <a:srgbClr val="1D87A3"/>
                </a:solidFill>
                <a:latin typeface="Arial"/>
                <a:cs typeface="Arial"/>
              </a:rPr>
              <a:t> </a:t>
            </a:r>
            <a:r>
              <a:rPr sz="2250" spc="-50" dirty="0">
                <a:solidFill>
                  <a:srgbClr val="0A0A0A"/>
                </a:solidFill>
                <a:latin typeface="Arial"/>
                <a:cs typeface="Arial"/>
              </a:rPr>
              <a:t>-</a:t>
            </a:r>
            <a:r>
              <a:rPr sz="2250" dirty="0">
                <a:solidFill>
                  <a:srgbClr val="0A0A0A"/>
                </a:solidFill>
                <a:latin typeface="Arial"/>
                <a:cs typeface="Arial"/>
              </a:rPr>
              <a:t>	</a:t>
            </a:r>
            <a:r>
              <a:rPr sz="2300" spc="50" dirty="0">
                <a:solidFill>
                  <a:srgbClr val="181818"/>
                </a:solidFill>
                <a:latin typeface="Arial"/>
                <a:cs typeface="Arial"/>
              </a:rPr>
              <a:t>all</a:t>
            </a:r>
            <a:r>
              <a:rPr sz="2300" spc="120" dirty="0">
                <a:solidFill>
                  <a:srgbClr val="181818"/>
                </a:solidFill>
                <a:latin typeface="Arial"/>
                <a:cs typeface="Arial"/>
              </a:rPr>
              <a:t> </a:t>
            </a:r>
            <a:r>
              <a:rPr sz="2300" spc="50" dirty="0">
                <a:solidFill>
                  <a:srgbClr val="0A0A0A"/>
                </a:solidFill>
                <a:latin typeface="Arial"/>
                <a:cs typeface="Arial"/>
              </a:rPr>
              <a:t>people</a:t>
            </a:r>
            <a:r>
              <a:rPr sz="2300" spc="210" dirty="0">
                <a:solidFill>
                  <a:srgbClr val="0A0A0A"/>
                </a:solidFill>
                <a:latin typeface="Arial"/>
                <a:cs typeface="Arial"/>
              </a:rPr>
              <a:t> </a:t>
            </a:r>
            <a:r>
              <a:rPr sz="2300" dirty="0">
                <a:solidFill>
                  <a:srgbClr val="0A0A0A"/>
                </a:solidFill>
                <a:latin typeface="Arial"/>
                <a:cs typeface="Arial"/>
              </a:rPr>
              <a:t>involved</a:t>
            </a:r>
            <a:r>
              <a:rPr sz="2300" spc="240" dirty="0">
                <a:solidFill>
                  <a:srgbClr val="0A0A0A"/>
                </a:solidFill>
                <a:latin typeface="Arial"/>
                <a:cs typeface="Arial"/>
              </a:rPr>
              <a:t> </a:t>
            </a:r>
            <a:r>
              <a:rPr sz="2300" dirty="0">
                <a:solidFill>
                  <a:srgbClr val="0A0A0A"/>
                </a:solidFill>
                <a:latin typeface="Arial"/>
                <a:cs typeface="Arial"/>
              </a:rPr>
              <a:t>in</a:t>
            </a:r>
            <a:r>
              <a:rPr sz="2300" spc="110" dirty="0">
                <a:solidFill>
                  <a:srgbClr val="0A0A0A"/>
                </a:solidFill>
                <a:latin typeface="Arial"/>
                <a:cs typeface="Arial"/>
              </a:rPr>
              <a:t> </a:t>
            </a:r>
            <a:r>
              <a:rPr sz="2300" spc="-25" dirty="0">
                <a:solidFill>
                  <a:srgbClr val="0A0A0A"/>
                </a:solidFill>
                <a:latin typeface="Arial"/>
                <a:cs typeface="Arial"/>
              </a:rPr>
              <a:t>the 	</a:t>
            </a:r>
            <a:r>
              <a:rPr sz="2300" dirty="0">
                <a:solidFill>
                  <a:srgbClr val="0A0A0A"/>
                </a:solidFill>
                <a:latin typeface="Arial"/>
                <a:cs typeface="Arial"/>
              </a:rPr>
              <a:t>process</a:t>
            </a:r>
            <a:r>
              <a:rPr sz="2300" spc="55" dirty="0">
                <a:solidFill>
                  <a:srgbClr val="0A0A0A"/>
                </a:solidFill>
                <a:latin typeface="Arial"/>
                <a:cs typeface="Arial"/>
              </a:rPr>
              <a:t> </a:t>
            </a:r>
            <a:r>
              <a:rPr sz="2300" dirty="0">
                <a:solidFill>
                  <a:srgbClr val="0A0A0A"/>
                </a:solidFill>
                <a:latin typeface="Arial"/>
                <a:cs typeface="Arial"/>
              </a:rPr>
              <a:t>are</a:t>
            </a:r>
            <a:r>
              <a:rPr sz="2300" spc="-55" dirty="0">
                <a:solidFill>
                  <a:srgbClr val="0A0A0A"/>
                </a:solidFill>
                <a:latin typeface="Arial"/>
                <a:cs typeface="Arial"/>
              </a:rPr>
              <a:t> </a:t>
            </a:r>
            <a:r>
              <a:rPr sz="2300" spc="75" dirty="0">
                <a:solidFill>
                  <a:srgbClr val="0A0A0A"/>
                </a:solidFill>
                <a:latin typeface="Arial"/>
                <a:cs typeface="Arial"/>
              </a:rPr>
              <a:t>interviewed</a:t>
            </a:r>
            <a:r>
              <a:rPr sz="2300" spc="195" dirty="0">
                <a:solidFill>
                  <a:srgbClr val="0A0A0A"/>
                </a:solidFill>
                <a:latin typeface="Arial"/>
                <a:cs typeface="Arial"/>
              </a:rPr>
              <a:t> </a:t>
            </a:r>
            <a:r>
              <a:rPr sz="2300" dirty="0">
                <a:solidFill>
                  <a:srgbClr val="0A0A0A"/>
                </a:solidFill>
                <a:latin typeface="Arial"/>
                <a:cs typeface="Arial"/>
              </a:rPr>
              <a:t>as</a:t>
            </a:r>
            <a:r>
              <a:rPr sz="2300" spc="30" dirty="0">
                <a:solidFill>
                  <a:srgbClr val="0A0A0A"/>
                </a:solidFill>
                <a:latin typeface="Arial"/>
                <a:cs typeface="Arial"/>
              </a:rPr>
              <a:t> </a:t>
            </a:r>
            <a:r>
              <a:rPr sz="2300" spc="-45" dirty="0">
                <a:solidFill>
                  <a:srgbClr val="181818"/>
                </a:solidFill>
                <a:latin typeface="Arial"/>
                <a:cs typeface="Arial"/>
              </a:rPr>
              <a:t>a</a:t>
            </a:r>
            <a:r>
              <a:rPr sz="2300" spc="-165" dirty="0">
                <a:solidFill>
                  <a:srgbClr val="181818"/>
                </a:solidFill>
                <a:latin typeface="Arial"/>
                <a:cs typeface="Arial"/>
              </a:rPr>
              <a:t> </a:t>
            </a:r>
            <a:r>
              <a:rPr sz="2300" spc="75" dirty="0">
                <a:solidFill>
                  <a:srgbClr val="181818"/>
                </a:solidFill>
                <a:latin typeface="Arial"/>
                <a:cs typeface="Arial"/>
              </a:rPr>
              <a:t>group</a:t>
            </a:r>
            <a:endParaRPr sz="2300" dirty="0">
              <a:latin typeface="Arial"/>
              <a:cs typeface="Arial"/>
            </a:endParaRPr>
          </a:p>
          <a:p>
            <a:pPr marL="845185" marR="5080" lvl="1" indent="-332740">
              <a:lnSpc>
                <a:spcPct val="104099"/>
              </a:lnSpc>
              <a:spcBef>
                <a:spcPts val="475"/>
              </a:spcBef>
              <a:buChar char="-"/>
              <a:tabLst>
                <a:tab pos="847090" algn="l"/>
              </a:tabLst>
            </a:pPr>
            <a:r>
              <a:rPr sz="2150" dirty="0">
                <a:solidFill>
                  <a:srgbClr val="0A0A0A"/>
                </a:solidFill>
                <a:latin typeface="Arial"/>
                <a:cs typeface="Arial"/>
              </a:rPr>
              <a:t>Employs</a:t>
            </a:r>
            <a:r>
              <a:rPr sz="2150" spc="75" dirty="0">
                <a:solidFill>
                  <a:srgbClr val="0A0A0A"/>
                </a:solidFill>
                <a:latin typeface="Arial"/>
                <a:cs typeface="Arial"/>
              </a:rPr>
              <a:t> </a:t>
            </a:r>
            <a:r>
              <a:rPr sz="2150" dirty="0">
                <a:solidFill>
                  <a:srgbClr val="181818"/>
                </a:solidFill>
                <a:latin typeface="Arial"/>
                <a:cs typeface="Arial"/>
              </a:rPr>
              <a:t>a</a:t>
            </a:r>
            <a:r>
              <a:rPr sz="2150" spc="-35" dirty="0">
                <a:solidFill>
                  <a:srgbClr val="181818"/>
                </a:solidFill>
                <a:latin typeface="Arial"/>
                <a:cs typeface="Arial"/>
              </a:rPr>
              <a:t> </a:t>
            </a:r>
            <a:r>
              <a:rPr sz="2050" b="1" dirty="0">
                <a:solidFill>
                  <a:srgbClr val="1D87A3"/>
                </a:solidFill>
                <a:latin typeface="Arial"/>
                <a:cs typeface="Arial"/>
              </a:rPr>
              <a:t>skilled</a:t>
            </a:r>
            <a:r>
              <a:rPr sz="2050" b="1" spc="-20" dirty="0">
                <a:solidFill>
                  <a:srgbClr val="1D87A3"/>
                </a:solidFill>
                <a:latin typeface="Arial"/>
                <a:cs typeface="Arial"/>
              </a:rPr>
              <a:t> </a:t>
            </a:r>
            <a:r>
              <a:rPr sz="2050" b="1" dirty="0">
                <a:solidFill>
                  <a:srgbClr val="1D87A3"/>
                </a:solidFill>
                <a:latin typeface="Arial"/>
                <a:cs typeface="Arial"/>
              </a:rPr>
              <a:t>facilitator</a:t>
            </a:r>
            <a:r>
              <a:rPr sz="2050" b="1" spc="210" dirty="0">
                <a:solidFill>
                  <a:srgbClr val="1D87A3"/>
                </a:solidFill>
                <a:latin typeface="Arial"/>
                <a:cs typeface="Arial"/>
              </a:rPr>
              <a:t> </a:t>
            </a:r>
            <a:r>
              <a:rPr sz="2150" dirty="0">
                <a:solidFill>
                  <a:srgbClr val="0A0A0A"/>
                </a:solidFill>
                <a:latin typeface="Arial"/>
                <a:cs typeface="Arial"/>
              </a:rPr>
              <a:t>to</a:t>
            </a:r>
            <a:r>
              <a:rPr sz="2150" spc="315" dirty="0">
                <a:solidFill>
                  <a:srgbClr val="0A0A0A"/>
                </a:solidFill>
                <a:latin typeface="Arial"/>
                <a:cs typeface="Arial"/>
              </a:rPr>
              <a:t> </a:t>
            </a:r>
            <a:r>
              <a:rPr sz="2150" spc="60" dirty="0">
                <a:solidFill>
                  <a:srgbClr val="0A0A0A"/>
                </a:solidFill>
                <a:latin typeface="Arial"/>
                <a:cs typeface="Arial"/>
              </a:rPr>
              <a:t>promote</a:t>
            </a:r>
            <a:r>
              <a:rPr sz="2150" spc="170" dirty="0">
                <a:solidFill>
                  <a:srgbClr val="0A0A0A"/>
                </a:solidFill>
                <a:latin typeface="Arial"/>
                <a:cs typeface="Arial"/>
              </a:rPr>
              <a:t> </a:t>
            </a:r>
            <a:r>
              <a:rPr sz="2150" dirty="0">
                <a:solidFill>
                  <a:srgbClr val="181818"/>
                </a:solidFill>
                <a:latin typeface="Arial"/>
                <a:cs typeface="Arial"/>
              </a:rPr>
              <a:t>and</a:t>
            </a:r>
            <a:r>
              <a:rPr sz="2150" spc="-35" dirty="0">
                <a:solidFill>
                  <a:srgbClr val="181818"/>
                </a:solidFill>
                <a:latin typeface="Arial"/>
                <a:cs typeface="Arial"/>
              </a:rPr>
              <a:t> </a:t>
            </a:r>
            <a:r>
              <a:rPr sz="2150" dirty="0">
                <a:solidFill>
                  <a:srgbClr val="0A0A0A"/>
                </a:solidFill>
                <a:latin typeface="Arial"/>
                <a:cs typeface="Arial"/>
              </a:rPr>
              <a:t>focus</a:t>
            </a:r>
            <a:r>
              <a:rPr sz="2150" spc="-15" dirty="0">
                <a:solidFill>
                  <a:srgbClr val="0A0A0A"/>
                </a:solidFill>
                <a:latin typeface="Arial"/>
                <a:cs typeface="Arial"/>
              </a:rPr>
              <a:t> </a:t>
            </a:r>
            <a:r>
              <a:rPr sz="2150" spc="-25" dirty="0">
                <a:solidFill>
                  <a:srgbClr val="0A0A0A"/>
                </a:solidFill>
                <a:latin typeface="Arial"/>
                <a:cs typeface="Arial"/>
              </a:rPr>
              <a:t>the 	</a:t>
            </a:r>
            <a:r>
              <a:rPr sz="2150" spc="-10" dirty="0">
                <a:solidFill>
                  <a:srgbClr val="0A0A0A"/>
                </a:solidFill>
                <a:latin typeface="Arial"/>
                <a:cs typeface="Arial"/>
              </a:rPr>
              <a:t>discussions,</a:t>
            </a:r>
            <a:r>
              <a:rPr sz="2150" spc="220" dirty="0">
                <a:solidFill>
                  <a:srgbClr val="0A0A0A"/>
                </a:solidFill>
                <a:latin typeface="Arial"/>
                <a:cs typeface="Arial"/>
              </a:rPr>
              <a:t> </a:t>
            </a:r>
            <a:r>
              <a:rPr sz="2150" dirty="0">
                <a:solidFill>
                  <a:srgbClr val="0A0A0A"/>
                </a:solidFill>
                <a:latin typeface="Arial"/>
                <a:cs typeface="Arial"/>
              </a:rPr>
              <a:t>questioning</a:t>
            </a:r>
            <a:r>
              <a:rPr sz="2150" spc="150" dirty="0">
                <a:solidFill>
                  <a:srgbClr val="0A0A0A"/>
                </a:solidFill>
                <a:latin typeface="Arial"/>
                <a:cs typeface="Arial"/>
              </a:rPr>
              <a:t> </a:t>
            </a:r>
            <a:r>
              <a:rPr sz="2150" dirty="0">
                <a:solidFill>
                  <a:srgbClr val="181818"/>
                </a:solidFill>
                <a:latin typeface="Arial"/>
                <a:cs typeface="Arial"/>
              </a:rPr>
              <a:t>conventional</a:t>
            </a:r>
            <a:r>
              <a:rPr sz="2150" spc="265" dirty="0">
                <a:solidFill>
                  <a:srgbClr val="181818"/>
                </a:solidFill>
                <a:latin typeface="Arial"/>
                <a:cs typeface="Arial"/>
              </a:rPr>
              <a:t> </a:t>
            </a:r>
            <a:r>
              <a:rPr sz="2150" spc="60" dirty="0">
                <a:solidFill>
                  <a:srgbClr val="181818"/>
                </a:solidFill>
                <a:latin typeface="Arial"/>
                <a:cs typeface="Arial"/>
              </a:rPr>
              <a:t>wisdom</a:t>
            </a:r>
            <a:r>
              <a:rPr sz="2150" spc="155" dirty="0">
                <a:solidFill>
                  <a:srgbClr val="181818"/>
                </a:solidFill>
                <a:latin typeface="Arial"/>
                <a:cs typeface="Arial"/>
              </a:rPr>
              <a:t> </a:t>
            </a:r>
            <a:r>
              <a:rPr sz="2150" dirty="0">
                <a:solidFill>
                  <a:srgbClr val="181818"/>
                </a:solidFill>
                <a:latin typeface="Arial"/>
                <a:cs typeface="Arial"/>
              </a:rPr>
              <a:t>and</a:t>
            </a:r>
            <a:r>
              <a:rPr sz="2150" spc="125" dirty="0">
                <a:solidFill>
                  <a:srgbClr val="181818"/>
                </a:solidFill>
                <a:latin typeface="Arial"/>
                <a:cs typeface="Arial"/>
              </a:rPr>
              <a:t> </a:t>
            </a:r>
            <a:r>
              <a:rPr sz="2150" spc="-10" dirty="0">
                <a:solidFill>
                  <a:srgbClr val="0A0A0A"/>
                </a:solidFill>
                <a:latin typeface="Arial"/>
                <a:cs typeface="Arial"/>
              </a:rPr>
              <a:t>providing 	</a:t>
            </a:r>
            <a:r>
              <a:rPr sz="2150" dirty="0">
                <a:solidFill>
                  <a:srgbClr val="181818"/>
                </a:solidFill>
                <a:latin typeface="Arial"/>
                <a:cs typeface="Arial"/>
              </a:rPr>
              <a:t>an</a:t>
            </a:r>
            <a:r>
              <a:rPr sz="2150" spc="-5" dirty="0">
                <a:solidFill>
                  <a:srgbClr val="181818"/>
                </a:solidFill>
                <a:latin typeface="Arial"/>
                <a:cs typeface="Arial"/>
              </a:rPr>
              <a:t> </a:t>
            </a:r>
            <a:r>
              <a:rPr sz="2150" dirty="0">
                <a:solidFill>
                  <a:srgbClr val="0A0A0A"/>
                </a:solidFill>
                <a:latin typeface="Arial"/>
                <a:cs typeface="Arial"/>
              </a:rPr>
              <a:t>unbiased,</a:t>
            </a:r>
            <a:r>
              <a:rPr sz="2150" spc="145" dirty="0">
                <a:solidFill>
                  <a:srgbClr val="0A0A0A"/>
                </a:solidFill>
                <a:latin typeface="Arial"/>
                <a:cs typeface="Arial"/>
              </a:rPr>
              <a:t> </a:t>
            </a:r>
            <a:r>
              <a:rPr sz="2150" dirty="0">
                <a:solidFill>
                  <a:srgbClr val="181818"/>
                </a:solidFill>
                <a:latin typeface="Arial"/>
                <a:cs typeface="Arial"/>
              </a:rPr>
              <a:t>objective</a:t>
            </a:r>
            <a:r>
              <a:rPr sz="2150" spc="225" dirty="0">
                <a:solidFill>
                  <a:srgbClr val="181818"/>
                </a:solidFill>
                <a:latin typeface="Arial"/>
                <a:cs typeface="Arial"/>
              </a:rPr>
              <a:t> </a:t>
            </a:r>
            <a:r>
              <a:rPr sz="2150" spc="70" dirty="0">
                <a:solidFill>
                  <a:srgbClr val="0A0A0A"/>
                </a:solidFill>
                <a:latin typeface="Arial"/>
                <a:cs typeface="Arial"/>
              </a:rPr>
              <a:t>point</a:t>
            </a:r>
            <a:r>
              <a:rPr sz="2150" spc="120" dirty="0">
                <a:solidFill>
                  <a:srgbClr val="0A0A0A"/>
                </a:solidFill>
                <a:latin typeface="Arial"/>
                <a:cs typeface="Arial"/>
              </a:rPr>
              <a:t> </a:t>
            </a:r>
            <a:r>
              <a:rPr sz="2150" spc="65" dirty="0">
                <a:solidFill>
                  <a:srgbClr val="181818"/>
                </a:solidFill>
                <a:latin typeface="Arial"/>
                <a:cs typeface="Arial"/>
              </a:rPr>
              <a:t>of</a:t>
            </a:r>
            <a:r>
              <a:rPr sz="2150" spc="90" dirty="0">
                <a:solidFill>
                  <a:srgbClr val="181818"/>
                </a:solidFill>
                <a:latin typeface="Arial"/>
                <a:cs typeface="Arial"/>
              </a:rPr>
              <a:t> </a:t>
            </a:r>
            <a:r>
              <a:rPr sz="2150" spc="-20" dirty="0" smtClean="0">
                <a:solidFill>
                  <a:srgbClr val="181818"/>
                </a:solidFill>
                <a:latin typeface="Arial"/>
                <a:cs typeface="Arial"/>
              </a:rPr>
              <a:t>view</a:t>
            </a:r>
            <a:r>
              <a:rPr lang="en-US" sz="2150" spc="-20" dirty="0" smtClean="0">
                <a:solidFill>
                  <a:srgbClr val="181818"/>
                </a:solidFill>
                <a:latin typeface="Arial"/>
                <a:cs typeface="Arial"/>
              </a:rPr>
              <a:t>.</a:t>
            </a:r>
          </a:p>
          <a:p>
            <a:pPr marL="845185" marR="5080" lvl="1" indent="-332740">
              <a:lnSpc>
                <a:spcPct val="104099"/>
              </a:lnSpc>
              <a:spcBef>
                <a:spcPts val="475"/>
              </a:spcBef>
              <a:buChar char="-"/>
              <a:tabLst>
                <a:tab pos="847090" algn="l"/>
              </a:tabLst>
            </a:pPr>
            <a:r>
              <a:rPr lang="en-US" sz="2150" dirty="0" smtClean="0">
                <a:latin typeface="Arial"/>
                <a:cs typeface="Arial"/>
              </a:rPr>
              <a:t>It is usually more effective than the following two methods</a:t>
            </a:r>
            <a:endParaRPr sz="2150" dirty="0">
              <a:latin typeface="Arial"/>
              <a:cs typeface="Arial"/>
            </a:endParaRPr>
          </a:p>
          <a:p>
            <a:pPr lvl="1">
              <a:lnSpc>
                <a:spcPct val="100000"/>
              </a:lnSpc>
              <a:spcBef>
                <a:spcPts val="1450"/>
              </a:spcBef>
              <a:buClr>
                <a:srgbClr val="0A0A0A"/>
              </a:buClr>
              <a:buFont typeface="Arial"/>
              <a:buChar char="-"/>
            </a:pPr>
            <a:endParaRPr sz="2150" dirty="0">
              <a:latin typeface="Arial"/>
              <a:cs typeface="Arial"/>
            </a:endParaRPr>
          </a:p>
          <a:p>
            <a:pPr marL="398145" marR="208915" indent="-386080">
              <a:lnSpc>
                <a:spcPct val="107200"/>
              </a:lnSpc>
              <a:buChar char="•"/>
              <a:tabLst>
                <a:tab pos="398145" algn="l"/>
                <a:tab pos="400050" algn="l"/>
                <a:tab pos="4982210" algn="l"/>
              </a:tabLst>
            </a:pPr>
            <a:r>
              <a:rPr sz="2250" dirty="0">
                <a:solidFill>
                  <a:srgbClr val="1D87A3"/>
                </a:solidFill>
                <a:latin typeface="Arial"/>
                <a:cs typeface="Arial"/>
              </a:rPr>
              <a:t>	</a:t>
            </a:r>
            <a:r>
              <a:rPr sz="2250" b="1" dirty="0">
                <a:solidFill>
                  <a:srgbClr val="1D87A3"/>
                </a:solidFill>
                <a:latin typeface="Arial"/>
                <a:cs typeface="Arial"/>
              </a:rPr>
              <a:t>One-on-one</a:t>
            </a:r>
            <a:r>
              <a:rPr sz="2250" b="1" spc="220" dirty="0">
                <a:solidFill>
                  <a:srgbClr val="1D87A3"/>
                </a:solidFill>
                <a:latin typeface="Arial"/>
                <a:cs typeface="Arial"/>
              </a:rPr>
              <a:t> </a:t>
            </a:r>
            <a:r>
              <a:rPr sz="2250" b="1" spc="60" dirty="0">
                <a:solidFill>
                  <a:srgbClr val="1D87A3"/>
                </a:solidFill>
                <a:latin typeface="Arial"/>
                <a:cs typeface="Arial"/>
              </a:rPr>
              <a:t>interview</a:t>
            </a:r>
            <a:r>
              <a:rPr sz="2250" b="1" spc="195" dirty="0">
                <a:solidFill>
                  <a:srgbClr val="1D87A3"/>
                </a:solidFill>
                <a:latin typeface="Arial"/>
                <a:cs typeface="Arial"/>
              </a:rPr>
              <a:t> </a:t>
            </a:r>
            <a:r>
              <a:rPr sz="2250" b="1" spc="75" dirty="0">
                <a:solidFill>
                  <a:srgbClr val="1D87A3"/>
                </a:solidFill>
                <a:latin typeface="Arial"/>
                <a:cs typeface="Arial"/>
              </a:rPr>
              <a:t>method</a:t>
            </a:r>
            <a:r>
              <a:rPr sz="2250" b="1" spc="-5" dirty="0">
                <a:solidFill>
                  <a:srgbClr val="1D87A3"/>
                </a:solidFill>
                <a:latin typeface="Arial"/>
                <a:cs typeface="Arial"/>
              </a:rPr>
              <a:t> </a:t>
            </a:r>
            <a:r>
              <a:rPr sz="2250" spc="-50" dirty="0">
                <a:solidFill>
                  <a:srgbClr val="0A0A0A"/>
                </a:solidFill>
                <a:latin typeface="Arial"/>
                <a:cs typeface="Arial"/>
              </a:rPr>
              <a:t>-</a:t>
            </a:r>
            <a:r>
              <a:rPr sz="2250" dirty="0">
                <a:solidFill>
                  <a:srgbClr val="0A0A0A"/>
                </a:solidFill>
                <a:latin typeface="Arial"/>
                <a:cs typeface="Arial"/>
              </a:rPr>
              <a:t>	</a:t>
            </a:r>
            <a:r>
              <a:rPr sz="2300" dirty="0">
                <a:solidFill>
                  <a:srgbClr val="0A0A0A"/>
                </a:solidFill>
                <a:latin typeface="Arial"/>
                <a:cs typeface="Arial"/>
              </a:rPr>
              <a:t>each</a:t>
            </a:r>
            <a:r>
              <a:rPr sz="2300" spc="55" dirty="0">
                <a:solidFill>
                  <a:srgbClr val="0A0A0A"/>
                </a:solidFill>
                <a:latin typeface="Arial"/>
                <a:cs typeface="Arial"/>
              </a:rPr>
              <a:t> </a:t>
            </a:r>
            <a:r>
              <a:rPr sz="2300" dirty="0">
                <a:solidFill>
                  <a:srgbClr val="0A0A0A"/>
                </a:solidFill>
                <a:latin typeface="Arial"/>
                <a:cs typeface="Arial"/>
              </a:rPr>
              <a:t>person</a:t>
            </a:r>
            <a:r>
              <a:rPr sz="2300" spc="75" dirty="0">
                <a:solidFill>
                  <a:srgbClr val="0A0A0A"/>
                </a:solidFill>
                <a:latin typeface="Arial"/>
                <a:cs typeface="Arial"/>
              </a:rPr>
              <a:t> </a:t>
            </a:r>
            <a:r>
              <a:rPr sz="2300" spc="65" dirty="0">
                <a:solidFill>
                  <a:srgbClr val="0A0A0A"/>
                </a:solidFill>
                <a:latin typeface="Arial"/>
                <a:cs typeface="Arial"/>
              </a:rPr>
              <a:t>involved</a:t>
            </a:r>
            <a:r>
              <a:rPr sz="2300" spc="55" dirty="0">
                <a:solidFill>
                  <a:srgbClr val="0A0A0A"/>
                </a:solidFill>
                <a:latin typeface="Arial"/>
                <a:cs typeface="Arial"/>
              </a:rPr>
              <a:t> </a:t>
            </a:r>
            <a:r>
              <a:rPr sz="2300" spc="30" dirty="0">
                <a:solidFill>
                  <a:srgbClr val="0A0A0A"/>
                </a:solidFill>
                <a:latin typeface="Arial"/>
                <a:cs typeface="Arial"/>
              </a:rPr>
              <a:t>in </a:t>
            </a:r>
            <a:r>
              <a:rPr sz="2300" spc="70" dirty="0">
                <a:solidFill>
                  <a:srgbClr val="0A0A0A"/>
                </a:solidFill>
                <a:latin typeface="Arial"/>
                <a:cs typeface="Arial"/>
              </a:rPr>
              <a:t>the</a:t>
            </a:r>
            <a:r>
              <a:rPr sz="2300" spc="180" dirty="0">
                <a:solidFill>
                  <a:srgbClr val="0A0A0A"/>
                </a:solidFill>
                <a:latin typeface="Arial"/>
                <a:cs typeface="Arial"/>
              </a:rPr>
              <a:t> </a:t>
            </a:r>
            <a:r>
              <a:rPr sz="2300" dirty="0">
                <a:solidFill>
                  <a:srgbClr val="0A0A0A"/>
                </a:solidFill>
                <a:latin typeface="Arial"/>
                <a:cs typeface="Arial"/>
              </a:rPr>
              <a:t>process</a:t>
            </a:r>
            <a:r>
              <a:rPr sz="2300" spc="70" dirty="0">
                <a:solidFill>
                  <a:srgbClr val="0A0A0A"/>
                </a:solidFill>
                <a:latin typeface="Arial"/>
                <a:cs typeface="Arial"/>
              </a:rPr>
              <a:t> </a:t>
            </a:r>
            <a:r>
              <a:rPr sz="2300" dirty="0">
                <a:solidFill>
                  <a:srgbClr val="0A0A0A"/>
                </a:solidFill>
                <a:latin typeface="Arial"/>
                <a:cs typeface="Arial"/>
              </a:rPr>
              <a:t>is</a:t>
            </a:r>
            <a:r>
              <a:rPr sz="2300" spc="-55" dirty="0">
                <a:solidFill>
                  <a:srgbClr val="0A0A0A"/>
                </a:solidFill>
                <a:latin typeface="Arial"/>
                <a:cs typeface="Arial"/>
              </a:rPr>
              <a:t> </a:t>
            </a:r>
            <a:r>
              <a:rPr sz="2300" spc="75" dirty="0">
                <a:solidFill>
                  <a:srgbClr val="0A0A0A"/>
                </a:solidFill>
                <a:latin typeface="Arial"/>
                <a:cs typeface="Arial"/>
              </a:rPr>
              <a:t>interviewed</a:t>
            </a:r>
            <a:r>
              <a:rPr sz="2300" spc="140" dirty="0">
                <a:solidFill>
                  <a:srgbClr val="0A0A0A"/>
                </a:solidFill>
                <a:latin typeface="Arial"/>
                <a:cs typeface="Arial"/>
              </a:rPr>
              <a:t> </a:t>
            </a:r>
            <a:r>
              <a:rPr sz="2300" spc="-10" dirty="0">
                <a:solidFill>
                  <a:srgbClr val="181818"/>
                </a:solidFill>
                <a:latin typeface="Arial"/>
                <a:cs typeface="Arial"/>
              </a:rPr>
              <a:t>separately</a:t>
            </a:r>
            <a:endParaRPr sz="2300" dirty="0">
              <a:latin typeface="Arial"/>
              <a:cs typeface="Arial"/>
            </a:endParaRPr>
          </a:p>
          <a:p>
            <a:pPr marL="846455" lvl="1" indent="-334010">
              <a:lnSpc>
                <a:spcPct val="100000"/>
              </a:lnSpc>
              <a:spcBef>
                <a:spcPts val="585"/>
              </a:spcBef>
              <a:buChar char="-"/>
              <a:tabLst>
                <a:tab pos="846455" algn="l"/>
              </a:tabLst>
            </a:pPr>
            <a:r>
              <a:rPr sz="2150" spc="-114" dirty="0">
                <a:solidFill>
                  <a:srgbClr val="0A0A0A"/>
                </a:solidFill>
                <a:latin typeface="Arial"/>
                <a:cs typeface="Arial"/>
              </a:rPr>
              <a:t>Less</a:t>
            </a:r>
            <a:r>
              <a:rPr sz="2150" spc="10" dirty="0">
                <a:solidFill>
                  <a:srgbClr val="0A0A0A"/>
                </a:solidFill>
                <a:latin typeface="Arial"/>
                <a:cs typeface="Arial"/>
              </a:rPr>
              <a:t> </a:t>
            </a:r>
            <a:r>
              <a:rPr sz="2150" dirty="0">
                <a:solidFill>
                  <a:srgbClr val="181818"/>
                </a:solidFill>
                <a:latin typeface="Arial"/>
                <a:cs typeface="Arial"/>
              </a:rPr>
              <a:t>effective</a:t>
            </a:r>
            <a:r>
              <a:rPr sz="2150" spc="75" dirty="0">
                <a:solidFill>
                  <a:srgbClr val="181818"/>
                </a:solidFill>
                <a:latin typeface="Arial"/>
                <a:cs typeface="Arial"/>
              </a:rPr>
              <a:t> </a:t>
            </a:r>
            <a:r>
              <a:rPr sz="2150" spc="80" dirty="0">
                <a:solidFill>
                  <a:srgbClr val="0A0A0A"/>
                </a:solidFill>
                <a:latin typeface="Arial"/>
                <a:cs typeface="Arial"/>
              </a:rPr>
              <a:t>than</a:t>
            </a:r>
            <a:r>
              <a:rPr sz="2150" spc="50" dirty="0">
                <a:solidFill>
                  <a:srgbClr val="0A0A0A"/>
                </a:solidFill>
                <a:latin typeface="Arial"/>
                <a:cs typeface="Arial"/>
              </a:rPr>
              <a:t> </a:t>
            </a:r>
            <a:r>
              <a:rPr sz="2150" spc="85" dirty="0">
                <a:solidFill>
                  <a:srgbClr val="0A0A0A"/>
                </a:solidFill>
                <a:latin typeface="Arial"/>
                <a:cs typeface="Arial"/>
              </a:rPr>
              <a:t>the</a:t>
            </a:r>
            <a:r>
              <a:rPr sz="2150" spc="-55" dirty="0">
                <a:solidFill>
                  <a:srgbClr val="0A0A0A"/>
                </a:solidFill>
                <a:latin typeface="Arial"/>
                <a:cs typeface="Arial"/>
              </a:rPr>
              <a:t> </a:t>
            </a:r>
            <a:r>
              <a:rPr sz="2150" spc="50" dirty="0">
                <a:solidFill>
                  <a:srgbClr val="181818"/>
                </a:solidFill>
                <a:latin typeface="Arial"/>
                <a:cs typeface="Arial"/>
              </a:rPr>
              <a:t>group</a:t>
            </a:r>
            <a:r>
              <a:rPr sz="2150" spc="120" dirty="0">
                <a:solidFill>
                  <a:srgbClr val="181818"/>
                </a:solidFill>
                <a:latin typeface="Arial"/>
                <a:cs typeface="Arial"/>
              </a:rPr>
              <a:t> </a:t>
            </a:r>
            <a:r>
              <a:rPr sz="2150" spc="50" dirty="0">
                <a:solidFill>
                  <a:srgbClr val="0A0A0A"/>
                </a:solidFill>
                <a:latin typeface="Arial"/>
                <a:cs typeface="Arial"/>
              </a:rPr>
              <a:t>interview</a:t>
            </a:r>
            <a:r>
              <a:rPr sz="2150" spc="150" dirty="0">
                <a:solidFill>
                  <a:srgbClr val="0A0A0A"/>
                </a:solidFill>
                <a:latin typeface="Arial"/>
                <a:cs typeface="Arial"/>
              </a:rPr>
              <a:t> </a:t>
            </a:r>
            <a:r>
              <a:rPr sz="2150" spc="80" dirty="0">
                <a:solidFill>
                  <a:srgbClr val="0A0A0A"/>
                </a:solidFill>
                <a:latin typeface="Arial"/>
                <a:cs typeface="Arial"/>
              </a:rPr>
              <a:t>method</a:t>
            </a:r>
            <a:endParaRPr sz="2150" dirty="0">
              <a:latin typeface="Arial"/>
              <a:cs typeface="Arial"/>
            </a:endParaRPr>
          </a:p>
          <a:p>
            <a:pPr lvl="1">
              <a:lnSpc>
                <a:spcPct val="100000"/>
              </a:lnSpc>
              <a:spcBef>
                <a:spcPts val="1490"/>
              </a:spcBef>
              <a:buClr>
                <a:srgbClr val="0A0A0A"/>
              </a:buClr>
              <a:buFont typeface="Arial"/>
              <a:buChar char="-"/>
            </a:pPr>
            <a:endParaRPr sz="2150" dirty="0">
              <a:latin typeface="Arial"/>
              <a:cs typeface="Arial"/>
            </a:endParaRPr>
          </a:p>
          <a:p>
            <a:pPr marL="401955" indent="-389255" algn="just">
              <a:lnSpc>
                <a:spcPct val="100000"/>
              </a:lnSpc>
              <a:spcBef>
                <a:spcPts val="5"/>
              </a:spcBef>
              <a:buFont typeface="Arial"/>
              <a:buChar char="•"/>
              <a:tabLst>
                <a:tab pos="401955" algn="l"/>
                <a:tab pos="2535555" algn="l"/>
              </a:tabLst>
            </a:pPr>
            <a:r>
              <a:rPr lang="en-US" sz="2250" b="1" dirty="0" smtClean="0">
                <a:solidFill>
                  <a:srgbClr val="1D87A3"/>
                </a:solidFill>
                <a:latin typeface="Arial"/>
                <a:cs typeface="Arial"/>
              </a:rPr>
              <a:t>The self-generate method </a:t>
            </a:r>
            <a:r>
              <a:rPr sz="2250" b="1" spc="320" dirty="0" smtClean="0">
                <a:solidFill>
                  <a:srgbClr val="1D87A3"/>
                </a:solidFill>
                <a:latin typeface="Arial"/>
                <a:cs typeface="Arial"/>
              </a:rPr>
              <a:t> </a:t>
            </a:r>
            <a:r>
              <a:rPr sz="2250" spc="-50" dirty="0" smtClean="0">
                <a:solidFill>
                  <a:srgbClr val="0A0A0A"/>
                </a:solidFill>
                <a:latin typeface="Arial"/>
                <a:cs typeface="Arial"/>
              </a:rPr>
              <a:t>-</a:t>
            </a:r>
            <a:r>
              <a:rPr lang="en-US" sz="2250" dirty="0">
                <a:solidFill>
                  <a:srgbClr val="0A0A0A"/>
                </a:solidFill>
                <a:latin typeface="Arial"/>
                <a:cs typeface="Arial"/>
              </a:rPr>
              <a:t> </a:t>
            </a:r>
            <a:r>
              <a:rPr lang="en-US" sz="2000" dirty="0" smtClean="0">
                <a:solidFill>
                  <a:srgbClr val="0A0A0A"/>
                </a:solidFill>
                <a:latin typeface="Arial"/>
                <a:cs typeface="Arial"/>
              </a:rPr>
              <a:t>is used when the preparer personally knows the process. He or she can draw a preliminary process map and then ask others who are knowledgeable about the process to give their input on its completeness and accuracy. This method is typically faster than the other methods because it involves less people.</a:t>
            </a:r>
            <a:endParaRPr sz="2000" dirty="0">
              <a:latin typeface="Arial"/>
              <a:cs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7349" y="152400"/>
            <a:ext cx="8841105" cy="697712"/>
          </a:xfrm>
          <a:prstGeom prst="rect">
            <a:avLst/>
          </a:prstGeom>
        </p:spPr>
        <p:txBody>
          <a:bodyPr vert="horz" wrap="square" lIns="0" tIns="81364" rIns="0" bIns="0" rtlCol="0">
            <a:spAutoFit/>
          </a:bodyPr>
          <a:lstStyle/>
          <a:p>
            <a:pPr marL="26670">
              <a:lnSpc>
                <a:spcPct val="100000"/>
              </a:lnSpc>
              <a:spcBef>
                <a:spcPts val="120"/>
              </a:spcBef>
            </a:pPr>
            <a:r>
              <a:rPr lang="en-US" sz="4000" dirty="0"/>
              <a:t>Process Mapping Roles</a:t>
            </a:r>
            <a:endParaRPr sz="3800" dirty="0"/>
          </a:p>
        </p:txBody>
      </p:sp>
      <p:sp>
        <p:nvSpPr>
          <p:cNvPr id="3" name="object 3"/>
          <p:cNvSpPr txBox="1"/>
          <p:nvPr/>
        </p:nvSpPr>
        <p:spPr>
          <a:xfrm>
            <a:off x="609600" y="1219200"/>
            <a:ext cx="8396605" cy="6701193"/>
          </a:xfrm>
          <a:prstGeom prst="rect">
            <a:avLst/>
          </a:prstGeom>
        </p:spPr>
        <p:txBody>
          <a:bodyPr vert="horz" wrap="square" lIns="0" tIns="12065" rIns="0" bIns="0" rtlCol="0">
            <a:spAutoFit/>
          </a:bodyPr>
          <a:lstStyle/>
          <a:p>
            <a:pPr marL="398780" marR="829944" indent="-386715" algn="just">
              <a:lnSpc>
                <a:spcPct val="107200"/>
              </a:lnSpc>
              <a:spcBef>
                <a:spcPts val="95"/>
              </a:spcBef>
              <a:buFont typeface="Arial"/>
              <a:buChar char="•"/>
              <a:tabLst>
                <a:tab pos="403225" algn="l"/>
                <a:tab pos="4172585" algn="l"/>
              </a:tabLst>
            </a:pPr>
            <a:r>
              <a:rPr lang="en-US" sz="2000" dirty="0" smtClean="0">
                <a:latin typeface="Arial"/>
                <a:cs typeface="Arial"/>
              </a:rPr>
              <a:t>Process mapping is best performed by a team of people, including those who actually perform the processes as they currently are. It should be a small team—no more than five or six.</a:t>
            </a:r>
          </a:p>
          <a:p>
            <a:pPr marL="398780" marR="829944" indent="-386715" algn="just">
              <a:lnSpc>
                <a:spcPct val="107200"/>
              </a:lnSpc>
              <a:spcBef>
                <a:spcPts val="95"/>
              </a:spcBef>
              <a:buFont typeface="Arial"/>
              <a:buChar char="•"/>
              <a:tabLst>
                <a:tab pos="403225" algn="l"/>
                <a:tab pos="4172585" algn="l"/>
              </a:tabLst>
            </a:pPr>
            <a:r>
              <a:rPr lang="en-US" sz="2000" dirty="0" smtClean="0">
                <a:latin typeface="Arial"/>
                <a:cs typeface="Arial"/>
              </a:rPr>
              <a:t> it should include some people who are familiar with process mapping and ERP. </a:t>
            </a:r>
          </a:p>
          <a:p>
            <a:pPr marL="12065" marR="829944" algn="just">
              <a:lnSpc>
                <a:spcPct val="107200"/>
              </a:lnSpc>
              <a:spcBef>
                <a:spcPts val="95"/>
              </a:spcBef>
              <a:tabLst>
                <a:tab pos="403225" algn="l"/>
                <a:tab pos="4172585" algn="l"/>
              </a:tabLst>
            </a:pPr>
            <a:r>
              <a:rPr lang="en-US" sz="2000" dirty="0" smtClean="0">
                <a:latin typeface="Arial"/>
                <a:cs typeface="Arial"/>
              </a:rPr>
              <a:t>The following key roles are generally employed during process mapping:</a:t>
            </a:r>
          </a:p>
          <a:p>
            <a:pPr marL="469265" marR="829944" lvl="3" indent="-457200" algn="just">
              <a:lnSpc>
                <a:spcPct val="107200"/>
              </a:lnSpc>
              <a:spcBef>
                <a:spcPts val="95"/>
              </a:spcBef>
              <a:buFont typeface="+mj-lt"/>
              <a:buAutoNum type="arabicPeriod"/>
              <a:tabLst>
                <a:tab pos="403225" algn="l"/>
                <a:tab pos="4172585" algn="l"/>
              </a:tabLst>
            </a:pPr>
            <a:r>
              <a:rPr lang="en-US" sz="2000" b="1" dirty="0" smtClean="0">
                <a:latin typeface="Arial"/>
                <a:cs typeface="Arial"/>
              </a:rPr>
              <a:t>Process map facilitator </a:t>
            </a:r>
            <a:r>
              <a:rPr lang="en-US" sz="2000" dirty="0" smtClean="0">
                <a:latin typeface="Arial"/>
                <a:cs typeface="Arial"/>
              </a:rPr>
              <a:t>– Promotes and focuses the discussions and provides an unbiased, objective point of view.</a:t>
            </a:r>
          </a:p>
          <a:p>
            <a:pPr marL="469265" marR="829944" lvl="3" indent="-457200" algn="just">
              <a:lnSpc>
                <a:spcPct val="107200"/>
              </a:lnSpc>
              <a:spcBef>
                <a:spcPts val="95"/>
              </a:spcBef>
              <a:buFont typeface="+mj-lt"/>
              <a:buAutoNum type="arabicPeriod"/>
              <a:tabLst>
                <a:tab pos="403225" algn="l"/>
                <a:tab pos="4172585" algn="l"/>
              </a:tabLst>
            </a:pPr>
            <a:r>
              <a:rPr lang="en-US" sz="2000" b="1" dirty="0" smtClean="0">
                <a:latin typeface="Arial"/>
                <a:cs typeface="Arial"/>
              </a:rPr>
              <a:t>Process owner </a:t>
            </a:r>
            <a:r>
              <a:rPr lang="en-US" sz="2000" dirty="0" smtClean="0">
                <a:latin typeface="Arial"/>
                <a:cs typeface="Arial"/>
              </a:rPr>
              <a:t>– Maintains responsibility for the proper completion of process steps and has authority over the process, its interfaces, and the changes that will take place.</a:t>
            </a:r>
          </a:p>
          <a:p>
            <a:pPr marL="469265" marR="829944" lvl="3" indent="-457200" algn="just">
              <a:lnSpc>
                <a:spcPct val="107200"/>
              </a:lnSpc>
              <a:spcBef>
                <a:spcPts val="95"/>
              </a:spcBef>
              <a:buFont typeface="+mj-lt"/>
              <a:buAutoNum type="arabicPeriod"/>
              <a:tabLst>
                <a:tab pos="403225" algn="l"/>
                <a:tab pos="4172585" algn="l"/>
              </a:tabLst>
            </a:pPr>
            <a:r>
              <a:rPr lang="en-US" sz="2000" b="1" dirty="0" smtClean="0">
                <a:latin typeface="Arial"/>
                <a:cs typeface="Arial"/>
              </a:rPr>
              <a:t>Subject matter expert </a:t>
            </a:r>
            <a:r>
              <a:rPr lang="en-US" sz="2000" dirty="0" smtClean="0">
                <a:latin typeface="Arial"/>
                <a:cs typeface="Arial"/>
              </a:rPr>
              <a:t>– Knows the process intimately and provides knowledge and expertise.</a:t>
            </a:r>
          </a:p>
          <a:p>
            <a:pPr marL="469265" marR="829944" lvl="3" indent="-457200" algn="just">
              <a:lnSpc>
                <a:spcPct val="107200"/>
              </a:lnSpc>
              <a:spcBef>
                <a:spcPts val="95"/>
              </a:spcBef>
              <a:buFont typeface="+mj-lt"/>
              <a:buAutoNum type="arabicPeriod"/>
              <a:tabLst>
                <a:tab pos="403225" algn="l"/>
                <a:tab pos="4172585" algn="l"/>
              </a:tabLst>
            </a:pPr>
            <a:r>
              <a:rPr lang="en-US" sz="2000" b="1" dirty="0" smtClean="0">
                <a:latin typeface="Arial"/>
                <a:cs typeface="Arial"/>
              </a:rPr>
              <a:t>Process implementer </a:t>
            </a:r>
            <a:r>
              <a:rPr lang="en-US" sz="2000" dirty="0" smtClean="0">
                <a:latin typeface="Arial"/>
                <a:cs typeface="Arial"/>
              </a:rPr>
              <a:t>– Executes recommendations and implements changes such as new procedures and systems.</a:t>
            </a:r>
          </a:p>
          <a:p>
            <a:pPr marL="469265" marR="829944" lvl="3" indent="-457200" algn="just">
              <a:lnSpc>
                <a:spcPct val="107200"/>
              </a:lnSpc>
              <a:spcBef>
                <a:spcPts val="95"/>
              </a:spcBef>
              <a:buFont typeface="+mj-lt"/>
              <a:buAutoNum type="arabicPeriod"/>
              <a:tabLst>
                <a:tab pos="403225" algn="l"/>
                <a:tab pos="4172585" algn="l"/>
              </a:tabLst>
            </a:pPr>
            <a:r>
              <a:rPr lang="en-US" sz="2000" b="1" dirty="0" smtClean="0">
                <a:latin typeface="Arial"/>
                <a:cs typeface="Arial"/>
              </a:rPr>
              <a:t>Process evaluator </a:t>
            </a:r>
            <a:r>
              <a:rPr lang="en-US" sz="2000" dirty="0" smtClean="0">
                <a:latin typeface="Arial"/>
                <a:cs typeface="Arial"/>
              </a:rPr>
              <a:t>– Tests the “to be” process and helps determine new metrics for its evaluation.</a:t>
            </a:r>
          </a:p>
          <a:p>
            <a:pPr marL="398780" marR="829944" indent="-386715">
              <a:lnSpc>
                <a:spcPct val="107200"/>
              </a:lnSpc>
              <a:spcBef>
                <a:spcPts val="95"/>
              </a:spcBef>
              <a:buFont typeface="Arial"/>
              <a:buChar char="•"/>
              <a:tabLst>
                <a:tab pos="403225" algn="l"/>
                <a:tab pos="4172585" algn="l"/>
              </a:tabLst>
            </a:pPr>
            <a:endParaRPr sz="2000" dirty="0">
              <a:latin typeface="Arial"/>
              <a:cs typeface="Arial"/>
            </a:endParaRPr>
          </a:p>
        </p:txBody>
      </p:sp>
    </p:spTree>
    <p:extLst>
      <p:ext uri="{BB962C8B-B14F-4D97-AF65-F5344CB8AC3E}">
        <p14:creationId xmlns:p14="http://schemas.microsoft.com/office/powerpoint/2010/main" val="27374132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6618" y="450143"/>
            <a:ext cx="9916582" cy="638636"/>
          </a:xfrm>
          <a:prstGeom prst="rect">
            <a:avLst/>
          </a:prstGeom>
        </p:spPr>
        <p:txBody>
          <a:bodyPr vert="horz" wrap="square" lIns="0" tIns="15240" rIns="0" bIns="0" rtlCol="0">
            <a:spAutoFit/>
          </a:bodyPr>
          <a:lstStyle/>
          <a:p>
            <a:pPr marL="67945">
              <a:lnSpc>
                <a:spcPct val="100000"/>
              </a:lnSpc>
              <a:spcBef>
                <a:spcPts val="120"/>
              </a:spcBef>
            </a:pPr>
            <a:r>
              <a:rPr lang="en-US" sz="4050" b="0" dirty="0">
                <a:solidFill>
                  <a:srgbClr val="0A0A0A"/>
                </a:solidFill>
              </a:rPr>
              <a:t>Steps for Drawing </a:t>
            </a:r>
            <a:r>
              <a:rPr lang="en-US" sz="4050" b="0" dirty="0" smtClean="0">
                <a:solidFill>
                  <a:srgbClr val="0A0A0A"/>
                </a:solidFill>
              </a:rPr>
              <a:t>Process Maps</a:t>
            </a:r>
            <a:endParaRPr sz="4050" dirty="0">
              <a:latin typeface="Times New Roman"/>
              <a:cs typeface="Times New Roman"/>
            </a:endParaRPr>
          </a:p>
        </p:txBody>
      </p:sp>
      <p:sp>
        <p:nvSpPr>
          <p:cNvPr id="3" name="object 3"/>
          <p:cNvSpPr txBox="1"/>
          <p:nvPr/>
        </p:nvSpPr>
        <p:spPr>
          <a:xfrm>
            <a:off x="609600" y="1295400"/>
            <a:ext cx="8808720" cy="5383269"/>
          </a:xfrm>
          <a:prstGeom prst="rect">
            <a:avLst/>
          </a:prstGeom>
        </p:spPr>
        <p:txBody>
          <a:bodyPr vert="horz" wrap="square" lIns="0" tIns="0" rIns="0" bIns="0" rtlCol="0">
            <a:spAutoFit/>
          </a:bodyPr>
          <a:lstStyle/>
          <a:p>
            <a:pPr marL="400050" marR="137160" indent="-387985">
              <a:lnSpc>
                <a:spcPct val="104400"/>
              </a:lnSpc>
              <a:buChar char="•"/>
              <a:tabLst>
                <a:tab pos="403860" algn="l"/>
              </a:tabLst>
            </a:pPr>
            <a:r>
              <a:rPr spc="-10" dirty="0">
                <a:solidFill>
                  <a:srgbClr val="0A0A0A"/>
                </a:solidFill>
                <a:latin typeface="Arial"/>
                <a:cs typeface="Arial"/>
              </a:rPr>
              <a:t>Have</a:t>
            </a:r>
            <a:r>
              <a:rPr spc="114" dirty="0">
                <a:solidFill>
                  <a:srgbClr val="0A0A0A"/>
                </a:solidFill>
                <a:latin typeface="Arial"/>
                <a:cs typeface="Arial"/>
              </a:rPr>
              <a:t> </a:t>
            </a:r>
            <a:r>
              <a:rPr dirty="0">
                <a:solidFill>
                  <a:srgbClr val="1D1D1D"/>
                </a:solidFill>
                <a:latin typeface="Arial"/>
                <a:cs typeface="Arial"/>
              </a:rPr>
              <a:t>a</a:t>
            </a:r>
            <a:r>
              <a:rPr spc="30" dirty="0">
                <a:solidFill>
                  <a:srgbClr val="1D1D1D"/>
                </a:solidFill>
                <a:latin typeface="Arial"/>
                <a:cs typeface="Arial"/>
              </a:rPr>
              <a:t> </a:t>
            </a:r>
            <a:r>
              <a:rPr spc="50" dirty="0">
                <a:solidFill>
                  <a:srgbClr val="0A0A0A"/>
                </a:solidFill>
                <a:latin typeface="Arial"/>
                <a:cs typeface="Arial"/>
              </a:rPr>
              <a:t>defined</a:t>
            </a:r>
            <a:r>
              <a:rPr spc="-80" dirty="0">
                <a:solidFill>
                  <a:srgbClr val="0A0A0A"/>
                </a:solidFill>
                <a:latin typeface="Arial"/>
                <a:cs typeface="Arial"/>
              </a:rPr>
              <a:t> </a:t>
            </a:r>
            <a:r>
              <a:rPr dirty="0">
                <a:solidFill>
                  <a:srgbClr val="0A0A0A"/>
                </a:solidFill>
                <a:latin typeface="Arial"/>
                <a:cs typeface="Arial"/>
              </a:rPr>
              <a:t>purpose</a:t>
            </a:r>
            <a:r>
              <a:rPr spc="85" dirty="0">
                <a:solidFill>
                  <a:srgbClr val="0A0A0A"/>
                </a:solidFill>
                <a:latin typeface="Arial"/>
                <a:cs typeface="Arial"/>
              </a:rPr>
              <a:t> </a:t>
            </a:r>
            <a:r>
              <a:rPr dirty="0">
                <a:solidFill>
                  <a:srgbClr val="0A0A0A"/>
                </a:solidFill>
                <a:latin typeface="Arial"/>
                <a:cs typeface="Arial"/>
              </a:rPr>
              <a:t>for</a:t>
            </a:r>
            <a:r>
              <a:rPr spc="190" dirty="0">
                <a:solidFill>
                  <a:srgbClr val="0A0A0A"/>
                </a:solidFill>
                <a:latin typeface="Arial"/>
                <a:cs typeface="Arial"/>
              </a:rPr>
              <a:t> </a:t>
            </a:r>
            <a:r>
              <a:rPr spc="50" dirty="0">
                <a:solidFill>
                  <a:srgbClr val="0A0A0A"/>
                </a:solidFill>
                <a:latin typeface="Arial"/>
                <a:cs typeface="Arial"/>
              </a:rPr>
              <a:t>mapping</a:t>
            </a:r>
            <a:r>
              <a:rPr spc="-75" dirty="0">
                <a:solidFill>
                  <a:srgbClr val="0A0A0A"/>
                </a:solidFill>
                <a:latin typeface="Arial"/>
                <a:cs typeface="Arial"/>
              </a:rPr>
              <a:t> </a:t>
            </a:r>
            <a:r>
              <a:rPr spc="-80" dirty="0">
                <a:solidFill>
                  <a:srgbClr val="1D1D1D"/>
                </a:solidFill>
                <a:latin typeface="Arial"/>
                <a:cs typeface="Arial"/>
              </a:rPr>
              <a:t>a</a:t>
            </a:r>
            <a:r>
              <a:rPr spc="-40" dirty="0">
                <a:solidFill>
                  <a:srgbClr val="1D1D1D"/>
                </a:solidFill>
                <a:latin typeface="Arial"/>
                <a:cs typeface="Arial"/>
              </a:rPr>
              <a:t> </a:t>
            </a:r>
            <a:r>
              <a:rPr dirty="0">
                <a:solidFill>
                  <a:srgbClr val="0A0A0A"/>
                </a:solidFill>
                <a:latin typeface="Arial"/>
                <a:cs typeface="Arial"/>
              </a:rPr>
              <a:t>process</a:t>
            </a:r>
            <a:r>
              <a:rPr spc="10" dirty="0">
                <a:solidFill>
                  <a:srgbClr val="0A0A0A"/>
                </a:solidFill>
                <a:latin typeface="Arial"/>
                <a:cs typeface="Arial"/>
              </a:rPr>
              <a:t> </a:t>
            </a:r>
            <a:r>
              <a:rPr spc="50" dirty="0">
                <a:solidFill>
                  <a:srgbClr val="1D1D1D"/>
                </a:solidFill>
                <a:latin typeface="Arial"/>
                <a:cs typeface="Arial"/>
              </a:rPr>
              <a:t>and</a:t>
            </a:r>
            <a:r>
              <a:rPr spc="-35" dirty="0">
                <a:solidFill>
                  <a:srgbClr val="1D1D1D"/>
                </a:solidFill>
                <a:latin typeface="Arial"/>
                <a:cs typeface="Arial"/>
              </a:rPr>
              <a:t> </a:t>
            </a:r>
            <a:r>
              <a:rPr dirty="0">
                <a:solidFill>
                  <a:srgbClr val="1D1D1D"/>
                </a:solidFill>
                <a:latin typeface="Arial"/>
                <a:cs typeface="Arial"/>
              </a:rPr>
              <a:t>explain</a:t>
            </a:r>
            <a:r>
              <a:rPr spc="-15" dirty="0">
                <a:solidFill>
                  <a:srgbClr val="1D1D1D"/>
                </a:solidFill>
                <a:latin typeface="Arial"/>
                <a:cs typeface="Arial"/>
              </a:rPr>
              <a:t> </a:t>
            </a:r>
            <a:r>
              <a:rPr dirty="0">
                <a:solidFill>
                  <a:srgbClr val="0A0A0A"/>
                </a:solidFill>
                <a:latin typeface="Arial"/>
                <a:cs typeface="Arial"/>
              </a:rPr>
              <a:t>it</a:t>
            </a:r>
            <a:r>
              <a:rPr spc="225" dirty="0">
                <a:solidFill>
                  <a:srgbClr val="0A0A0A"/>
                </a:solidFill>
                <a:latin typeface="Arial"/>
                <a:cs typeface="Arial"/>
              </a:rPr>
              <a:t> </a:t>
            </a:r>
            <a:r>
              <a:rPr dirty="0">
                <a:solidFill>
                  <a:srgbClr val="0A0A0A"/>
                </a:solidFill>
                <a:latin typeface="Arial"/>
                <a:cs typeface="Arial"/>
              </a:rPr>
              <a:t>to</a:t>
            </a:r>
            <a:r>
              <a:rPr spc="185" dirty="0">
                <a:solidFill>
                  <a:srgbClr val="0A0A0A"/>
                </a:solidFill>
                <a:latin typeface="Arial"/>
                <a:cs typeface="Arial"/>
              </a:rPr>
              <a:t> </a:t>
            </a:r>
            <a:r>
              <a:rPr spc="-10" dirty="0">
                <a:solidFill>
                  <a:srgbClr val="0A0A0A"/>
                </a:solidFill>
                <a:latin typeface="Arial"/>
                <a:cs typeface="Arial"/>
              </a:rPr>
              <a:t>those 	</a:t>
            </a:r>
            <a:r>
              <a:rPr spc="40" dirty="0">
                <a:solidFill>
                  <a:srgbClr val="0A0A0A"/>
                </a:solidFill>
                <a:latin typeface="Arial"/>
                <a:cs typeface="Arial"/>
              </a:rPr>
              <a:t>participating</a:t>
            </a:r>
            <a:endParaRPr dirty="0">
              <a:latin typeface="Arial"/>
              <a:cs typeface="Arial"/>
            </a:endParaRPr>
          </a:p>
          <a:p>
            <a:pPr marL="396875" indent="-384175">
              <a:lnSpc>
                <a:spcPct val="100000"/>
              </a:lnSpc>
              <a:spcBef>
                <a:spcPts val="500"/>
              </a:spcBef>
              <a:buChar char="•"/>
              <a:tabLst>
                <a:tab pos="396875" algn="l"/>
              </a:tabLst>
            </a:pPr>
            <a:r>
              <a:rPr spc="65" dirty="0">
                <a:solidFill>
                  <a:srgbClr val="0A0A0A"/>
                </a:solidFill>
                <a:latin typeface="Arial"/>
                <a:cs typeface="Arial"/>
              </a:rPr>
              <a:t>Identify</a:t>
            </a:r>
            <a:r>
              <a:rPr dirty="0">
                <a:solidFill>
                  <a:srgbClr val="0A0A0A"/>
                </a:solidFill>
                <a:latin typeface="Arial"/>
                <a:cs typeface="Arial"/>
              </a:rPr>
              <a:t> </a:t>
            </a:r>
            <a:r>
              <a:rPr spc="80" dirty="0">
                <a:solidFill>
                  <a:srgbClr val="0A0A0A"/>
                </a:solidFill>
                <a:latin typeface="Arial"/>
                <a:cs typeface="Arial"/>
              </a:rPr>
              <a:t>the</a:t>
            </a:r>
            <a:r>
              <a:rPr spc="-15" dirty="0">
                <a:solidFill>
                  <a:srgbClr val="0A0A0A"/>
                </a:solidFill>
                <a:latin typeface="Arial"/>
                <a:cs typeface="Arial"/>
              </a:rPr>
              <a:t> </a:t>
            </a:r>
            <a:r>
              <a:rPr spc="-10" dirty="0">
                <a:solidFill>
                  <a:srgbClr val="1D1D1D"/>
                </a:solidFill>
                <a:latin typeface="Arial"/>
                <a:cs typeface="Arial"/>
              </a:rPr>
              <a:t>scope</a:t>
            </a:r>
            <a:r>
              <a:rPr spc="-80" dirty="0">
                <a:solidFill>
                  <a:srgbClr val="1D1D1D"/>
                </a:solidFill>
                <a:latin typeface="Arial"/>
                <a:cs typeface="Arial"/>
              </a:rPr>
              <a:t> </a:t>
            </a:r>
            <a:r>
              <a:rPr dirty="0">
                <a:solidFill>
                  <a:srgbClr val="1D1D1D"/>
                </a:solidFill>
                <a:latin typeface="Arial"/>
                <a:cs typeface="Arial"/>
              </a:rPr>
              <a:t>of</a:t>
            </a:r>
            <a:r>
              <a:rPr spc="229" dirty="0">
                <a:solidFill>
                  <a:srgbClr val="1D1D1D"/>
                </a:solidFill>
                <a:latin typeface="Arial"/>
                <a:cs typeface="Arial"/>
              </a:rPr>
              <a:t> </a:t>
            </a:r>
            <a:r>
              <a:rPr dirty="0">
                <a:solidFill>
                  <a:srgbClr val="0A0A0A"/>
                </a:solidFill>
                <a:latin typeface="Arial"/>
                <a:cs typeface="Arial"/>
              </a:rPr>
              <a:t>the</a:t>
            </a:r>
            <a:r>
              <a:rPr spc="215" dirty="0">
                <a:solidFill>
                  <a:srgbClr val="0A0A0A"/>
                </a:solidFill>
                <a:latin typeface="Arial"/>
                <a:cs typeface="Arial"/>
              </a:rPr>
              <a:t> </a:t>
            </a:r>
            <a:r>
              <a:rPr spc="-10" dirty="0">
                <a:solidFill>
                  <a:srgbClr val="0A0A0A"/>
                </a:solidFill>
                <a:latin typeface="Arial"/>
                <a:cs typeface="Arial"/>
              </a:rPr>
              <a:t>process</a:t>
            </a:r>
            <a:endParaRPr dirty="0">
              <a:latin typeface="Arial"/>
              <a:cs typeface="Arial"/>
            </a:endParaRPr>
          </a:p>
          <a:p>
            <a:pPr marL="400685" indent="-387985">
              <a:lnSpc>
                <a:spcPct val="100000"/>
              </a:lnSpc>
              <a:spcBef>
                <a:spcPts val="655"/>
              </a:spcBef>
              <a:buChar char="•"/>
              <a:tabLst>
                <a:tab pos="400685" algn="l"/>
              </a:tabLst>
            </a:pPr>
            <a:r>
              <a:rPr dirty="0">
                <a:solidFill>
                  <a:srgbClr val="0A0A0A"/>
                </a:solidFill>
                <a:latin typeface="Arial"/>
                <a:cs typeface="Arial"/>
              </a:rPr>
              <a:t>Determine</a:t>
            </a:r>
            <a:r>
              <a:rPr spc="110" dirty="0">
                <a:solidFill>
                  <a:srgbClr val="0A0A0A"/>
                </a:solidFill>
                <a:latin typeface="Arial"/>
                <a:cs typeface="Arial"/>
              </a:rPr>
              <a:t> </a:t>
            </a:r>
            <a:r>
              <a:rPr dirty="0">
                <a:solidFill>
                  <a:srgbClr val="0A0A0A"/>
                </a:solidFill>
                <a:latin typeface="Arial"/>
                <a:cs typeface="Arial"/>
              </a:rPr>
              <a:t>the</a:t>
            </a:r>
            <a:r>
              <a:rPr spc="175" dirty="0">
                <a:solidFill>
                  <a:srgbClr val="0A0A0A"/>
                </a:solidFill>
                <a:latin typeface="Arial"/>
                <a:cs typeface="Arial"/>
              </a:rPr>
              <a:t> </a:t>
            </a:r>
            <a:r>
              <a:rPr spc="50" dirty="0">
                <a:solidFill>
                  <a:srgbClr val="0A0A0A"/>
                </a:solidFill>
                <a:latin typeface="Arial"/>
                <a:cs typeface="Arial"/>
              </a:rPr>
              <a:t>roles</a:t>
            </a:r>
            <a:r>
              <a:rPr spc="-100" dirty="0">
                <a:solidFill>
                  <a:srgbClr val="0A0A0A"/>
                </a:solidFill>
                <a:latin typeface="Arial"/>
                <a:cs typeface="Arial"/>
              </a:rPr>
              <a:t> </a:t>
            </a:r>
            <a:r>
              <a:rPr spc="50" dirty="0">
                <a:solidFill>
                  <a:srgbClr val="0A0A0A"/>
                </a:solidFill>
                <a:latin typeface="Arial"/>
                <a:cs typeface="Arial"/>
              </a:rPr>
              <a:t>participating</a:t>
            </a:r>
            <a:r>
              <a:rPr spc="110" dirty="0">
                <a:solidFill>
                  <a:srgbClr val="0A0A0A"/>
                </a:solidFill>
                <a:latin typeface="Arial"/>
                <a:cs typeface="Arial"/>
              </a:rPr>
              <a:t> </a:t>
            </a:r>
            <a:r>
              <a:rPr spc="50" dirty="0">
                <a:solidFill>
                  <a:srgbClr val="0A0A0A"/>
                </a:solidFill>
                <a:latin typeface="Arial"/>
                <a:cs typeface="Arial"/>
              </a:rPr>
              <a:t>in</a:t>
            </a:r>
            <a:r>
              <a:rPr spc="105" dirty="0">
                <a:solidFill>
                  <a:srgbClr val="0A0A0A"/>
                </a:solidFill>
                <a:latin typeface="Arial"/>
                <a:cs typeface="Arial"/>
              </a:rPr>
              <a:t> </a:t>
            </a:r>
            <a:r>
              <a:rPr spc="60" dirty="0">
                <a:solidFill>
                  <a:srgbClr val="0A0A0A"/>
                </a:solidFill>
                <a:latin typeface="Arial"/>
                <a:cs typeface="Arial"/>
              </a:rPr>
              <a:t>the</a:t>
            </a:r>
            <a:r>
              <a:rPr spc="200" dirty="0">
                <a:solidFill>
                  <a:srgbClr val="0A0A0A"/>
                </a:solidFill>
                <a:latin typeface="Arial"/>
                <a:cs typeface="Arial"/>
              </a:rPr>
              <a:t> </a:t>
            </a:r>
            <a:r>
              <a:rPr spc="-10" dirty="0">
                <a:solidFill>
                  <a:srgbClr val="0A0A0A"/>
                </a:solidFill>
                <a:latin typeface="Arial"/>
                <a:cs typeface="Arial"/>
              </a:rPr>
              <a:t>process</a:t>
            </a:r>
            <a:endParaRPr dirty="0">
              <a:latin typeface="Arial"/>
              <a:cs typeface="Arial"/>
            </a:endParaRPr>
          </a:p>
          <a:p>
            <a:pPr marL="847090" lvl="1" indent="-334645">
              <a:lnSpc>
                <a:spcPct val="100000"/>
              </a:lnSpc>
              <a:spcBef>
                <a:spcPts val="670"/>
              </a:spcBef>
              <a:buChar char="-"/>
              <a:tabLst>
                <a:tab pos="847090" algn="l"/>
              </a:tabLst>
            </a:pPr>
            <a:r>
              <a:rPr spc="-20" dirty="0">
                <a:solidFill>
                  <a:srgbClr val="0A0A0A"/>
                </a:solidFill>
                <a:latin typeface="Arial"/>
                <a:cs typeface="Arial"/>
              </a:rPr>
              <a:t>Roles</a:t>
            </a:r>
            <a:r>
              <a:rPr spc="30" dirty="0">
                <a:solidFill>
                  <a:srgbClr val="0A0A0A"/>
                </a:solidFill>
                <a:latin typeface="Arial"/>
                <a:cs typeface="Arial"/>
              </a:rPr>
              <a:t> </a:t>
            </a:r>
            <a:r>
              <a:rPr spc="55" dirty="0">
                <a:solidFill>
                  <a:srgbClr val="1D1D1D"/>
                </a:solidFill>
                <a:latin typeface="Arial"/>
                <a:cs typeface="Arial"/>
              </a:rPr>
              <a:t>become</a:t>
            </a:r>
            <a:r>
              <a:rPr spc="185" dirty="0">
                <a:solidFill>
                  <a:srgbClr val="1D1D1D"/>
                </a:solidFill>
                <a:latin typeface="Arial"/>
                <a:cs typeface="Arial"/>
              </a:rPr>
              <a:t> </a:t>
            </a:r>
            <a:r>
              <a:rPr spc="55" dirty="0">
                <a:solidFill>
                  <a:srgbClr val="0A0A0A"/>
                </a:solidFill>
                <a:latin typeface="Arial"/>
                <a:cs typeface="Arial"/>
              </a:rPr>
              <a:t>horizontal</a:t>
            </a:r>
            <a:r>
              <a:rPr spc="170" dirty="0">
                <a:solidFill>
                  <a:srgbClr val="0A0A0A"/>
                </a:solidFill>
                <a:latin typeface="Arial"/>
                <a:cs typeface="Arial"/>
              </a:rPr>
              <a:t> </a:t>
            </a:r>
            <a:r>
              <a:rPr dirty="0">
                <a:solidFill>
                  <a:srgbClr val="0A0A0A"/>
                </a:solidFill>
                <a:latin typeface="Arial"/>
                <a:cs typeface="Arial"/>
              </a:rPr>
              <a:t>bands</a:t>
            </a:r>
            <a:r>
              <a:rPr spc="70" dirty="0">
                <a:solidFill>
                  <a:srgbClr val="0A0A0A"/>
                </a:solidFill>
                <a:latin typeface="Arial"/>
                <a:cs typeface="Arial"/>
              </a:rPr>
              <a:t> </a:t>
            </a:r>
            <a:r>
              <a:rPr dirty="0">
                <a:solidFill>
                  <a:srgbClr val="1D1D1D"/>
                </a:solidFill>
                <a:latin typeface="Arial"/>
                <a:cs typeface="Arial"/>
              </a:rPr>
              <a:t>called</a:t>
            </a:r>
            <a:r>
              <a:rPr spc="125" dirty="0">
                <a:solidFill>
                  <a:srgbClr val="1D1D1D"/>
                </a:solidFill>
                <a:latin typeface="Arial"/>
                <a:cs typeface="Arial"/>
              </a:rPr>
              <a:t> </a:t>
            </a:r>
            <a:r>
              <a:rPr b="1" dirty="0">
                <a:solidFill>
                  <a:srgbClr val="2F879C"/>
                </a:solidFill>
                <a:latin typeface="Arial"/>
                <a:cs typeface="Arial"/>
              </a:rPr>
              <a:t>swim</a:t>
            </a:r>
            <a:r>
              <a:rPr b="1" spc="85" dirty="0">
                <a:solidFill>
                  <a:srgbClr val="2F879C"/>
                </a:solidFill>
                <a:latin typeface="Arial"/>
                <a:cs typeface="Arial"/>
              </a:rPr>
              <a:t> </a:t>
            </a:r>
            <a:r>
              <a:rPr b="1" spc="-10" dirty="0">
                <a:solidFill>
                  <a:srgbClr val="2F879C"/>
                </a:solidFill>
                <a:latin typeface="Arial"/>
                <a:cs typeface="Arial"/>
              </a:rPr>
              <a:t>lanes</a:t>
            </a:r>
            <a:endParaRPr dirty="0">
              <a:latin typeface="Arial"/>
              <a:cs typeface="Arial"/>
            </a:endParaRPr>
          </a:p>
          <a:p>
            <a:pPr marL="393065" marR="343535" indent="-381000">
              <a:lnSpc>
                <a:spcPct val="104400"/>
              </a:lnSpc>
              <a:spcBef>
                <a:spcPts val="440"/>
              </a:spcBef>
              <a:buChar char="•"/>
              <a:tabLst>
                <a:tab pos="393065" algn="l"/>
                <a:tab pos="400685" algn="l"/>
              </a:tabLst>
            </a:pPr>
            <a:r>
              <a:rPr dirty="0">
                <a:solidFill>
                  <a:srgbClr val="0A0A0A"/>
                </a:solidFill>
                <a:latin typeface="Arial"/>
                <a:cs typeface="Arial"/>
              </a:rPr>
              <a:t>	Determine</a:t>
            </a:r>
            <a:r>
              <a:rPr spc="110" dirty="0">
                <a:solidFill>
                  <a:srgbClr val="0A0A0A"/>
                </a:solidFill>
                <a:latin typeface="Arial"/>
                <a:cs typeface="Arial"/>
              </a:rPr>
              <a:t> </a:t>
            </a:r>
            <a:r>
              <a:rPr dirty="0">
                <a:solidFill>
                  <a:srgbClr val="0A0A0A"/>
                </a:solidFill>
                <a:latin typeface="Arial"/>
                <a:cs typeface="Arial"/>
              </a:rPr>
              <a:t>the</a:t>
            </a:r>
            <a:r>
              <a:rPr spc="200" dirty="0">
                <a:solidFill>
                  <a:srgbClr val="0A0A0A"/>
                </a:solidFill>
                <a:latin typeface="Arial"/>
                <a:cs typeface="Arial"/>
              </a:rPr>
              <a:t> </a:t>
            </a:r>
            <a:r>
              <a:rPr b="1" dirty="0">
                <a:solidFill>
                  <a:srgbClr val="2F879C"/>
                </a:solidFill>
                <a:latin typeface="Arial"/>
                <a:cs typeface="Arial"/>
              </a:rPr>
              <a:t>trigger</a:t>
            </a:r>
            <a:r>
              <a:rPr b="1" dirty="0">
                <a:solidFill>
                  <a:srgbClr val="1D1D1D"/>
                </a:solidFill>
                <a:latin typeface="Arial"/>
                <a:cs typeface="Arial"/>
              </a:rPr>
              <a:t>,</a:t>
            </a:r>
            <a:r>
              <a:rPr b="1" spc="165" dirty="0">
                <a:solidFill>
                  <a:srgbClr val="1D1D1D"/>
                </a:solidFill>
                <a:latin typeface="Arial"/>
                <a:cs typeface="Arial"/>
              </a:rPr>
              <a:t> </a:t>
            </a:r>
            <a:r>
              <a:rPr dirty="0">
                <a:solidFill>
                  <a:srgbClr val="0A0A0A"/>
                </a:solidFill>
                <a:latin typeface="Arial"/>
                <a:cs typeface="Arial"/>
              </a:rPr>
              <a:t>the</a:t>
            </a:r>
            <a:r>
              <a:rPr spc="345" dirty="0">
                <a:solidFill>
                  <a:srgbClr val="0A0A0A"/>
                </a:solidFill>
                <a:latin typeface="Arial"/>
                <a:cs typeface="Arial"/>
              </a:rPr>
              <a:t> </a:t>
            </a:r>
            <a:r>
              <a:rPr dirty="0">
                <a:solidFill>
                  <a:srgbClr val="1D1D1D"/>
                </a:solidFill>
                <a:latin typeface="Arial"/>
                <a:cs typeface="Arial"/>
              </a:rPr>
              <a:t>event</a:t>
            </a:r>
            <a:r>
              <a:rPr spc="160" dirty="0">
                <a:solidFill>
                  <a:srgbClr val="1D1D1D"/>
                </a:solidFill>
                <a:latin typeface="Arial"/>
                <a:cs typeface="Arial"/>
              </a:rPr>
              <a:t> </a:t>
            </a:r>
            <a:r>
              <a:rPr spc="105" dirty="0">
                <a:solidFill>
                  <a:srgbClr val="0A0A0A"/>
                </a:solidFill>
                <a:latin typeface="Arial"/>
                <a:cs typeface="Arial"/>
              </a:rPr>
              <a:t>that</a:t>
            </a:r>
            <a:r>
              <a:rPr spc="55" dirty="0">
                <a:solidFill>
                  <a:srgbClr val="0A0A0A"/>
                </a:solidFill>
                <a:latin typeface="Arial"/>
                <a:cs typeface="Arial"/>
              </a:rPr>
              <a:t> </a:t>
            </a:r>
            <a:r>
              <a:rPr spc="50" dirty="0">
                <a:solidFill>
                  <a:srgbClr val="0A0A0A"/>
                </a:solidFill>
                <a:latin typeface="Arial"/>
                <a:cs typeface="Arial"/>
              </a:rPr>
              <a:t>must</a:t>
            </a:r>
            <a:r>
              <a:rPr spc="45" dirty="0">
                <a:solidFill>
                  <a:srgbClr val="0A0A0A"/>
                </a:solidFill>
                <a:latin typeface="Arial"/>
                <a:cs typeface="Arial"/>
              </a:rPr>
              <a:t> </a:t>
            </a:r>
            <a:r>
              <a:rPr dirty="0">
                <a:solidFill>
                  <a:srgbClr val="1D1D1D"/>
                </a:solidFill>
                <a:latin typeface="Arial"/>
                <a:cs typeface="Arial"/>
              </a:rPr>
              <a:t>occur</a:t>
            </a:r>
            <a:r>
              <a:rPr spc="80" dirty="0">
                <a:solidFill>
                  <a:srgbClr val="1D1D1D"/>
                </a:solidFill>
                <a:latin typeface="Arial"/>
                <a:cs typeface="Arial"/>
              </a:rPr>
              <a:t> </a:t>
            </a:r>
            <a:r>
              <a:rPr dirty="0">
                <a:solidFill>
                  <a:srgbClr val="0A0A0A"/>
                </a:solidFill>
                <a:latin typeface="Arial"/>
                <a:cs typeface="Arial"/>
              </a:rPr>
              <a:t>to</a:t>
            </a:r>
            <a:r>
              <a:rPr spc="225" dirty="0">
                <a:solidFill>
                  <a:srgbClr val="0A0A0A"/>
                </a:solidFill>
                <a:latin typeface="Arial"/>
                <a:cs typeface="Arial"/>
              </a:rPr>
              <a:t> </a:t>
            </a:r>
            <a:r>
              <a:rPr spc="60" dirty="0">
                <a:solidFill>
                  <a:srgbClr val="1D1D1D"/>
                </a:solidFill>
                <a:latin typeface="Arial"/>
                <a:cs typeface="Arial"/>
              </a:rPr>
              <a:t>get</a:t>
            </a:r>
            <a:r>
              <a:rPr spc="80" dirty="0">
                <a:solidFill>
                  <a:srgbClr val="1D1D1D"/>
                </a:solidFill>
                <a:latin typeface="Arial"/>
                <a:cs typeface="Arial"/>
              </a:rPr>
              <a:t> </a:t>
            </a:r>
            <a:r>
              <a:rPr spc="80" dirty="0">
                <a:solidFill>
                  <a:srgbClr val="0A0A0A"/>
                </a:solidFill>
                <a:latin typeface="Arial"/>
                <a:cs typeface="Arial"/>
              </a:rPr>
              <a:t>the</a:t>
            </a:r>
            <a:r>
              <a:rPr spc="30" dirty="0">
                <a:solidFill>
                  <a:srgbClr val="0A0A0A"/>
                </a:solidFill>
                <a:latin typeface="Arial"/>
                <a:cs typeface="Arial"/>
              </a:rPr>
              <a:t> </a:t>
            </a:r>
            <a:r>
              <a:rPr spc="-10" dirty="0">
                <a:solidFill>
                  <a:srgbClr val="0A0A0A"/>
                </a:solidFill>
                <a:latin typeface="Arial"/>
                <a:cs typeface="Arial"/>
              </a:rPr>
              <a:t>process </a:t>
            </a:r>
            <a:r>
              <a:rPr spc="45" dirty="0">
                <a:solidFill>
                  <a:srgbClr val="1D1D1D"/>
                </a:solidFill>
                <a:latin typeface="Arial"/>
                <a:cs typeface="Arial"/>
              </a:rPr>
              <a:t>started</a:t>
            </a:r>
            <a:endParaRPr dirty="0">
              <a:latin typeface="Arial"/>
              <a:cs typeface="Arial"/>
            </a:endParaRPr>
          </a:p>
          <a:p>
            <a:pPr marL="840105" lvl="1" indent="-327660">
              <a:lnSpc>
                <a:spcPct val="100000"/>
              </a:lnSpc>
              <a:spcBef>
                <a:spcPts val="595"/>
              </a:spcBef>
              <a:buChar char="-"/>
              <a:tabLst>
                <a:tab pos="840105" algn="l"/>
              </a:tabLst>
            </a:pPr>
            <a:r>
              <a:rPr dirty="0">
                <a:solidFill>
                  <a:srgbClr val="0A0A0A"/>
                </a:solidFill>
                <a:latin typeface="Arial"/>
                <a:cs typeface="Arial"/>
              </a:rPr>
              <a:t>The</a:t>
            </a:r>
            <a:r>
              <a:rPr spc="25" dirty="0">
                <a:solidFill>
                  <a:srgbClr val="0A0A0A"/>
                </a:solidFill>
                <a:latin typeface="Arial"/>
                <a:cs typeface="Arial"/>
              </a:rPr>
              <a:t> </a:t>
            </a:r>
            <a:r>
              <a:rPr spc="65" dirty="0">
                <a:solidFill>
                  <a:srgbClr val="1D1D1D"/>
                </a:solidFill>
                <a:latin typeface="Arial"/>
                <a:cs typeface="Arial"/>
              </a:rPr>
              <a:t>trigger</a:t>
            </a:r>
            <a:r>
              <a:rPr spc="155" dirty="0">
                <a:solidFill>
                  <a:srgbClr val="1D1D1D"/>
                </a:solidFill>
                <a:latin typeface="Arial"/>
                <a:cs typeface="Arial"/>
              </a:rPr>
              <a:t> </a:t>
            </a:r>
            <a:r>
              <a:rPr dirty="0">
                <a:solidFill>
                  <a:srgbClr val="1D1D1D"/>
                </a:solidFill>
                <a:latin typeface="Arial"/>
                <a:cs typeface="Arial"/>
              </a:rPr>
              <a:t>should</a:t>
            </a:r>
            <a:r>
              <a:rPr spc="110" dirty="0">
                <a:solidFill>
                  <a:srgbClr val="1D1D1D"/>
                </a:solidFill>
                <a:latin typeface="Arial"/>
                <a:cs typeface="Arial"/>
              </a:rPr>
              <a:t> </a:t>
            </a:r>
            <a:r>
              <a:rPr spc="85" dirty="0">
                <a:solidFill>
                  <a:srgbClr val="0A0A0A"/>
                </a:solidFill>
                <a:latin typeface="Arial"/>
                <a:cs typeface="Arial"/>
              </a:rPr>
              <a:t>be</a:t>
            </a:r>
            <a:r>
              <a:rPr spc="-100" dirty="0">
                <a:solidFill>
                  <a:srgbClr val="0A0A0A"/>
                </a:solidFill>
                <a:latin typeface="Arial"/>
                <a:cs typeface="Arial"/>
              </a:rPr>
              <a:t> </a:t>
            </a:r>
            <a:r>
              <a:rPr spc="60" dirty="0">
                <a:solidFill>
                  <a:srgbClr val="0A0A0A"/>
                </a:solidFill>
                <a:latin typeface="Arial"/>
                <a:cs typeface="Arial"/>
              </a:rPr>
              <a:t>in</a:t>
            </a:r>
            <a:r>
              <a:rPr spc="120" dirty="0">
                <a:solidFill>
                  <a:srgbClr val="0A0A0A"/>
                </a:solidFill>
                <a:latin typeface="Arial"/>
                <a:cs typeface="Arial"/>
              </a:rPr>
              <a:t> </a:t>
            </a:r>
            <a:r>
              <a:rPr spc="70" dirty="0">
                <a:solidFill>
                  <a:srgbClr val="0A0A0A"/>
                </a:solidFill>
                <a:latin typeface="Arial"/>
                <a:cs typeface="Arial"/>
              </a:rPr>
              <a:t>the</a:t>
            </a:r>
            <a:r>
              <a:rPr spc="165" dirty="0">
                <a:solidFill>
                  <a:srgbClr val="0A0A0A"/>
                </a:solidFill>
                <a:latin typeface="Arial"/>
                <a:cs typeface="Arial"/>
              </a:rPr>
              <a:t> </a:t>
            </a:r>
            <a:r>
              <a:rPr spc="55" dirty="0">
                <a:solidFill>
                  <a:srgbClr val="1D1D1D"/>
                </a:solidFill>
                <a:latin typeface="Arial"/>
                <a:cs typeface="Arial"/>
              </a:rPr>
              <a:t>first</a:t>
            </a:r>
            <a:r>
              <a:rPr spc="85" dirty="0">
                <a:solidFill>
                  <a:srgbClr val="1D1D1D"/>
                </a:solidFill>
                <a:latin typeface="Arial"/>
                <a:cs typeface="Arial"/>
              </a:rPr>
              <a:t> </a:t>
            </a:r>
            <a:r>
              <a:rPr spc="80" dirty="0">
                <a:solidFill>
                  <a:srgbClr val="1D1D1D"/>
                </a:solidFill>
                <a:latin typeface="Arial"/>
                <a:cs typeface="Arial"/>
              </a:rPr>
              <a:t>swim</a:t>
            </a:r>
            <a:r>
              <a:rPr spc="5" dirty="0">
                <a:solidFill>
                  <a:srgbClr val="1D1D1D"/>
                </a:solidFill>
                <a:latin typeface="Arial"/>
                <a:cs typeface="Arial"/>
              </a:rPr>
              <a:t> </a:t>
            </a:r>
            <a:r>
              <a:rPr spc="-20" dirty="0">
                <a:solidFill>
                  <a:srgbClr val="0A0A0A"/>
                </a:solidFill>
                <a:latin typeface="Arial"/>
                <a:cs typeface="Arial"/>
              </a:rPr>
              <a:t>lane</a:t>
            </a:r>
            <a:endParaRPr dirty="0">
              <a:latin typeface="Arial"/>
              <a:cs typeface="Arial"/>
            </a:endParaRPr>
          </a:p>
          <a:p>
            <a:pPr marL="400685" marR="5080" indent="-388620">
              <a:lnSpc>
                <a:spcPct val="101299"/>
              </a:lnSpc>
              <a:spcBef>
                <a:spcPts val="595"/>
              </a:spcBef>
              <a:buChar char="•"/>
              <a:tabLst>
                <a:tab pos="402590" algn="l"/>
              </a:tabLst>
            </a:pPr>
            <a:r>
              <a:rPr lang="en-US" spc="-25" dirty="0" smtClean="0">
                <a:solidFill>
                  <a:srgbClr val="0A0A0A"/>
                </a:solidFill>
                <a:latin typeface="Arial"/>
                <a:cs typeface="Arial"/>
              </a:rPr>
              <a:t>Organize the process map so that activities move either to the right, down, or up.</a:t>
            </a:r>
          </a:p>
          <a:p>
            <a:pPr marL="400685" marR="5080" indent="-388620">
              <a:lnSpc>
                <a:spcPct val="101299"/>
              </a:lnSpc>
              <a:spcBef>
                <a:spcPts val="595"/>
              </a:spcBef>
              <a:buChar char="•"/>
              <a:tabLst>
                <a:tab pos="402590" algn="l"/>
              </a:tabLst>
            </a:pPr>
            <a:r>
              <a:rPr lang="en-US" spc="-25" dirty="0" smtClean="0">
                <a:solidFill>
                  <a:srgbClr val="0A0A0A"/>
                </a:solidFill>
                <a:latin typeface="Arial"/>
                <a:cs typeface="Arial"/>
              </a:rPr>
              <a:t>Use active verbs for activity descriptions such as “enter,” “inspect,” or “input.”</a:t>
            </a:r>
          </a:p>
          <a:p>
            <a:pPr marL="400685" marR="5080" indent="-388620">
              <a:lnSpc>
                <a:spcPct val="101299"/>
              </a:lnSpc>
              <a:spcBef>
                <a:spcPts val="595"/>
              </a:spcBef>
              <a:buChar char="•"/>
              <a:tabLst>
                <a:tab pos="402590" algn="l"/>
              </a:tabLst>
            </a:pPr>
            <a:r>
              <a:rPr lang="en-US" dirty="0" smtClean="0">
                <a:solidFill>
                  <a:srgbClr val="0A0A0A"/>
                </a:solidFill>
                <a:latin typeface="Arial"/>
                <a:cs typeface="Arial"/>
              </a:rPr>
              <a:t>Do not combine completely separate/unrelated steps in an activity.</a:t>
            </a:r>
          </a:p>
          <a:p>
            <a:pPr marL="400685" marR="5080" indent="-388620">
              <a:lnSpc>
                <a:spcPct val="101299"/>
              </a:lnSpc>
              <a:spcBef>
                <a:spcPts val="595"/>
              </a:spcBef>
              <a:buChar char="•"/>
              <a:tabLst>
                <a:tab pos="402590" algn="l"/>
              </a:tabLst>
            </a:pPr>
            <a:r>
              <a:rPr lang="en-US" dirty="0" smtClean="0">
                <a:solidFill>
                  <a:srgbClr val="0A0A0A"/>
                </a:solidFill>
                <a:latin typeface="Arial"/>
                <a:cs typeface="Arial"/>
              </a:rPr>
              <a:t>Write a description of the data, information, or physical flow on the process flow line.</a:t>
            </a:r>
          </a:p>
          <a:p>
            <a:pPr marL="400685" marR="5080" indent="-388620">
              <a:lnSpc>
                <a:spcPct val="101299"/>
              </a:lnSpc>
              <a:spcBef>
                <a:spcPts val="595"/>
              </a:spcBef>
              <a:buChar char="•"/>
              <a:tabLst>
                <a:tab pos="402590" algn="l"/>
              </a:tabLst>
            </a:pPr>
            <a:r>
              <a:rPr lang="en-US" dirty="0" smtClean="0">
                <a:solidFill>
                  <a:srgbClr val="0A0A0A"/>
                </a:solidFill>
                <a:latin typeface="Arial"/>
                <a:cs typeface="Arial"/>
              </a:rPr>
              <a:t> Ask questions within the decision symbols. Label the decision outcomes with “yes” or “no” or similar. </a:t>
            </a:r>
          </a:p>
          <a:p>
            <a:pPr marL="400685" marR="5080" indent="-388620">
              <a:lnSpc>
                <a:spcPct val="101299"/>
              </a:lnSpc>
              <a:spcBef>
                <a:spcPts val="595"/>
              </a:spcBef>
              <a:buChar char="•"/>
              <a:tabLst>
                <a:tab pos="402590" algn="l"/>
              </a:tabLst>
            </a:pPr>
            <a:r>
              <a:rPr lang="en-US" dirty="0" smtClean="0">
                <a:solidFill>
                  <a:srgbClr val="0A0A0A"/>
                </a:solidFill>
                <a:latin typeface="Arial"/>
                <a:cs typeface="Arial"/>
              </a:rPr>
              <a:t>Capture information about which systems or ERP modules support the process and note their names within activity or decision symbols.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6618" y="450143"/>
            <a:ext cx="9916582" cy="630942"/>
          </a:xfrm>
          <a:prstGeom prst="rect">
            <a:avLst/>
          </a:prstGeom>
        </p:spPr>
        <p:txBody>
          <a:bodyPr vert="horz" wrap="square" lIns="0" tIns="15240" rIns="0" bIns="0" rtlCol="0">
            <a:spAutoFit/>
          </a:bodyPr>
          <a:lstStyle/>
          <a:p>
            <a:pPr marL="67945">
              <a:lnSpc>
                <a:spcPct val="100000"/>
              </a:lnSpc>
              <a:spcBef>
                <a:spcPts val="120"/>
              </a:spcBef>
            </a:pPr>
            <a:r>
              <a:rPr lang="en-US" sz="4000" dirty="0"/>
              <a:t>Process Map Example – Electric City</a:t>
            </a:r>
            <a:endParaRPr sz="4050" dirty="0">
              <a:latin typeface="Times New Roman"/>
              <a:cs typeface="Times New Roman"/>
            </a:endParaRPr>
          </a:p>
        </p:txBody>
      </p:sp>
      <p:pic>
        <p:nvPicPr>
          <p:cNvPr id="4" name="Picture 3"/>
          <p:cNvPicPr>
            <a:picLocks noChangeAspect="1"/>
          </p:cNvPicPr>
          <p:nvPr/>
        </p:nvPicPr>
        <p:blipFill>
          <a:blip r:embed="rId2"/>
          <a:stretch>
            <a:fillRect/>
          </a:stretch>
        </p:blipFill>
        <p:spPr>
          <a:xfrm>
            <a:off x="200025" y="2190750"/>
            <a:ext cx="9658350" cy="3390900"/>
          </a:xfrm>
          <a:prstGeom prst="rect">
            <a:avLst/>
          </a:prstGeom>
        </p:spPr>
      </p:pic>
    </p:spTree>
    <p:extLst>
      <p:ext uri="{BB962C8B-B14F-4D97-AF65-F5344CB8AC3E}">
        <p14:creationId xmlns:p14="http://schemas.microsoft.com/office/powerpoint/2010/main" val="23684818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6618" y="450143"/>
            <a:ext cx="9916582" cy="1246495"/>
          </a:xfrm>
          <a:prstGeom prst="rect">
            <a:avLst/>
          </a:prstGeom>
        </p:spPr>
        <p:txBody>
          <a:bodyPr vert="horz" wrap="square" lIns="0" tIns="15240" rIns="0" bIns="0" rtlCol="0">
            <a:spAutoFit/>
          </a:bodyPr>
          <a:lstStyle/>
          <a:p>
            <a:pPr marL="67945">
              <a:lnSpc>
                <a:spcPct val="100000"/>
              </a:lnSpc>
              <a:spcBef>
                <a:spcPts val="120"/>
              </a:spcBef>
            </a:pPr>
            <a:r>
              <a:rPr lang="en-US" sz="4000" dirty="0"/>
              <a:t>Steps for Drawing the Electric City Process Map</a:t>
            </a:r>
            <a:endParaRPr sz="4050" dirty="0">
              <a:latin typeface="Times New Roman"/>
              <a:cs typeface="Times New Roman"/>
            </a:endParaRPr>
          </a:p>
        </p:txBody>
      </p:sp>
      <p:pic>
        <p:nvPicPr>
          <p:cNvPr id="3" name="Picture 2"/>
          <p:cNvPicPr>
            <a:picLocks noChangeAspect="1"/>
          </p:cNvPicPr>
          <p:nvPr/>
        </p:nvPicPr>
        <p:blipFill>
          <a:blip r:embed="rId2"/>
          <a:stretch>
            <a:fillRect/>
          </a:stretch>
        </p:blipFill>
        <p:spPr>
          <a:xfrm>
            <a:off x="304800" y="1905000"/>
            <a:ext cx="9563100" cy="1924050"/>
          </a:xfrm>
          <a:prstGeom prst="rect">
            <a:avLst/>
          </a:prstGeom>
        </p:spPr>
      </p:pic>
      <p:pic>
        <p:nvPicPr>
          <p:cNvPr id="5" name="Picture 4"/>
          <p:cNvPicPr>
            <a:picLocks noChangeAspect="1"/>
          </p:cNvPicPr>
          <p:nvPr/>
        </p:nvPicPr>
        <p:blipFill>
          <a:blip r:embed="rId3"/>
          <a:stretch>
            <a:fillRect/>
          </a:stretch>
        </p:blipFill>
        <p:spPr>
          <a:xfrm>
            <a:off x="304800" y="3733800"/>
            <a:ext cx="9686925" cy="1609725"/>
          </a:xfrm>
          <a:prstGeom prst="rect">
            <a:avLst/>
          </a:prstGeom>
        </p:spPr>
      </p:pic>
    </p:spTree>
    <p:extLst>
      <p:ext uri="{BB962C8B-B14F-4D97-AF65-F5344CB8AC3E}">
        <p14:creationId xmlns:p14="http://schemas.microsoft.com/office/powerpoint/2010/main" val="16284656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6618" y="450143"/>
            <a:ext cx="9916582" cy="1246495"/>
          </a:xfrm>
          <a:prstGeom prst="rect">
            <a:avLst/>
          </a:prstGeom>
        </p:spPr>
        <p:txBody>
          <a:bodyPr vert="horz" wrap="square" lIns="0" tIns="15240" rIns="0" bIns="0" rtlCol="0">
            <a:spAutoFit/>
          </a:bodyPr>
          <a:lstStyle/>
          <a:p>
            <a:pPr marL="67945">
              <a:lnSpc>
                <a:spcPct val="100000"/>
              </a:lnSpc>
              <a:spcBef>
                <a:spcPts val="120"/>
              </a:spcBef>
            </a:pPr>
            <a:r>
              <a:rPr lang="en-US" sz="4000" dirty="0"/>
              <a:t>Steps for Drawing the Electric City Process Map</a:t>
            </a:r>
            <a:endParaRPr sz="4050" dirty="0">
              <a:latin typeface="Times New Roman"/>
              <a:cs typeface="Times New Roman"/>
            </a:endParaRPr>
          </a:p>
        </p:txBody>
      </p:sp>
      <p:pic>
        <p:nvPicPr>
          <p:cNvPr id="4" name="Picture 3"/>
          <p:cNvPicPr>
            <a:picLocks noChangeAspect="1"/>
          </p:cNvPicPr>
          <p:nvPr/>
        </p:nvPicPr>
        <p:blipFill>
          <a:blip r:embed="rId2"/>
          <a:stretch>
            <a:fillRect/>
          </a:stretch>
        </p:blipFill>
        <p:spPr>
          <a:xfrm>
            <a:off x="914400" y="1750331"/>
            <a:ext cx="8458200" cy="5426756"/>
          </a:xfrm>
          <a:prstGeom prst="rect">
            <a:avLst/>
          </a:prstGeom>
        </p:spPr>
      </p:pic>
    </p:spTree>
    <p:extLst>
      <p:ext uri="{BB962C8B-B14F-4D97-AF65-F5344CB8AC3E}">
        <p14:creationId xmlns:p14="http://schemas.microsoft.com/office/powerpoint/2010/main" val="348674989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172</TotalTime>
  <Words>660</Words>
  <Application>Microsoft Office PowerPoint</Application>
  <PresentationFormat>Custom</PresentationFormat>
  <Paragraphs>98</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Times New Roman</vt:lpstr>
      <vt:lpstr>Office Theme</vt:lpstr>
      <vt:lpstr>MODERN ERP</vt:lpstr>
      <vt:lpstr>Objectives</vt:lpstr>
      <vt:lpstr>Introduction </vt:lpstr>
      <vt:lpstr>Systems Diagrams </vt:lpstr>
      <vt:lpstr>Importance of Systems Diagramming</vt:lpstr>
      <vt:lpstr>Process Maps</vt:lpstr>
      <vt:lpstr>Process Maps</vt:lpstr>
      <vt:lpstr>Process Maps</vt:lpstr>
      <vt:lpstr>Process Map Symbols</vt:lpstr>
      <vt:lpstr>Gathering Information for a Process Map</vt:lpstr>
      <vt:lpstr>Process Mapping Roles</vt:lpstr>
      <vt:lpstr>Steps for Drawing Process Maps</vt:lpstr>
      <vt:lpstr>Process Map Example – Electric City</vt:lpstr>
      <vt:lpstr>Steps for Drawing the Electric City Process Map</vt:lpstr>
      <vt:lpstr>Steps for Drawing the Electric City Process Map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presentations.pdf</dc:title>
  <dc:creator>yucc</dc:creator>
  <cp:lastModifiedBy>yucc</cp:lastModifiedBy>
  <cp:revision>42</cp:revision>
  <dcterms:created xsi:type="dcterms:W3CDTF">2023-12-01T21:04:10Z</dcterms:created>
  <dcterms:modified xsi:type="dcterms:W3CDTF">2024-09-29T11:37:59Z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2022-02-25T00:00:00Z</vt:filetime>
  </property>
  <property fmtid="{D5CDD505-2E9C-101B-9397-08002B2CF9AE}" pid="3" name="LastSaved">
    <vt:filetime>2023-12-01T00:00:00Z</vt:filetime>
  </property>
  <property fmtid="{D5CDD505-2E9C-101B-9397-08002B2CF9AE}" pid="4" name="Producer">
    <vt:lpwstr>Microsoft: Print To PDF</vt:lpwstr>
  </property>
</Properties>
</file>