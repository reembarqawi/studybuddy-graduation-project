
<file path=[Content_Types].xml><?xml version="1.0" encoding="utf-8"?>
<Types xmlns="http://schemas.openxmlformats.org/package/2006/content-types">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4"/>
  </p:notesMasterIdLst>
  <p:handoutMasterIdLst>
    <p:handoutMasterId r:id="rId45"/>
  </p:handoutMasterIdLst>
  <p:sldIdLst>
    <p:sldId id="292" r:id="rId2"/>
    <p:sldId id="258" r:id="rId3"/>
    <p:sldId id="414" r:id="rId4"/>
    <p:sldId id="421" r:id="rId5"/>
    <p:sldId id="424" r:id="rId6"/>
    <p:sldId id="425" r:id="rId7"/>
    <p:sldId id="426" r:id="rId8"/>
    <p:sldId id="427" r:id="rId9"/>
    <p:sldId id="428" r:id="rId10"/>
    <p:sldId id="429" r:id="rId11"/>
    <p:sldId id="455" r:id="rId12"/>
    <p:sldId id="461" r:id="rId13"/>
    <p:sldId id="462" r:id="rId14"/>
    <p:sldId id="523" r:id="rId15"/>
    <p:sldId id="524" r:id="rId16"/>
    <p:sldId id="525" r:id="rId17"/>
    <p:sldId id="526" r:id="rId18"/>
    <p:sldId id="527" r:id="rId19"/>
    <p:sldId id="528" r:id="rId20"/>
    <p:sldId id="529" r:id="rId21"/>
    <p:sldId id="530" r:id="rId22"/>
    <p:sldId id="531" r:id="rId23"/>
    <p:sldId id="494" r:id="rId24"/>
    <p:sldId id="495" r:id="rId25"/>
    <p:sldId id="496" r:id="rId26"/>
    <p:sldId id="497" r:id="rId27"/>
    <p:sldId id="544" r:id="rId28"/>
    <p:sldId id="498" r:id="rId29"/>
    <p:sldId id="545" r:id="rId30"/>
    <p:sldId id="548" r:id="rId31"/>
    <p:sldId id="549" r:id="rId32"/>
    <p:sldId id="550" r:id="rId33"/>
    <p:sldId id="551" r:id="rId34"/>
    <p:sldId id="552" r:id="rId35"/>
    <p:sldId id="506" r:id="rId36"/>
    <p:sldId id="553" r:id="rId37"/>
    <p:sldId id="554" r:id="rId38"/>
    <p:sldId id="555" r:id="rId39"/>
    <p:sldId id="556" r:id="rId40"/>
    <p:sldId id="558" r:id="rId41"/>
    <p:sldId id="560" r:id="rId42"/>
    <p:sldId id="514" r:id="rId43"/>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nie Puciloski"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939B"/>
    <a:srgbClr val="BCE2ED"/>
    <a:srgbClr val="95B2BC"/>
    <a:srgbClr val="0092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1320" y="40"/>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11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usra A. Harb" userId="S::yousra.harb@yu.edu.jo::78df01ab-2b13-494f-92f7-4c7388af1163" providerId="AD" clId="Web-{C82E95A7-AE7C-ABA9-BDB6-0DCB70B112EE}"/>
    <pc:docChg chg="mod">
      <pc:chgData name="Yousra A. Harb" userId="S::yousra.harb@yu.edu.jo::78df01ab-2b13-494f-92f7-4c7388af1163" providerId="AD" clId="Web-{C82E95A7-AE7C-ABA9-BDB6-0DCB70B112EE}" dt="2025-02-17T13:13:00.336" v="0" actId="33475"/>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BBD05A22-E339-47D4-AEC7-1B77FA2911EE}" type="datetimeFigureOut">
              <a:rPr lang="en-US"/>
              <a:pPr>
                <a:defRPr/>
              </a:pPr>
              <a:t>2/22/2025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6019A48D-2347-46B1-BE91-76C5A41E76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3D6947A8-E3BB-4432-9C1D-F321222F578A}" type="datetimeFigureOut">
              <a:rPr lang="en-US"/>
              <a:pPr>
                <a:defRPr/>
              </a:pPr>
              <a:t>2/22/2025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388B7D23-4F9B-42AD-AFD3-73483266D169}" type="slidenum">
              <a:rPr lang="en-US"/>
              <a:pPr>
                <a:defRPr/>
              </a:pPr>
              <a:t>‹#›</a:t>
            </a:fld>
            <a:endParaRPr lang="en-US"/>
          </a:p>
        </p:txBody>
      </p:sp>
    </p:spTree>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mn-ea"/>
        <a:cs typeface="+mn-cs"/>
      </a:defRPr>
    </a:lvl1pPr>
    <a:lvl2pPr marL="457200" algn="l" defTabSz="457200" rtl="0" fontAlgn="base">
      <a:spcBef>
        <a:spcPct val="30000"/>
      </a:spcBef>
      <a:spcAft>
        <a:spcPct val="0"/>
      </a:spcAft>
      <a:defRPr sz="1200" kern="1200">
        <a:solidFill>
          <a:schemeClr val="tx1"/>
        </a:solidFill>
        <a:latin typeface="+mn-lt"/>
        <a:ea typeface="+mn-ea"/>
        <a:cs typeface="+mn-cs"/>
      </a:defRPr>
    </a:lvl2pPr>
    <a:lvl3pPr marL="914400" algn="l" defTabSz="457200" rtl="0" fontAlgn="base">
      <a:spcBef>
        <a:spcPct val="30000"/>
      </a:spcBef>
      <a:spcAft>
        <a:spcPct val="0"/>
      </a:spcAft>
      <a:defRPr sz="1200" kern="1200">
        <a:solidFill>
          <a:schemeClr val="tx1"/>
        </a:solidFill>
        <a:latin typeface="+mn-lt"/>
        <a:ea typeface="+mn-ea"/>
        <a:cs typeface="+mn-cs"/>
      </a:defRPr>
    </a:lvl3pPr>
    <a:lvl4pPr marL="1371600" algn="l" defTabSz="457200" rtl="0" fontAlgn="base">
      <a:spcBef>
        <a:spcPct val="30000"/>
      </a:spcBef>
      <a:spcAft>
        <a:spcPct val="0"/>
      </a:spcAft>
      <a:defRPr sz="1200" kern="1200">
        <a:solidFill>
          <a:schemeClr val="tx1"/>
        </a:solidFill>
        <a:latin typeface="+mn-lt"/>
        <a:ea typeface="+mn-ea"/>
        <a:cs typeface="+mn-cs"/>
      </a:defRPr>
    </a:lvl4pPr>
    <a:lvl5pPr marL="1828800" algn="l" defTabSz="457200" rtl="0" fontAlgn="base">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l">
              <a:lnSpc>
                <a:spcPct val="90000"/>
              </a:lnSpc>
              <a:defRPr/>
            </a:lvl1pPr>
          </a:lstStyle>
          <a:p>
            <a:r>
              <a:rPr lang="en-US"/>
              <a:t>Click to edit Master title style</a:t>
            </a:r>
          </a:p>
        </p:txBody>
      </p:sp>
    </p:spTree>
  </p:cSld>
  <p:clrMapOvr>
    <a:masterClrMapping/>
  </p:clrMapOvr>
  <p:transition spd="slow">
    <p:pull dir="l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smtClean="0">
                <a:solidFill>
                  <a:schemeClr val="accent3"/>
                </a:solidFill>
              </a:defRPr>
            </a:lvl1pPr>
          </a:lstStyle>
          <a:p>
            <a:pPr>
              <a:defRPr/>
            </a:pPr>
            <a:r>
              <a:rPr lang="en-US"/>
              <a:t>Copyright ©2015 Pearson Education, Inc.</a:t>
            </a:r>
            <a:endParaRPr lang="en-US" dirty="0"/>
          </a:p>
        </p:txBody>
      </p:sp>
      <p:sp>
        <p:nvSpPr>
          <p:cNvPr id="5" name="Slide Number Placeholder 5"/>
          <p:cNvSpPr>
            <a:spLocks noGrp="1"/>
          </p:cNvSpPr>
          <p:nvPr>
            <p:ph type="sldNum" sz="quarter" idx="11"/>
          </p:nvPr>
        </p:nvSpPr>
        <p:spPr/>
        <p:txBody>
          <a:bodyPr/>
          <a:lstStyle>
            <a:lvl1pPr>
              <a:defRPr dirty="0" smtClean="0">
                <a:solidFill>
                  <a:schemeClr val="accent3"/>
                </a:solidFill>
              </a:defRPr>
            </a:lvl1pPr>
          </a:lstStyle>
          <a:p>
            <a:pPr>
              <a:defRPr/>
            </a:pPr>
            <a:r>
              <a:rPr lang="en-US"/>
              <a:t>2 – </a:t>
            </a:r>
            <a:fld id="{93DC1F56-837A-4E5F-BA6A-058389B78419}" type="slidenum">
              <a:rPr lang="en-US"/>
              <a:pPr>
                <a:defRPr/>
              </a:pPr>
              <a:t>‹#›</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1">
                    <a:tint val="75000"/>
                  </a:schemeClr>
                </a:solidFill>
              </a:defRPr>
            </a:lvl1pPr>
          </a:lstStyle>
          <a:p>
            <a:pPr>
              <a:defRPr/>
            </a:pPr>
            <a:r>
              <a:rPr lang="en-US"/>
              <a:t>Copyright ©2015 Pearson Education, Inc.</a:t>
            </a:r>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9A53E9A-1B97-4F0E-B18B-FDC5BB003A2F}" type="slidenum">
              <a:rPr lang="en-US"/>
              <a:pPr>
                <a:defRPr/>
              </a:pPr>
              <a:t>‹#›</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smtClean="0">
                <a:solidFill>
                  <a:srgbClr val="808080"/>
                </a:solidFill>
              </a:defRPr>
            </a:lvl1pPr>
          </a:lstStyle>
          <a:p>
            <a:pPr>
              <a:defRPr/>
            </a:pPr>
            <a:r>
              <a:rPr lang="en-US"/>
              <a:t>Copyright ©2015 Pearson Education, Inc.</a:t>
            </a:r>
            <a:endParaRPr lang="en-US" dirty="0"/>
          </a:p>
        </p:txBody>
      </p:sp>
      <p:sp>
        <p:nvSpPr>
          <p:cNvPr id="6" name="Slide Number Placeholder 6"/>
          <p:cNvSpPr>
            <a:spLocks noGrp="1"/>
          </p:cNvSpPr>
          <p:nvPr>
            <p:ph type="sldNum" sz="quarter" idx="11"/>
          </p:nvPr>
        </p:nvSpPr>
        <p:spPr/>
        <p:txBody>
          <a:bodyPr/>
          <a:lstStyle>
            <a:lvl1pPr>
              <a:defRPr dirty="0" smtClean="0">
                <a:solidFill>
                  <a:srgbClr val="808080"/>
                </a:solidFill>
              </a:defRPr>
            </a:lvl1pPr>
          </a:lstStyle>
          <a:p>
            <a:pPr>
              <a:defRPr/>
            </a:pPr>
            <a:r>
              <a:rPr lang="en-US"/>
              <a:t>2 – </a:t>
            </a:r>
            <a:fld id="{A6775D30-BB72-49E3-8204-8FADC27BCAB4}" type="slidenum">
              <a:rPr lang="en-US"/>
              <a:pPr>
                <a:defRPr/>
              </a:pPr>
              <a:t>‹#›</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marL="0" marR="0" indent="0" algn="l" defTabSz="457200" rtl="0" eaLnBrk="1" fontAlgn="auto" latinLnBrk="0" hangingPunct="1">
              <a:lnSpc>
                <a:spcPct val="100000"/>
              </a:lnSpc>
              <a:spcBef>
                <a:spcPts val="0"/>
              </a:spcBef>
              <a:spcAft>
                <a:spcPts val="0"/>
              </a:spcAft>
              <a:buClrTx/>
              <a:buSzTx/>
              <a:buFontTx/>
              <a:buNone/>
              <a:tabLst/>
              <a:defRPr smtClean="0">
                <a:solidFill>
                  <a:srgbClr val="808080"/>
                </a:solidFill>
              </a:defRPr>
            </a:lvl1pPr>
          </a:lstStyle>
          <a:p>
            <a:pPr>
              <a:defRPr/>
            </a:pPr>
            <a:r>
              <a:rPr lang="en-US"/>
              <a:t>Copyright ©2015 Pearson Education, Inc.</a:t>
            </a:r>
            <a:endParaRPr lang="en-US" dirty="0"/>
          </a:p>
        </p:txBody>
      </p:sp>
      <p:sp>
        <p:nvSpPr>
          <p:cNvPr id="8" name="Slide Number Placeholder 8"/>
          <p:cNvSpPr>
            <a:spLocks noGrp="1"/>
          </p:cNvSpPr>
          <p:nvPr>
            <p:ph type="sldNum" sz="quarter" idx="11"/>
          </p:nvPr>
        </p:nvSpPr>
        <p:spPr/>
        <p:txBody>
          <a:bodyPr/>
          <a:lstStyle>
            <a:lvl1pPr>
              <a:defRPr dirty="0" smtClean="0">
                <a:solidFill>
                  <a:srgbClr val="808080"/>
                </a:solidFill>
              </a:defRPr>
            </a:lvl1pPr>
          </a:lstStyle>
          <a:p>
            <a:pPr>
              <a:defRPr/>
            </a:pPr>
            <a:r>
              <a:rPr lang="en-US"/>
              <a:t>2 – </a:t>
            </a:r>
            <a:fld id="{8B873392-BA33-41F8-BE33-E23F0A2BF29E}" type="slidenum">
              <a:rPr lang="en-US"/>
              <a:pPr>
                <a:defRPr/>
              </a:pPr>
              <a:t>‹#›</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par>
                          <p:cTn id="12" fill="hold">
                            <p:stCondLst>
                              <p:cond delay="3000"/>
                            </p:stCondLst>
                            <p:childTnLst>
                              <p:par>
                                <p:cTn id="13" presetID="18" presetClass="entr" presetSubtype="6" fill="hold" grpId="0" nodeType="afterEffect">
                                  <p:stCondLst>
                                    <p:cond delay="1000"/>
                                  </p:stCondLst>
                                  <p:childTnLst>
                                    <p:set>
                                      <p:cBhvr>
                                        <p:cTn id="14" dur="1" fill="hold">
                                          <p:stCondLst>
                                            <p:cond delay="0"/>
                                          </p:stCondLst>
                                        </p:cTn>
                                        <p:tgtEl>
                                          <p:spTgt spid="5"/>
                                        </p:tgtEl>
                                        <p:attrNameLst>
                                          <p:attrName>style.visibility</p:attrName>
                                        </p:attrNameLst>
                                      </p:cBhvr>
                                      <p:to>
                                        <p:strVal val="visible"/>
                                      </p:to>
                                    </p:set>
                                    <p:animEffect transition="in" filter="strips(downRight)">
                                      <p:cBhvr>
                                        <p:cTn id="15" dur="500"/>
                                        <p:tgtEl>
                                          <p:spTgt spid="5"/>
                                        </p:tgtEl>
                                      </p:cBhvr>
                                    </p:animEffect>
                                  </p:childTnLst>
                                </p:cTn>
                              </p:par>
                            </p:childTnLst>
                          </p:cTn>
                        </p:par>
                        <p:par>
                          <p:cTn id="16" fill="hold">
                            <p:stCondLst>
                              <p:cond delay="4500"/>
                            </p:stCondLst>
                            <p:childTnLst>
                              <p:par>
                                <p:cTn id="17" presetID="18" presetClass="entr" presetSubtype="6" fill="hold" grpId="0" nodeType="afterEffect">
                                  <p:stCondLst>
                                    <p:cond delay="1000"/>
                                  </p:stCondLst>
                                  <p:childTnLst>
                                    <p:set>
                                      <p:cBhvr>
                                        <p:cTn id="18" dur="1" fill="hold">
                                          <p:stCondLst>
                                            <p:cond delay="0"/>
                                          </p:stCondLst>
                                        </p:cTn>
                                        <p:tgtEl>
                                          <p:spTgt spid="6"/>
                                        </p:tgtEl>
                                        <p:attrNameLst>
                                          <p:attrName>style.visibility</p:attrName>
                                        </p:attrNameLst>
                                      </p:cBhvr>
                                      <p:to>
                                        <p:strVal val="visible"/>
                                      </p:to>
                                    </p:set>
                                    <p:animEffect transition="in" filter="strips(downRight)">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5" grpId="0" autoUpdateAnimBg="0"/>
      <p:bldP spid="6" grpId="0"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showMasterPhAnim="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marL="0" marR="0" indent="0" algn="l" defTabSz="457200" rtl="0" eaLnBrk="1" fontAlgn="auto" latinLnBrk="0" hangingPunct="1">
              <a:lnSpc>
                <a:spcPct val="100000"/>
              </a:lnSpc>
              <a:spcBef>
                <a:spcPts val="0"/>
              </a:spcBef>
              <a:spcAft>
                <a:spcPts val="0"/>
              </a:spcAft>
              <a:buClrTx/>
              <a:buSzTx/>
              <a:buFontTx/>
              <a:buNone/>
              <a:tabLst/>
              <a:defRPr smtClean="0">
                <a:solidFill>
                  <a:srgbClr val="808080"/>
                </a:solidFill>
              </a:defRPr>
            </a:lvl1pPr>
          </a:lstStyle>
          <a:p>
            <a:pPr>
              <a:defRPr/>
            </a:pPr>
            <a:r>
              <a:rPr lang="en-US"/>
              <a:t>Copyright ©2015 Pearson Education, Inc.</a:t>
            </a:r>
            <a:endParaRPr lang="en-US" dirty="0"/>
          </a:p>
        </p:txBody>
      </p:sp>
      <p:sp>
        <p:nvSpPr>
          <p:cNvPr id="4" name="Slide Number Placeholder 4"/>
          <p:cNvSpPr>
            <a:spLocks noGrp="1"/>
          </p:cNvSpPr>
          <p:nvPr>
            <p:ph type="sldNum" sz="quarter" idx="11"/>
          </p:nvPr>
        </p:nvSpPr>
        <p:spPr/>
        <p:txBody>
          <a:bodyPr/>
          <a:lstStyle>
            <a:lvl1pPr>
              <a:defRPr dirty="0" smtClean="0">
                <a:solidFill>
                  <a:srgbClr val="808080"/>
                </a:solidFill>
              </a:defRPr>
            </a:lvl1pPr>
          </a:lstStyle>
          <a:p>
            <a:pPr>
              <a:defRPr/>
            </a:pPr>
            <a:r>
              <a:rPr lang="en-US"/>
              <a:t>2 – </a:t>
            </a:r>
            <a:fld id="{0EF7B0CB-AF6A-49D5-84C3-BD4651665EEE}" type="slidenum">
              <a:rPr lang="en-US"/>
              <a:pPr>
                <a:defRPr/>
              </a:pPr>
              <a:t>‹#›</a:t>
            </a:fld>
            <a:endParaRPr lang="en-US"/>
          </a:p>
        </p:txBody>
      </p:sp>
    </p:spTree>
  </p:cSld>
  <p:clrMapOvr>
    <a:masterClrMapping/>
  </p:clrMapOvr>
  <p:transition spd="slow">
    <p:pull dir="l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marL="0" marR="0" indent="0" algn="l" defTabSz="457200" rtl="0" eaLnBrk="1" fontAlgn="auto" latinLnBrk="0" hangingPunct="1">
              <a:lnSpc>
                <a:spcPct val="100000"/>
              </a:lnSpc>
              <a:spcBef>
                <a:spcPts val="0"/>
              </a:spcBef>
              <a:spcAft>
                <a:spcPts val="0"/>
              </a:spcAft>
              <a:buClrTx/>
              <a:buSzTx/>
              <a:buFontTx/>
              <a:buNone/>
              <a:tabLst/>
              <a:defRPr smtClean="0">
                <a:solidFill>
                  <a:srgbClr val="808080"/>
                </a:solidFill>
              </a:defRPr>
            </a:lvl1pPr>
          </a:lstStyle>
          <a:p>
            <a:pPr>
              <a:defRPr/>
            </a:pPr>
            <a:r>
              <a:rPr lang="en-US"/>
              <a:t>Copyright ©2015 Pearson Education, Inc.</a:t>
            </a:r>
            <a:endParaRPr lang="en-US" dirty="0"/>
          </a:p>
        </p:txBody>
      </p:sp>
      <p:sp>
        <p:nvSpPr>
          <p:cNvPr id="3" name="Slide Number Placeholder 3"/>
          <p:cNvSpPr>
            <a:spLocks noGrp="1"/>
          </p:cNvSpPr>
          <p:nvPr>
            <p:ph type="sldNum" sz="quarter" idx="11"/>
          </p:nvPr>
        </p:nvSpPr>
        <p:spPr/>
        <p:txBody>
          <a:bodyPr/>
          <a:lstStyle>
            <a:lvl1pPr>
              <a:defRPr dirty="0" smtClean="0">
                <a:solidFill>
                  <a:srgbClr val="808080"/>
                </a:solidFill>
              </a:defRPr>
            </a:lvl1pPr>
          </a:lstStyle>
          <a:p>
            <a:pPr>
              <a:defRPr/>
            </a:pPr>
            <a:r>
              <a:rPr lang="en-US"/>
              <a:t>2 – </a:t>
            </a:r>
            <a:fld id="{895A0475-673F-40F4-8590-682D3BC4B864}" type="slidenum">
              <a:rPr lang="en-US"/>
              <a:pPr>
                <a:defRPr/>
              </a:pPr>
              <a:t>‹#›</a:t>
            </a:fld>
            <a:endParaRPr lang="en-US"/>
          </a:p>
        </p:txBody>
      </p:sp>
    </p:spTree>
  </p:cSld>
  <p:clrMapOvr>
    <a:masterClrMapping/>
  </p:clrMapOvr>
  <p:transition spd="slow">
    <p:pull dir="l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1">
                    <a:tint val="75000"/>
                  </a:schemeClr>
                </a:solidFill>
              </a:defRPr>
            </a:lvl1pPr>
          </a:lstStyle>
          <a:p>
            <a:pPr>
              <a:defRPr/>
            </a:pPr>
            <a:r>
              <a:rPr lang="en-US"/>
              <a:t>Copyright ©2015 Pearson Education, Inc.</a:t>
            </a:r>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17D81D85-9686-490F-8FE2-F8A71BF911EF}" type="slidenum">
              <a:rPr lang="en-US"/>
              <a:pPr>
                <a:defRPr/>
              </a:pPr>
              <a:t>‹#›</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1">
                    <a:tint val="75000"/>
                  </a:schemeClr>
                </a:solidFill>
              </a:defRPr>
            </a:lvl1pPr>
          </a:lstStyle>
          <a:p>
            <a:pPr>
              <a:defRPr/>
            </a:pPr>
            <a:r>
              <a:rPr lang="en-US"/>
              <a:t>Copyright ©2015 Pearson Education, Inc.</a:t>
            </a:r>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C23144FB-D249-4406-A18F-610A40EA0E5D}" type="slidenum">
              <a:rPr lang="en-US"/>
              <a:pPr>
                <a:defRPr/>
              </a:pPr>
              <a:t>‹#›</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nodePh="1">
                                  <p:stCondLst>
                                    <p:cond delay="100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showMasterPhAnim="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solidFill>
                  <a:schemeClr val="tx1">
                    <a:tint val="75000"/>
                  </a:schemeClr>
                </a:solidFill>
              </a:defRPr>
            </a:lvl1pPr>
          </a:lstStyle>
          <a:p>
            <a:pPr>
              <a:defRPr/>
            </a:pPr>
            <a:r>
              <a:rPr lang="en-US"/>
              <a:t>Copyright ©2015 Pearson Education, Inc.</a:t>
            </a:r>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4483286-24B3-4E59-A488-861F75AE876C}" type="slidenum">
              <a:rPr lang="en-US"/>
              <a:pPr>
                <a:defRPr/>
              </a:pPr>
              <a:t>‹#›</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showMasterPhAnim="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tint val="75000"/>
                  </a:schemeClr>
                </a:solidFill>
              </a:defRPr>
            </a:lvl1pPr>
          </a:lstStyle>
          <a:p>
            <a:pPr>
              <a:defRPr/>
            </a:pPr>
            <a:r>
              <a:rPr lang="en-US"/>
              <a:t>Copyright ©2015 Pearson Education, Inc.</a:t>
            </a:r>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7918743-81B9-4A3E-A16C-32CFDA2E29A4}" type="slidenum">
              <a:rPr lang="en-US"/>
              <a:pPr>
                <a:defRPr/>
              </a:pPr>
              <a:t>‹#›</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9"/>
          <p:cNvSpPr>
            <a:spLocks noGrp="1" noChangeArrowheads="1"/>
          </p:cNvSpPr>
          <p:nvPr>
            <p:ph type="ftr" sz="quarter" idx="10"/>
          </p:nvPr>
        </p:nvSpPr>
        <p:spPr/>
        <p:txBody>
          <a:bodyPr/>
          <a:lstStyle>
            <a:lvl1pPr>
              <a:defRPr/>
            </a:lvl1pPr>
          </a:lstStyle>
          <a:p>
            <a:pPr>
              <a:defRPr/>
            </a:pPr>
            <a:r>
              <a:rPr lang="en-US"/>
              <a:t>Copyright ©2012 Pearson Education, Inc. publishing as Prentice Hall</a:t>
            </a:r>
          </a:p>
        </p:txBody>
      </p:sp>
      <p:sp>
        <p:nvSpPr>
          <p:cNvPr id="4" name="Rectangle 60"/>
          <p:cNvSpPr>
            <a:spLocks noGrp="1" noChangeArrowheads="1"/>
          </p:cNvSpPr>
          <p:nvPr>
            <p:ph type="sldNum" sz="quarter" idx="11"/>
          </p:nvPr>
        </p:nvSpPr>
        <p:spPr/>
        <p:txBody>
          <a:bodyPr/>
          <a:lstStyle>
            <a:lvl1pPr>
              <a:defRPr/>
            </a:lvl1pPr>
          </a:lstStyle>
          <a:p>
            <a:pPr>
              <a:defRPr/>
            </a:pPr>
            <a:r>
              <a:rPr lang="en-US"/>
              <a:t>7-</a:t>
            </a:r>
            <a:fld id="{85377ED9-F856-4FC0-873E-C69A5BCD822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909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 name="Text Placeholder 2"/>
          <p:cNvSpPr>
            <a:spLocks noGrp="1"/>
          </p:cNvSpPr>
          <p:nvPr>
            <p:ph type="body" idx="1"/>
          </p:nvPr>
        </p:nvSpPr>
        <p:spPr bwMode="auto">
          <a:xfrm>
            <a:off x="673100" y="1600200"/>
            <a:ext cx="78232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819400" cy="365125"/>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1100" smtClean="0">
                <a:solidFill>
                  <a:schemeClr val="accent3"/>
                </a:solidFill>
                <a:latin typeface="Arial"/>
                <a:cs typeface="Arial"/>
              </a:defRPr>
            </a:lvl1pPr>
          </a:lstStyle>
          <a:p>
            <a:pPr>
              <a:defRPr/>
            </a:pPr>
            <a:r>
              <a:rPr lang="en-US"/>
              <a:t>Copyright ©2015 Pearson Education, Inc.</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100" dirty="0" smtClean="0">
                <a:solidFill>
                  <a:schemeClr val="accent3"/>
                </a:solidFill>
                <a:latin typeface="Arial"/>
                <a:cs typeface="Arial"/>
              </a:defRPr>
            </a:lvl1pPr>
          </a:lstStyle>
          <a:p>
            <a:pPr>
              <a:defRPr/>
            </a:pPr>
            <a:r>
              <a:rPr lang="en-US"/>
              <a:t>2 – </a:t>
            </a:r>
            <a:fld id="{247FABD3-6D19-43AD-B0BC-084FD21A1DCB}" type="slidenum">
              <a:rPr lang="en-US"/>
              <a:pPr>
                <a:defRPr/>
              </a:pPr>
              <a:t>‹#›</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tmplLst>
          <p:tmpl>
            <p:tnLst>
              <p:par>
                <p:cTn presetID="18" presetClass="entr" presetSubtype="6" fill="hold" nodeType="afterEffect">
                  <p:stCondLst>
                    <p:cond delay="1000"/>
                  </p:stCondLst>
                  <p:childTnLst>
                    <p:set>
                      <p:cBhvr>
                        <p:cTn dur="1" fill="hold">
                          <p:stCondLst>
                            <p:cond delay="0"/>
                          </p:stCondLst>
                        </p:cTn>
                        <p:tgtEl>
                          <p:spTgt spid="3"/>
                        </p:tgtEl>
                        <p:attrNameLst>
                          <p:attrName>style.visibility</p:attrName>
                        </p:attrNameLst>
                      </p:cBhvr>
                      <p:to>
                        <p:strVal val="visible"/>
                      </p:to>
                    </p:set>
                    <p:animEffect transition="in" filter="strips(downRight)">
                      <p:cBhvr>
                        <p:cTn dur="1000"/>
                        <p:tgtEl>
                          <p:spTgt spid="3"/>
                        </p:tgtEl>
                      </p:cBhvr>
                    </p:animEffect>
                  </p:childTnLst>
                </p:cTn>
              </p:par>
            </p:tnLst>
          </p:tmpl>
        </p:tmplLst>
      </p:bldP>
    </p:bldLst>
  </p:timing>
  <p:hf hdr="0" ftr="0"/>
  <p:txStyles>
    <p:titleStyle>
      <a:lvl1pPr algn="ctr" defTabSz="457200" rtl="0" fontAlgn="base">
        <a:spcBef>
          <a:spcPct val="0"/>
        </a:spcBef>
        <a:spcAft>
          <a:spcPct val="0"/>
        </a:spcAft>
        <a:defRPr sz="4400" b="1" kern="1200">
          <a:solidFill>
            <a:srgbClr val="086B97"/>
          </a:solidFill>
          <a:latin typeface="Arial"/>
          <a:ea typeface="+mj-ea"/>
          <a:cs typeface="Arial"/>
        </a:defRPr>
      </a:lvl1pPr>
      <a:lvl2pPr algn="ctr" defTabSz="457200" rtl="0" fontAlgn="base">
        <a:spcBef>
          <a:spcPct val="0"/>
        </a:spcBef>
        <a:spcAft>
          <a:spcPct val="0"/>
        </a:spcAft>
        <a:defRPr sz="4400" b="1">
          <a:solidFill>
            <a:srgbClr val="086B97"/>
          </a:solidFill>
          <a:latin typeface="Arial" charset="0"/>
          <a:cs typeface="Arial" charset="0"/>
        </a:defRPr>
      </a:lvl2pPr>
      <a:lvl3pPr algn="ctr" defTabSz="457200" rtl="0" fontAlgn="base">
        <a:spcBef>
          <a:spcPct val="0"/>
        </a:spcBef>
        <a:spcAft>
          <a:spcPct val="0"/>
        </a:spcAft>
        <a:defRPr sz="4400" b="1">
          <a:solidFill>
            <a:srgbClr val="086B97"/>
          </a:solidFill>
          <a:latin typeface="Arial" charset="0"/>
          <a:cs typeface="Arial" charset="0"/>
        </a:defRPr>
      </a:lvl3pPr>
      <a:lvl4pPr algn="ctr" defTabSz="457200" rtl="0" fontAlgn="base">
        <a:spcBef>
          <a:spcPct val="0"/>
        </a:spcBef>
        <a:spcAft>
          <a:spcPct val="0"/>
        </a:spcAft>
        <a:defRPr sz="4400" b="1">
          <a:solidFill>
            <a:srgbClr val="086B97"/>
          </a:solidFill>
          <a:latin typeface="Arial" charset="0"/>
          <a:cs typeface="Arial" charset="0"/>
        </a:defRPr>
      </a:lvl4pPr>
      <a:lvl5pPr algn="ctr" defTabSz="457200" rtl="0" fontAlgn="base">
        <a:spcBef>
          <a:spcPct val="0"/>
        </a:spcBef>
        <a:spcAft>
          <a:spcPct val="0"/>
        </a:spcAft>
        <a:defRPr sz="4400" b="1">
          <a:solidFill>
            <a:srgbClr val="086B97"/>
          </a:solidFill>
          <a:latin typeface="Arial" charset="0"/>
          <a:cs typeface="Arial" charset="0"/>
        </a:defRPr>
      </a:lvl5pPr>
      <a:lvl6pPr marL="457200" algn="ctr" defTabSz="457200" rtl="0" fontAlgn="base">
        <a:spcBef>
          <a:spcPct val="0"/>
        </a:spcBef>
        <a:spcAft>
          <a:spcPct val="0"/>
        </a:spcAft>
        <a:defRPr sz="4400" b="1">
          <a:solidFill>
            <a:srgbClr val="086B97"/>
          </a:solidFill>
          <a:latin typeface="Arial" charset="0"/>
          <a:cs typeface="Arial" charset="0"/>
        </a:defRPr>
      </a:lvl6pPr>
      <a:lvl7pPr marL="914400" algn="ctr" defTabSz="457200" rtl="0" fontAlgn="base">
        <a:spcBef>
          <a:spcPct val="0"/>
        </a:spcBef>
        <a:spcAft>
          <a:spcPct val="0"/>
        </a:spcAft>
        <a:defRPr sz="4400" b="1">
          <a:solidFill>
            <a:srgbClr val="086B97"/>
          </a:solidFill>
          <a:latin typeface="Arial" charset="0"/>
          <a:cs typeface="Arial" charset="0"/>
        </a:defRPr>
      </a:lvl7pPr>
      <a:lvl8pPr marL="1371600" algn="ctr" defTabSz="457200" rtl="0" fontAlgn="base">
        <a:spcBef>
          <a:spcPct val="0"/>
        </a:spcBef>
        <a:spcAft>
          <a:spcPct val="0"/>
        </a:spcAft>
        <a:defRPr sz="4400" b="1">
          <a:solidFill>
            <a:srgbClr val="086B97"/>
          </a:solidFill>
          <a:latin typeface="Arial" charset="0"/>
          <a:cs typeface="Arial" charset="0"/>
        </a:defRPr>
      </a:lvl8pPr>
      <a:lvl9pPr marL="1828800" algn="ctr" defTabSz="457200" rtl="0" fontAlgn="base">
        <a:spcBef>
          <a:spcPct val="0"/>
        </a:spcBef>
        <a:spcAft>
          <a:spcPct val="0"/>
        </a:spcAft>
        <a:defRPr sz="4400" b="1">
          <a:solidFill>
            <a:srgbClr val="086B97"/>
          </a:solidFill>
          <a:latin typeface="Arial" charset="0"/>
          <a:cs typeface="Arial" charset="0"/>
        </a:defRPr>
      </a:lvl9pPr>
    </p:titleStyle>
    <p:bodyStyle>
      <a:lvl1pPr marL="342900" indent="-342900" algn="l" defTabSz="457200" rtl="0" fontAlgn="base">
        <a:lnSpc>
          <a:spcPct val="90000"/>
        </a:lnSpc>
        <a:spcBef>
          <a:spcPct val="0"/>
        </a:spcBef>
        <a:spcAft>
          <a:spcPts val="600"/>
        </a:spcAft>
        <a:buFont typeface="Arial" charset="0"/>
        <a:buChar char="•"/>
        <a:defRPr sz="2800" kern="1200">
          <a:solidFill>
            <a:schemeClr val="tx1"/>
          </a:solidFill>
          <a:latin typeface="Arial"/>
          <a:ea typeface="+mn-ea"/>
          <a:cs typeface="Arial"/>
        </a:defRPr>
      </a:lvl1pPr>
      <a:lvl2pPr marL="742950" indent="-285750" algn="l" defTabSz="457200" rtl="0" fontAlgn="base">
        <a:lnSpc>
          <a:spcPct val="90000"/>
        </a:lnSpc>
        <a:spcBef>
          <a:spcPct val="0"/>
        </a:spcBef>
        <a:spcAft>
          <a:spcPts val="600"/>
        </a:spcAft>
        <a:buFont typeface="Arial" charset="0"/>
        <a:buChar char="–"/>
        <a:defRPr sz="2400" kern="1200">
          <a:solidFill>
            <a:schemeClr val="tx1"/>
          </a:solidFill>
          <a:latin typeface="Arial"/>
          <a:ea typeface="+mn-ea"/>
          <a:cs typeface="Arial"/>
        </a:defRPr>
      </a:lvl2pPr>
      <a:lvl3pPr marL="1143000" indent="-228600" algn="l" defTabSz="457200" rtl="0" fontAlgn="base">
        <a:lnSpc>
          <a:spcPct val="90000"/>
        </a:lnSpc>
        <a:spcBef>
          <a:spcPct val="0"/>
        </a:spcBef>
        <a:spcAft>
          <a:spcPts val="600"/>
        </a:spcAft>
        <a:buFont typeface="Arial" charset="0"/>
        <a:buChar char="•"/>
        <a:defRPr sz="2000" kern="1200">
          <a:solidFill>
            <a:schemeClr val="tx1"/>
          </a:solidFill>
          <a:latin typeface="Arial"/>
          <a:ea typeface="+mn-ea"/>
          <a:cs typeface="Arial"/>
        </a:defRPr>
      </a:lvl3pPr>
      <a:lvl4pPr marL="1600200" indent="-228600" algn="l" defTabSz="457200" rtl="0" fontAlgn="base">
        <a:lnSpc>
          <a:spcPct val="90000"/>
        </a:lnSpc>
        <a:spcBef>
          <a:spcPct val="0"/>
        </a:spcBef>
        <a:spcAft>
          <a:spcPts val="600"/>
        </a:spcAft>
        <a:buFont typeface="Arial" charset="0"/>
        <a:buChar char="–"/>
        <a:defRPr kern="1200">
          <a:solidFill>
            <a:schemeClr val="tx1"/>
          </a:solidFill>
          <a:latin typeface="Arial"/>
          <a:ea typeface="+mn-ea"/>
          <a:cs typeface="Arial"/>
        </a:defRPr>
      </a:lvl4pPr>
      <a:lvl5pPr marL="2057400" indent="-228600" algn="l" defTabSz="457200" rtl="0" fontAlgn="base">
        <a:lnSpc>
          <a:spcPct val="90000"/>
        </a:lnSpc>
        <a:spcBef>
          <a:spcPct val="0"/>
        </a:spcBef>
        <a:spcAft>
          <a:spcPts val="600"/>
        </a:spcAft>
        <a:buFont typeface="Arial" charset="0"/>
        <a:buChar char="»"/>
        <a:defRPr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751388" y="2257425"/>
            <a:ext cx="3975100" cy="3457575"/>
          </a:xfrm>
        </p:spPr>
        <p:txBody>
          <a:bodyPr rtlCol="0">
            <a:normAutofit/>
          </a:bodyPr>
          <a:lstStyle/>
          <a:p>
            <a:pPr algn="r" fontAlgn="auto">
              <a:spcAft>
                <a:spcPts val="0"/>
              </a:spcAft>
              <a:defRPr/>
            </a:pPr>
            <a:r>
              <a:rPr lang="en-US" dirty="0">
                <a:latin typeface="Arial" charset="0"/>
                <a:ea typeface="MS PGothic" pitchFamily="34" charset="-128"/>
                <a:cs typeface="Arial" charset="0"/>
              </a:rPr>
              <a:t>Sensitivity Analysis</a:t>
            </a:r>
            <a:endParaRPr lang="en-US" dirty="0"/>
          </a:p>
        </p:txBody>
      </p:sp>
      <p:pic>
        <p:nvPicPr>
          <p:cNvPr id="16386" name="Picture 6"/>
          <p:cNvPicPr>
            <a:picLocks noChangeAspect="1"/>
          </p:cNvPicPr>
          <p:nvPr/>
        </p:nvPicPr>
        <p:blipFill>
          <a:blip r:embed="rId2"/>
          <a:srcRect/>
          <a:stretch>
            <a:fillRect/>
          </a:stretch>
        </p:blipFill>
        <p:spPr bwMode="auto">
          <a:xfrm>
            <a:off x="330200" y="660400"/>
            <a:ext cx="4033838" cy="4648200"/>
          </a:xfrm>
          <a:prstGeom prst="rect">
            <a:avLst/>
          </a:prstGeom>
          <a:noFill/>
          <a:ln w="9525">
            <a:noFill/>
            <a:miter lim="800000"/>
            <a:headEnd/>
            <a:tailEnd/>
          </a:ln>
        </p:spPr>
      </p:pic>
      <p:pic>
        <p:nvPicPr>
          <p:cNvPr id="16387" name="Picture 7"/>
          <p:cNvPicPr>
            <a:picLocks noChangeAspect="1"/>
          </p:cNvPicPr>
          <p:nvPr/>
        </p:nvPicPr>
        <p:blipFill>
          <a:blip r:embed="rId3"/>
          <a:srcRect/>
          <a:stretch>
            <a:fillRect/>
          </a:stretch>
        </p:blipFill>
        <p:spPr bwMode="auto">
          <a:xfrm>
            <a:off x="4349750" y="660400"/>
            <a:ext cx="2840038" cy="1139825"/>
          </a:xfrm>
          <a:prstGeom prst="rect">
            <a:avLst/>
          </a:prstGeom>
          <a:noFill/>
          <a:ln w="9525">
            <a:noFill/>
            <a:miter lim="800000"/>
            <a:headEnd/>
            <a:tailEnd/>
          </a:ln>
        </p:spPr>
      </p:pic>
      <p:sp>
        <p:nvSpPr>
          <p:cNvPr id="9" name="Rectangle 8"/>
          <p:cNvSpPr/>
          <p:nvPr/>
        </p:nvSpPr>
        <p:spPr>
          <a:xfrm>
            <a:off x="7188200" y="706438"/>
            <a:ext cx="1722438" cy="1033462"/>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389" name="TextBox 9"/>
          <p:cNvSpPr txBox="1">
            <a:spLocks noChangeArrowheads="1"/>
          </p:cNvSpPr>
          <p:nvPr/>
        </p:nvSpPr>
        <p:spPr bwMode="auto">
          <a:xfrm>
            <a:off x="7213600" y="-187325"/>
            <a:ext cx="1146175" cy="2370138"/>
          </a:xfrm>
          <a:prstGeom prst="rect">
            <a:avLst/>
          </a:prstGeom>
          <a:noFill/>
          <a:ln w="9525">
            <a:noFill/>
            <a:miter lim="800000"/>
            <a:headEnd/>
            <a:tailEnd/>
          </a:ln>
        </p:spPr>
        <p:txBody>
          <a:bodyPr wrap="none">
            <a:spAutoFit/>
          </a:bodyPr>
          <a:lstStyle/>
          <a:p>
            <a:r>
              <a:rPr lang="en-US" sz="14800">
                <a:latin typeface="Calibri Light"/>
                <a:ea typeface="Calibri Light"/>
                <a:cs typeface="Calibri Light"/>
              </a:rPr>
              <a:t>7</a:t>
            </a:r>
          </a:p>
        </p:txBody>
      </p:sp>
      <p:sp>
        <p:nvSpPr>
          <p:cNvPr id="11" name="Text Box 4"/>
          <p:cNvSpPr txBox="1">
            <a:spLocks noChangeArrowheads="1"/>
          </p:cNvSpPr>
          <p:nvPr/>
        </p:nvSpPr>
        <p:spPr bwMode="auto">
          <a:xfrm>
            <a:off x="330200" y="5624513"/>
            <a:ext cx="5087938" cy="871537"/>
          </a:xfrm>
          <a:prstGeom prst="rect">
            <a:avLst/>
          </a:prstGeom>
          <a:noFill/>
          <a:ln>
            <a:noFill/>
          </a:ln>
          <a:effectLst/>
          <a:extLst>
            <a:ext uri="{909E8E84-426E-40dd-AFC4-6F175D3DCCD1}"/>
            <a:ext uri="{91240B29-F687-4f45-9708-019B960494DF}"/>
            <a:ext uri="{AF507438-7753-43e0-B8FC-AC1667EBCBE1}"/>
          </a:extLst>
        </p:spPr>
        <p:txBody>
          <a:bodyPr>
            <a:spAutoFit/>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fontAlgn="auto">
              <a:lnSpc>
                <a:spcPct val="90000"/>
              </a:lnSpc>
              <a:spcBef>
                <a:spcPts val="0"/>
              </a:spcBef>
              <a:spcAft>
                <a:spcPts val="0"/>
              </a:spcAft>
              <a:defRPr/>
            </a:pPr>
            <a:r>
              <a:rPr lang="en-NZ" sz="1400" dirty="0">
                <a:solidFill>
                  <a:schemeClr val="accent1">
                    <a:lumMod val="60000"/>
                    <a:lumOff val="40000"/>
                  </a:schemeClr>
                </a:solidFill>
              </a:rPr>
              <a:t>To accompany</a:t>
            </a:r>
            <a:br>
              <a:rPr lang="en-NZ" sz="1400" dirty="0">
                <a:solidFill>
                  <a:schemeClr val="accent1">
                    <a:lumMod val="60000"/>
                    <a:lumOff val="40000"/>
                  </a:schemeClr>
                </a:solidFill>
              </a:rPr>
            </a:br>
            <a:r>
              <a:rPr lang="en-NZ" sz="1400" i="1" dirty="0">
                <a:solidFill>
                  <a:schemeClr val="accent1">
                    <a:lumMod val="60000"/>
                    <a:lumOff val="40000"/>
                  </a:schemeClr>
                </a:solidFill>
              </a:rPr>
              <a:t>Quantitative Analysis for Management</a:t>
            </a:r>
            <a:r>
              <a:rPr lang="en-NZ" sz="1400" dirty="0">
                <a:solidFill>
                  <a:schemeClr val="accent1">
                    <a:lumMod val="60000"/>
                    <a:lumOff val="40000"/>
                  </a:schemeClr>
                </a:solidFill>
              </a:rPr>
              <a:t>, </a:t>
            </a:r>
            <a:r>
              <a:rPr lang="en-US" sz="1400" i="1" dirty="0">
                <a:solidFill>
                  <a:schemeClr val="accent1">
                    <a:lumMod val="60000"/>
                    <a:lumOff val="40000"/>
                  </a:schemeClr>
                </a:solidFill>
              </a:rPr>
              <a:t>Twelfth</a:t>
            </a:r>
            <a:r>
              <a:rPr lang="en-NZ" sz="1400" i="1" dirty="0">
                <a:solidFill>
                  <a:schemeClr val="accent1">
                    <a:lumMod val="60000"/>
                    <a:lumOff val="40000"/>
                  </a:schemeClr>
                </a:solidFill>
              </a:rPr>
              <a:t> Edition</a:t>
            </a:r>
            <a:r>
              <a:rPr lang="en-NZ" sz="1400" dirty="0">
                <a:solidFill>
                  <a:schemeClr val="accent1">
                    <a:lumMod val="60000"/>
                    <a:lumOff val="40000"/>
                  </a:schemeClr>
                </a:solidFill>
              </a:rPr>
              <a:t>, </a:t>
            </a:r>
          </a:p>
          <a:p>
            <a:pPr fontAlgn="auto">
              <a:lnSpc>
                <a:spcPct val="90000"/>
              </a:lnSpc>
              <a:spcBef>
                <a:spcPts val="0"/>
              </a:spcBef>
              <a:spcAft>
                <a:spcPts val="0"/>
              </a:spcAft>
              <a:defRPr/>
            </a:pPr>
            <a:r>
              <a:rPr lang="en-NZ" sz="1400" dirty="0">
                <a:solidFill>
                  <a:schemeClr val="accent1">
                    <a:lumMod val="60000"/>
                    <a:lumOff val="40000"/>
                  </a:schemeClr>
                </a:solidFill>
              </a:rPr>
              <a:t>by Render, Stair, Hanna and Hale</a:t>
            </a:r>
          </a:p>
          <a:p>
            <a:pPr fontAlgn="auto">
              <a:lnSpc>
                <a:spcPct val="90000"/>
              </a:lnSpc>
              <a:spcBef>
                <a:spcPts val="0"/>
              </a:spcBef>
              <a:spcAft>
                <a:spcPts val="0"/>
              </a:spcAft>
              <a:defRPr/>
            </a:pPr>
            <a:r>
              <a:rPr lang="en-NZ" sz="1400" dirty="0">
                <a:solidFill>
                  <a:schemeClr val="accent1">
                    <a:lumMod val="60000"/>
                    <a:lumOff val="40000"/>
                  </a:schemeClr>
                </a:solidFill>
              </a:rPr>
              <a:t>Power Point slides created by Jeff Heyl</a:t>
            </a:r>
            <a:endParaRPr lang="en-AU" sz="1400" dirty="0">
              <a:solidFill>
                <a:schemeClr val="accent1">
                  <a:lumMod val="60000"/>
                  <a:lumOff val="40000"/>
                </a:schemeClr>
              </a:solidFill>
            </a:endParaRPr>
          </a:p>
        </p:txBody>
      </p:sp>
      <p:sp>
        <p:nvSpPr>
          <p:cNvPr id="12" name="TextBox 11"/>
          <p:cNvSpPr txBox="1"/>
          <p:nvPr/>
        </p:nvSpPr>
        <p:spPr>
          <a:xfrm>
            <a:off x="5548313" y="6183313"/>
            <a:ext cx="3017837" cy="276225"/>
          </a:xfrm>
          <a:prstGeom prst="rect">
            <a:avLst/>
          </a:prstGeom>
          <a:noFill/>
        </p:spPr>
        <p:txBody>
          <a:bodyPr wrap="none">
            <a:spAutoFit/>
          </a:bodyPr>
          <a:lstStyle/>
          <a:p>
            <a:pPr fontAlgn="auto">
              <a:spcBef>
                <a:spcPts val="0"/>
              </a:spcBef>
              <a:spcAft>
                <a:spcPts val="0"/>
              </a:spcAft>
              <a:defRPr/>
            </a:pPr>
            <a:r>
              <a:rPr lang="en-US" sz="1200" dirty="0">
                <a:solidFill>
                  <a:schemeClr val="accent3"/>
                </a:solidFill>
                <a:latin typeface="Arial"/>
                <a:cs typeface="Arial"/>
              </a:rPr>
              <a:t>Copyright ©2015 Pearson Education, Inc.</a:t>
            </a:r>
          </a:p>
        </p:txBody>
      </p:sp>
    </p:spTree>
  </p:cSld>
  <p:clrMapOvr>
    <a:masterClrMapping/>
  </p:clrMapOvr>
  <p:transition spd="slow">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701800" y="504825"/>
            <a:ext cx="6781800" cy="841375"/>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latin typeface="Arial"/>
              <a:cs typeface="Arial"/>
            </a:endParaRPr>
          </a:p>
        </p:txBody>
      </p:sp>
      <p:sp>
        <p:nvSpPr>
          <p:cNvPr id="30723" name="Rectangle 3"/>
          <p:cNvSpPr>
            <a:spLocks noGrp="1" noChangeArrowheads="1"/>
          </p:cNvSpPr>
          <p:nvPr>
            <p:ph idx="1"/>
          </p:nvPr>
        </p:nvSpPr>
        <p:spPr>
          <a:xfrm>
            <a:off x="719138" y="1589088"/>
            <a:ext cx="7713662" cy="569912"/>
          </a:xfrm>
        </p:spPr>
        <p:txBody>
          <a:bodyPr rtlCol="0">
            <a:normAutofit/>
          </a:bodyPr>
          <a:lstStyle/>
          <a:p>
            <a:pPr marL="0" indent="0" fontAlgn="auto">
              <a:spcBef>
                <a:spcPts val="0"/>
              </a:spcBef>
              <a:buClr>
                <a:schemeClr val="accent6"/>
              </a:buClr>
              <a:buFont typeface="Arial"/>
              <a:buNone/>
              <a:defRPr/>
            </a:pPr>
            <a:r>
              <a:rPr lang="en-US" sz="2400" dirty="0"/>
              <a:t>After completing this chapter, students will be able to:</a:t>
            </a:r>
          </a:p>
        </p:txBody>
      </p:sp>
      <p:sp>
        <p:nvSpPr>
          <p:cNvPr id="2" name="Rectangle 1"/>
          <p:cNvSpPr/>
          <p:nvPr/>
        </p:nvSpPr>
        <p:spPr>
          <a:xfrm>
            <a:off x="647700" y="504825"/>
            <a:ext cx="1168400" cy="841375"/>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latin typeface="Arial"/>
              <a:cs typeface="Arial"/>
            </a:endParaRPr>
          </a:p>
        </p:txBody>
      </p:sp>
      <p:sp>
        <p:nvSpPr>
          <p:cNvPr id="17412" name="TextBox 6"/>
          <p:cNvSpPr txBox="1">
            <a:spLocks noChangeArrowheads="1"/>
          </p:cNvSpPr>
          <p:nvPr/>
        </p:nvSpPr>
        <p:spPr bwMode="auto">
          <a:xfrm>
            <a:off x="2070100" y="531813"/>
            <a:ext cx="6254750" cy="708025"/>
          </a:xfrm>
          <a:prstGeom prst="rect">
            <a:avLst/>
          </a:prstGeom>
          <a:noFill/>
          <a:ln w="9525">
            <a:noFill/>
            <a:miter lim="800000"/>
            <a:headEnd/>
            <a:tailEnd/>
          </a:ln>
        </p:spPr>
        <p:txBody>
          <a:bodyPr wrap="none">
            <a:spAutoFit/>
          </a:bodyPr>
          <a:lstStyle/>
          <a:p>
            <a:r>
              <a:rPr lang="en-US" sz="4000" b="1">
                <a:solidFill>
                  <a:srgbClr val="FFFFFF"/>
                </a:solidFill>
              </a:rPr>
              <a:t>LEARNING OBJECTIVES</a:t>
            </a:r>
          </a:p>
        </p:txBody>
      </p:sp>
      <p:sp>
        <p:nvSpPr>
          <p:cNvPr id="9" name="Date Placeholder 8"/>
          <p:cNvSpPr>
            <a:spLocks noGrp="1"/>
          </p:cNvSpPr>
          <p:nvPr>
            <p:ph type="dt" sz="quarter" idx="10"/>
          </p:nvPr>
        </p:nvSpPr>
        <p:spPr/>
        <p:txBody>
          <a:bodyPr/>
          <a:lstStyle/>
          <a:p>
            <a:pPr>
              <a:defRPr/>
            </a:pPr>
            <a:r>
              <a:rPr lang="en-US"/>
              <a:t>Copyright ©2015 Pearson Education, Inc.</a:t>
            </a:r>
            <a:endParaRPr lang="en-US" dirty="0"/>
          </a:p>
        </p:txBody>
      </p:sp>
      <p:sp>
        <p:nvSpPr>
          <p:cNvPr id="10" name="Slide Number Placeholder 9"/>
          <p:cNvSpPr>
            <a:spLocks noGrp="1"/>
          </p:cNvSpPr>
          <p:nvPr>
            <p:ph type="sldNum" sz="quarter" idx="11"/>
          </p:nvPr>
        </p:nvSpPr>
        <p:spPr/>
        <p:txBody>
          <a:bodyPr/>
          <a:lstStyle/>
          <a:p>
            <a:pPr>
              <a:defRPr/>
            </a:pPr>
            <a:r>
              <a:rPr lang="en-US"/>
              <a:t>7 – </a:t>
            </a:r>
            <a:fld id="{6347025D-E6B8-4D25-8F94-412CDE9B9A4C}" type="slidenum">
              <a:rPr lang="en-US"/>
              <a:pPr>
                <a:defRPr/>
              </a:pPr>
              <a:t>2</a:t>
            </a:fld>
            <a:endParaRPr lang="en-US"/>
          </a:p>
        </p:txBody>
      </p:sp>
      <p:sp>
        <p:nvSpPr>
          <p:cNvPr id="4" name="TextBox 3"/>
          <p:cNvSpPr txBox="1">
            <a:spLocks noChangeArrowheads="1"/>
          </p:cNvSpPr>
          <p:nvPr/>
        </p:nvSpPr>
        <p:spPr bwMode="auto">
          <a:xfrm>
            <a:off x="644525" y="2133600"/>
            <a:ext cx="8220075" cy="1575816"/>
          </a:xfrm>
          <a:prstGeom prst="rect">
            <a:avLst/>
          </a:prstGeom>
          <a:noFill/>
          <a:ln w="9525">
            <a:noFill/>
            <a:miter lim="800000"/>
            <a:headEnd/>
            <a:tailEnd/>
          </a:ln>
        </p:spPr>
        <p:txBody>
          <a:bodyPr>
            <a:spAutoFit/>
          </a:bodyPr>
          <a:lstStyle/>
          <a:p>
            <a:pPr marL="457200" indent="-457200">
              <a:lnSpc>
                <a:spcPct val="90000"/>
              </a:lnSpc>
              <a:spcAft>
                <a:spcPts val="600"/>
              </a:spcAft>
              <a:buClr>
                <a:srgbClr val="0392D1"/>
              </a:buClr>
              <a:buFont typeface="Calibri" pitchFamily="34" charset="0"/>
              <a:buAutoNum type="arabicPeriod"/>
            </a:pPr>
            <a:r>
              <a:rPr lang="en-US" sz="2400" dirty="0">
                <a:solidFill>
                  <a:srgbClr val="000000"/>
                </a:solidFill>
                <a:ea typeface="MS PGothic" pitchFamily="34" charset="-128"/>
              </a:rPr>
              <a:t>Understand the basic </a:t>
            </a:r>
            <a:r>
              <a:rPr lang="en-US" sz="2400" dirty="0" smtClean="0">
                <a:solidFill>
                  <a:srgbClr val="000000"/>
                </a:solidFill>
                <a:ea typeface="MS PGothic" pitchFamily="34" charset="-128"/>
              </a:rPr>
              <a:t>concepts of </a:t>
            </a:r>
            <a:r>
              <a:rPr lang="en-US" sz="2400" dirty="0">
                <a:solidFill>
                  <a:srgbClr val="000000"/>
                </a:solidFill>
                <a:ea typeface="MS PGothic" pitchFamily="34" charset="-128"/>
              </a:rPr>
              <a:t>linear programming (LP).</a:t>
            </a:r>
          </a:p>
          <a:p>
            <a:pPr marL="457200" indent="-457200">
              <a:lnSpc>
                <a:spcPct val="90000"/>
              </a:lnSpc>
              <a:spcAft>
                <a:spcPts val="600"/>
              </a:spcAft>
              <a:buClr>
                <a:srgbClr val="0392D1"/>
              </a:buClr>
              <a:buFont typeface="Calibri" pitchFamily="34" charset="0"/>
              <a:buAutoNum type="arabicPeriod"/>
            </a:pPr>
            <a:r>
              <a:rPr lang="en-US" sz="2400" dirty="0" smtClean="0">
                <a:solidFill>
                  <a:srgbClr val="000000"/>
                </a:solidFill>
                <a:ea typeface="MS PGothic" pitchFamily="34" charset="-128"/>
              </a:rPr>
              <a:t>Understand </a:t>
            </a:r>
            <a:r>
              <a:rPr lang="en-US" sz="2400" dirty="0">
                <a:solidFill>
                  <a:srgbClr val="000000"/>
                </a:solidFill>
                <a:ea typeface="MS PGothic" pitchFamily="34" charset="-128"/>
              </a:rPr>
              <a:t>the role of sensitivity analysis.</a:t>
            </a:r>
          </a:p>
          <a:p>
            <a:pPr marL="457200" indent="-457200">
              <a:lnSpc>
                <a:spcPct val="90000"/>
              </a:lnSpc>
              <a:spcAft>
                <a:spcPts val="600"/>
              </a:spcAft>
              <a:buClr>
                <a:srgbClr val="0392D1"/>
              </a:buClr>
              <a:buFont typeface="Calibri" pitchFamily="34" charset="0"/>
              <a:buAutoNum type="arabicPeriod"/>
            </a:pPr>
            <a:r>
              <a:rPr lang="en-US" sz="2400" dirty="0">
                <a:solidFill>
                  <a:srgbClr val="000000"/>
                </a:solidFill>
                <a:ea typeface="MS PGothic" pitchFamily="34" charset="-128"/>
              </a:rPr>
              <a:t>Use Excel spreadsheets to solve LP problems.</a:t>
            </a:r>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a:solidFill>
                  <a:schemeClr val="accent1"/>
                </a:solidFill>
                <a:latin typeface="Arial" charset="0"/>
                <a:cs typeface="Arial" charset="0"/>
              </a:rPr>
              <a:t>Introduction</a:t>
            </a:r>
            <a:endParaRPr lang="en-US">
              <a:latin typeface="Arial" charset="0"/>
              <a:cs typeface="Arial" charset="0"/>
            </a:endParaRPr>
          </a:p>
        </p:txBody>
      </p:sp>
      <p:sp>
        <p:nvSpPr>
          <p:cNvPr id="19458" name="Content Placeholder 2"/>
          <p:cNvSpPr>
            <a:spLocks noGrp="1"/>
          </p:cNvSpPr>
          <p:nvPr>
            <p:ph idx="1"/>
          </p:nvPr>
        </p:nvSpPr>
        <p:spPr/>
        <p:txBody>
          <a:bodyPr/>
          <a:lstStyle/>
          <a:p>
            <a:r>
              <a:rPr lang="en-US">
                <a:latin typeface="Arial" charset="0"/>
                <a:cs typeface="Arial" charset="0"/>
              </a:rPr>
              <a:t>Many management decisions involve making the most effective use of limited resources</a:t>
            </a:r>
          </a:p>
          <a:p>
            <a:r>
              <a:rPr lang="en-US">
                <a:latin typeface="Arial" charset="0"/>
                <a:cs typeface="Arial" charset="0"/>
              </a:rPr>
              <a:t>Linear programming (LP)</a:t>
            </a:r>
          </a:p>
          <a:p>
            <a:pPr lvl="1"/>
            <a:r>
              <a:rPr lang="en-US">
                <a:latin typeface="Arial" charset="0"/>
                <a:cs typeface="Arial" charset="0"/>
              </a:rPr>
              <a:t>Widely used mathematical modeling technique</a:t>
            </a:r>
          </a:p>
          <a:p>
            <a:pPr lvl="1"/>
            <a:r>
              <a:rPr lang="en-US">
                <a:latin typeface="Arial" charset="0"/>
                <a:cs typeface="Arial" charset="0"/>
              </a:rPr>
              <a:t>Planning and decision making relative to resource allocation</a:t>
            </a:r>
          </a:p>
          <a:p>
            <a:r>
              <a:rPr lang="en-US">
                <a:latin typeface="Arial" charset="0"/>
                <a:cs typeface="Arial" charset="0"/>
              </a:rPr>
              <a:t>Broader field of mathematical programming</a:t>
            </a:r>
          </a:p>
          <a:p>
            <a:pPr lvl="1"/>
            <a:r>
              <a:rPr lang="en-US">
                <a:latin typeface="Arial" charset="0"/>
                <a:cs typeface="Arial" charset="0"/>
              </a:rPr>
              <a:t>Here programming refers to modeling and solving a problem mathematically</a:t>
            </a:r>
          </a:p>
        </p:txBody>
      </p:sp>
      <p:sp>
        <p:nvSpPr>
          <p:cNvPr id="4"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5" name="Slide Number Placeholder 4"/>
          <p:cNvSpPr>
            <a:spLocks noGrp="1"/>
          </p:cNvSpPr>
          <p:nvPr>
            <p:ph type="sldNum" sz="quarter" idx="11"/>
          </p:nvPr>
        </p:nvSpPr>
        <p:spPr/>
        <p:txBody>
          <a:bodyPr/>
          <a:lstStyle/>
          <a:p>
            <a:pPr>
              <a:defRPr/>
            </a:pPr>
            <a:r>
              <a:rPr lang="en-US"/>
              <a:t>7 – </a:t>
            </a:r>
            <a:fld id="{DCECF802-C810-43C4-A6B1-4ACDE027064C}" type="slidenum">
              <a:rPr lang="en-US"/>
              <a:pPr>
                <a:defRPr/>
              </a:pPr>
              <a:t>3</a:t>
            </a:fld>
            <a:endParaRPr lang="en-US"/>
          </a:p>
        </p:txBody>
      </p:sp>
    </p:spTree>
  </p:cSld>
  <p:clrMapOvr>
    <a:masterClrMapping/>
  </p:clrMapOvr>
  <p:transition spd="slow">
    <p:pull dir="l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457200" y="274638"/>
            <a:ext cx="8229600" cy="1325562"/>
          </a:xfrm>
        </p:spPr>
        <p:txBody>
          <a:bodyPr lIns="90488" tIns="44450" rIns="90488" bIns="44450" anchor="t"/>
          <a:lstStyle/>
          <a:p>
            <a:r>
              <a:rPr lang="en-US" sz="4000">
                <a:latin typeface="Arial" charset="0"/>
                <a:ea typeface="MS PGothic" pitchFamily="34" charset="-128"/>
                <a:cs typeface="Arial" charset="0"/>
              </a:rPr>
              <a:t>Requirements of a </a:t>
            </a:r>
            <a:br>
              <a:rPr lang="en-US" sz="4000">
                <a:latin typeface="Arial" charset="0"/>
                <a:ea typeface="MS PGothic" pitchFamily="34" charset="-128"/>
                <a:cs typeface="Arial" charset="0"/>
              </a:rPr>
            </a:br>
            <a:r>
              <a:rPr lang="en-US" sz="4000">
                <a:latin typeface="Arial" charset="0"/>
                <a:ea typeface="MS PGothic" pitchFamily="34" charset="-128"/>
                <a:cs typeface="Arial" charset="0"/>
              </a:rPr>
              <a:t>Linear Programming Problem</a:t>
            </a:r>
          </a:p>
        </p:txBody>
      </p:sp>
      <p:sp>
        <p:nvSpPr>
          <p:cNvPr id="20482" name="Content Placeholder 1"/>
          <p:cNvSpPr>
            <a:spLocks noGrp="1"/>
          </p:cNvSpPr>
          <p:nvPr>
            <p:ph idx="1"/>
          </p:nvPr>
        </p:nvSpPr>
        <p:spPr>
          <a:xfrm>
            <a:off x="673100" y="1828800"/>
            <a:ext cx="7823200" cy="4406900"/>
          </a:xfrm>
        </p:spPr>
        <p:txBody>
          <a:bodyPr/>
          <a:lstStyle/>
          <a:p>
            <a:r>
              <a:rPr lang="en-US">
                <a:latin typeface="Arial" charset="0"/>
                <a:cs typeface="Arial" charset="0"/>
              </a:rPr>
              <a:t>Four properties in common</a:t>
            </a:r>
          </a:p>
          <a:p>
            <a:pPr lvl="1"/>
            <a:r>
              <a:rPr lang="en-US">
                <a:latin typeface="Arial" charset="0"/>
                <a:cs typeface="Arial" charset="0"/>
              </a:rPr>
              <a:t>Seek to </a:t>
            </a:r>
            <a:r>
              <a:rPr lang="en-US" i="1">
                <a:latin typeface="Arial" charset="0"/>
                <a:cs typeface="Arial" charset="0"/>
              </a:rPr>
              <a:t>maximize</a:t>
            </a:r>
            <a:r>
              <a:rPr lang="en-US">
                <a:latin typeface="Arial" charset="0"/>
                <a:cs typeface="Arial" charset="0"/>
              </a:rPr>
              <a:t> or </a:t>
            </a:r>
            <a:r>
              <a:rPr lang="en-US" i="1">
                <a:latin typeface="Arial" charset="0"/>
                <a:cs typeface="Arial" charset="0"/>
              </a:rPr>
              <a:t>minimize</a:t>
            </a:r>
            <a:r>
              <a:rPr lang="en-US">
                <a:latin typeface="Arial" charset="0"/>
                <a:cs typeface="Arial" charset="0"/>
              </a:rPr>
              <a:t> some quantity (the </a:t>
            </a:r>
            <a:r>
              <a:rPr lang="en-US" b="1">
                <a:latin typeface="Arial" charset="0"/>
                <a:cs typeface="Arial" charset="0"/>
              </a:rPr>
              <a:t>objective function</a:t>
            </a:r>
            <a:r>
              <a:rPr lang="en-US">
                <a:latin typeface="Arial" charset="0"/>
                <a:cs typeface="Arial" charset="0"/>
              </a:rPr>
              <a:t>)</a:t>
            </a:r>
          </a:p>
          <a:p>
            <a:pPr lvl="1"/>
            <a:r>
              <a:rPr lang="en-US">
                <a:latin typeface="Arial" charset="0"/>
                <a:cs typeface="Arial" charset="0"/>
              </a:rPr>
              <a:t>Restrictions or </a:t>
            </a:r>
            <a:r>
              <a:rPr lang="en-US" b="1">
                <a:latin typeface="Arial" charset="0"/>
                <a:cs typeface="Arial" charset="0"/>
              </a:rPr>
              <a:t>constraints</a:t>
            </a:r>
            <a:r>
              <a:rPr lang="en-US">
                <a:latin typeface="Arial" charset="0"/>
                <a:cs typeface="Arial" charset="0"/>
              </a:rPr>
              <a:t> are present</a:t>
            </a:r>
          </a:p>
          <a:p>
            <a:pPr lvl="1"/>
            <a:r>
              <a:rPr lang="en-US">
                <a:latin typeface="Arial" charset="0"/>
                <a:cs typeface="Arial" charset="0"/>
              </a:rPr>
              <a:t>Alternative courses of action are available</a:t>
            </a:r>
          </a:p>
          <a:p>
            <a:pPr lvl="1"/>
            <a:r>
              <a:rPr lang="en-US" i="1">
                <a:latin typeface="Arial" charset="0"/>
                <a:cs typeface="Arial" charset="0"/>
              </a:rPr>
              <a:t>Linear</a:t>
            </a:r>
            <a:r>
              <a:rPr lang="en-US">
                <a:latin typeface="Arial" charset="0"/>
                <a:cs typeface="Arial" charset="0"/>
              </a:rPr>
              <a:t> equations or inequalities</a:t>
            </a:r>
          </a:p>
        </p:txBody>
      </p:sp>
      <p:sp>
        <p:nvSpPr>
          <p:cNvPr id="7" name="Date Placeholder 8"/>
          <p:cNvSpPr>
            <a:spLocks noGrp="1"/>
          </p:cNvSpPr>
          <p:nvPr>
            <p:ph type="dt" sz="quarter" idx="10"/>
          </p:nvPr>
        </p:nvSpPr>
        <p:spPr/>
        <p:txBody>
          <a:bodyPr/>
          <a:lstStyle/>
          <a:p>
            <a:pPr>
              <a:defRPr/>
            </a:pPr>
            <a:r>
              <a:rPr lang="en-US"/>
              <a:t>Copyright ©2015 Pearson Education, Inc.</a:t>
            </a:r>
            <a:endParaRPr lang="en-US" dirty="0"/>
          </a:p>
        </p:txBody>
      </p:sp>
      <p:sp>
        <p:nvSpPr>
          <p:cNvPr id="8" name="Slide Number Placeholder 9"/>
          <p:cNvSpPr>
            <a:spLocks noGrp="1"/>
          </p:cNvSpPr>
          <p:nvPr>
            <p:ph type="sldNum" sz="quarter" idx="11"/>
          </p:nvPr>
        </p:nvSpPr>
        <p:spPr/>
        <p:txBody>
          <a:bodyPr/>
          <a:lstStyle/>
          <a:p>
            <a:pPr>
              <a:defRPr/>
            </a:pPr>
            <a:r>
              <a:rPr lang="en-US"/>
              <a:t>7 – </a:t>
            </a:r>
            <a:fld id="{81C55B60-7F88-495B-AA39-0190F9B2C3B8}" type="slidenum">
              <a:rPr lang="en-US"/>
              <a:pPr>
                <a:defRPr/>
              </a:pPr>
              <a:t>4</a:t>
            </a:fld>
            <a:endParaRPr lang="en-US"/>
          </a:p>
        </p:txBody>
      </p:sp>
    </p:spTree>
  </p:cSld>
  <p:clrMapOvr>
    <a:masterClrMapping/>
  </p:clrMapOvr>
  <p:transition>
    <p:pull dir="l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lstStyle/>
          <a:p>
            <a:r>
              <a:rPr lang="en-US">
                <a:latin typeface="Arial" charset="0"/>
                <a:ea typeface="MS PGothic" pitchFamily="34" charset="-128"/>
                <a:cs typeface="Arial" charset="0"/>
              </a:rPr>
              <a:t>Formulating LP Problems</a:t>
            </a:r>
          </a:p>
        </p:txBody>
      </p:sp>
      <p:sp>
        <p:nvSpPr>
          <p:cNvPr id="22530" name="Content Placeholder 1"/>
          <p:cNvSpPr>
            <a:spLocks noGrp="1"/>
          </p:cNvSpPr>
          <p:nvPr>
            <p:ph idx="1"/>
          </p:nvPr>
        </p:nvSpPr>
        <p:spPr/>
        <p:txBody>
          <a:bodyPr/>
          <a:lstStyle/>
          <a:p>
            <a:r>
              <a:rPr lang="en-US">
                <a:latin typeface="Arial" charset="0"/>
                <a:cs typeface="Arial" charset="0"/>
              </a:rPr>
              <a:t>Developing a mathematical model to represent the managerial problem</a:t>
            </a:r>
          </a:p>
          <a:p>
            <a:r>
              <a:rPr lang="en-US">
                <a:latin typeface="Arial" charset="0"/>
                <a:cs typeface="Arial" charset="0"/>
              </a:rPr>
              <a:t>Steps in formulating a LP problem</a:t>
            </a:r>
          </a:p>
          <a:p>
            <a:pPr marL="914400" lvl="1" indent="-457200">
              <a:buFont typeface="Calibri" pitchFamily="34" charset="0"/>
              <a:buAutoNum type="arabicPeriod"/>
            </a:pPr>
            <a:r>
              <a:rPr lang="en-US">
                <a:latin typeface="Arial" charset="0"/>
                <a:cs typeface="Arial" charset="0"/>
              </a:rPr>
              <a:t>Completely understand the managerial problem being faced</a:t>
            </a:r>
          </a:p>
          <a:p>
            <a:pPr marL="914400" lvl="1" indent="-457200">
              <a:buFont typeface="Calibri" pitchFamily="34" charset="0"/>
              <a:buAutoNum type="arabicPeriod"/>
            </a:pPr>
            <a:r>
              <a:rPr lang="en-US">
                <a:latin typeface="Arial" charset="0"/>
                <a:cs typeface="Arial" charset="0"/>
              </a:rPr>
              <a:t>Identify the objective and the constraints</a:t>
            </a:r>
          </a:p>
          <a:p>
            <a:pPr marL="914400" lvl="1" indent="-457200">
              <a:buFont typeface="Calibri" pitchFamily="34" charset="0"/>
              <a:buAutoNum type="arabicPeriod"/>
            </a:pPr>
            <a:r>
              <a:rPr lang="en-US">
                <a:latin typeface="Arial" charset="0"/>
                <a:cs typeface="Arial" charset="0"/>
              </a:rPr>
              <a:t>Define the decision variables</a:t>
            </a:r>
          </a:p>
          <a:p>
            <a:pPr marL="914400" lvl="1" indent="-457200">
              <a:buFont typeface="Calibri" pitchFamily="34" charset="0"/>
              <a:buAutoNum type="arabicPeriod"/>
            </a:pPr>
            <a:r>
              <a:rPr lang="en-US">
                <a:latin typeface="Arial" charset="0"/>
                <a:cs typeface="Arial" charset="0"/>
              </a:rPr>
              <a:t>Use the decision variables to write mathematical expressions for the objective function and the constraints</a:t>
            </a:r>
          </a:p>
        </p:txBody>
      </p:sp>
      <p:sp>
        <p:nvSpPr>
          <p:cNvPr id="7" name="Date Placeholder 8"/>
          <p:cNvSpPr>
            <a:spLocks noGrp="1"/>
          </p:cNvSpPr>
          <p:nvPr>
            <p:ph type="dt" sz="quarter" idx="10"/>
          </p:nvPr>
        </p:nvSpPr>
        <p:spPr/>
        <p:txBody>
          <a:bodyPr/>
          <a:lstStyle/>
          <a:p>
            <a:pPr>
              <a:defRPr/>
            </a:pPr>
            <a:r>
              <a:rPr lang="en-US"/>
              <a:t>Copyright ©2015 Pearson Education, Inc.</a:t>
            </a:r>
            <a:endParaRPr lang="en-US" dirty="0"/>
          </a:p>
        </p:txBody>
      </p:sp>
      <p:sp>
        <p:nvSpPr>
          <p:cNvPr id="8" name="Slide Number Placeholder 9"/>
          <p:cNvSpPr>
            <a:spLocks noGrp="1"/>
          </p:cNvSpPr>
          <p:nvPr>
            <p:ph type="sldNum" sz="quarter" idx="11"/>
          </p:nvPr>
        </p:nvSpPr>
        <p:spPr/>
        <p:txBody>
          <a:bodyPr/>
          <a:lstStyle/>
          <a:p>
            <a:pPr>
              <a:defRPr/>
            </a:pPr>
            <a:r>
              <a:rPr lang="en-US"/>
              <a:t>7 – </a:t>
            </a:r>
            <a:fld id="{D50FC1F6-52AE-4D6A-A433-C8BEAF8F4B88}" type="slidenum">
              <a:rPr lang="en-US"/>
              <a:pPr>
                <a:defRPr/>
              </a:pPr>
              <a:t>5</a:t>
            </a:fld>
            <a:endParaRPr lang="en-US"/>
          </a:p>
        </p:txBody>
      </p:sp>
    </p:spTree>
  </p:cSld>
  <p:clrMapOvr>
    <a:masterClrMapping/>
  </p:clrMapOvr>
  <p:transition>
    <p:pull dir="l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r>
              <a:rPr lang="en-US">
                <a:latin typeface="Arial" charset="0"/>
                <a:ea typeface="MS PGothic" pitchFamily="34" charset="-128"/>
                <a:cs typeface="Arial" charset="0"/>
              </a:rPr>
              <a:t>Formulating LP Problems</a:t>
            </a:r>
          </a:p>
        </p:txBody>
      </p:sp>
      <p:sp>
        <p:nvSpPr>
          <p:cNvPr id="23554" name="Content Placeholder 1"/>
          <p:cNvSpPr>
            <a:spLocks noGrp="1"/>
          </p:cNvSpPr>
          <p:nvPr>
            <p:ph idx="1"/>
          </p:nvPr>
        </p:nvSpPr>
        <p:spPr/>
        <p:txBody>
          <a:bodyPr/>
          <a:lstStyle/>
          <a:p>
            <a:r>
              <a:rPr lang="en-US">
                <a:latin typeface="Arial" charset="0"/>
                <a:cs typeface="Arial" charset="0"/>
              </a:rPr>
              <a:t>Common LP application – </a:t>
            </a:r>
            <a:r>
              <a:rPr lang="en-US" b="1">
                <a:latin typeface="Arial" charset="0"/>
                <a:cs typeface="Arial" charset="0"/>
              </a:rPr>
              <a:t>product mix problem</a:t>
            </a:r>
          </a:p>
          <a:p>
            <a:r>
              <a:rPr lang="en-US">
                <a:latin typeface="Arial" charset="0"/>
                <a:cs typeface="Arial" charset="0"/>
              </a:rPr>
              <a:t>Two or more products are produced using limited resources </a:t>
            </a:r>
          </a:p>
          <a:p>
            <a:r>
              <a:rPr lang="en-US">
                <a:latin typeface="Arial" charset="0"/>
                <a:cs typeface="Arial" charset="0"/>
              </a:rPr>
              <a:t>Maximize profit based on the profit contribution per unit of each product</a:t>
            </a:r>
          </a:p>
          <a:p>
            <a:r>
              <a:rPr lang="en-US">
                <a:latin typeface="Arial" charset="0"/>
                <a:cs typeface="Arial" charset="0"/>
              </a:rPr>
              <a:t>Determine how many units of each product to produce</a:t>
            </a:r>
          </a:p>
        </p:txBody>
      </p:sp>
      <p:sp>
        <p:nvSpPr>
          <p:cNvPr id="7" name="Date Placeholder 8"/>
          <p:cNvSpPr>
            <a:spLocks noGrp="1"/>
          </p:cNvSpPr>
          <p:nvPr>
            <p:ph type="dt" sz="quarter" idx="10"/>
          </p:nvPr>
        </p:nvSpPr>
        <p:spPr/>
        <p:txBody>
          <a:bodyPr/>
          <a:lstStyle/>
          <a:p>
            <a:pPr>
              <a:defRPr/>
            </a:pPr>
            <a:r>
              <a:rPr lang="en-US"/>
              <a:t>Copyright ©2015 Pearson Education, Inc.</a:t>
            </a:r>
            <a:endParaRPr lang="en-US" dirty="0"/>
          </a:p>
        </p:txBody>
      </p:sp>
      <p:sp>
        <p:nvSpPr>
          <p:cNvPr id="8" name="Slide Number Placeholder 9"/>
          <p:cNvSpPr>
            <a:spLocks noGrp="1"/>
          </p:cNvSpPr>
          <p:nvPr>
            <p:ph type="sldNum" sz="quarter" idx="11"/>
          </p:nvPr>
        </p:nvSpPr>
        <p:spPr/>
        <p:txBody>
          <a:bodyPr/>
          <a:lstStyle/>
          <a:p>
            <a:pPr>
              <a:defRPr/>
            </a:pPr>
            <a:r>
              <a:rPr lang="en-US"/>
              <a:t>7 – </a:t>
            </a:r>
            <a:fld id="{3D3EB3DF-F56C-4BD6-9969-A6C145743310}" type="slidenum">
              <a:rPr lang="en-US"/>
              <a:pPr>
                <a:defRPr/>
              </a:pPr>
              <a:t>6</a:t>
            </a:fld>
            <a:endParaRPr lang="en-US"/>
          </a:p>
        </p:txBody>
      </p:sp>
    </p:spTree>
  </p:cSld>
  <p:clrMapOvr>
    <a:masterClrMapping/>
  </p:clrMapOvr>
  <p:transition>
    <p:strips/>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lIns="90488" tIns="44450" rIns="90488" bIns="44450"/>
          <a:lstStyle/>
          <a:p>
            <a:pPr>
              <a:lnSpc>
                <a:spcPct val="80000"/>
              </a:lnSpc>
            </a:pPr>
            <a:r>
              <a:rPr lang="en-US">
                <a:latin typeface="Arial" charset="0"/>
                <a:ea typeface="MS PGothic" pitchFamily="34" charset="-128"/>
                <a:cs typeface="Arial" charset="0"/>
              </a:rPr>
              <a:t>Flair Furniture Company</a:t>
            </a:r>
            <a:endParaRPr lang="en-US" sz="2800">
              <a:latin typeface="Arial" charset="0"/>
              <a:ea typeface="MS PGothic" pitchFamily="34" charset="-128"/>
              <a:cs typeface="Arial" charset="0"/>
            </a:endParaRPr>
          </a:p>
        </p:txBody>
      </p:sp>
      <p:sp>
        <p:nvSpPr>
          <p:cNvPr id="24578" name="Content Placeholder 1"/>
          <p:cNvSpPr>
            <a:spLocks noGrp="1"/>
          </p:cNvSpPr>
          <p:nvPr>
            <p:ph idx="1"/>
          </p:nvPr>
        </p:nvSpPr>
        <p:spPr>
          <a:xfrm>
            <a:off x="673100" y="1417638"/>
            <a:ext cx="7823200" cy="4906962"/>
          </a:xfrm>
        </p:spPr>
        <p:txBody>
          <a:bodyPr/>
          <a:lstStyle/>
          <a:p>
            <a:r>
              <a:rPr lang="en-US">
                <a:latin typeface="Arial" charset="0"/>
                <a:cs typeface="Arial" charset="0"/>
              </a:rPr>
              <a:t>Flair Furniture produces inexpensive tables and chairs</a:t>
            </a:r>
          </a:p>
          <a:p>
            <a:r>
              <a:rPr lang="en-US">
                <a:latin typeface="Arial" charset="0"/>
                <a:cs typeface="Arial" charset="0"/>
              </a:rPr>
              <a:t>Processes are similar, both require carpentry work and painting and varnishing</a:t>
            </a:r>
          </a:p>
          <a:p>
            <a:pPr lvl="1"/>
            <a:r>
              <a:rPr lang="en-US">
                <a:latin typeface="Arial" charset="0"/>
                <a:cs typeface="Arial" charset="0"/>
              </a:rPr>
              <a:t>Each table takes 4 hours of carpentry and 2 hours of painting and varnishing</a:t>
            </a:r>
          </a:p>
          <a:p>
            <a:pPr lvl="1"/>
            <a:r>
              <a:rPr lang="en-US">
                <a:latin typeface="Arial" charset="0"/>
                <a:cs typeface="Arial" charset="0"/>
              </a:rPr>
              <a:t>Each chair requires 3 of carpentry and 1 hour of painting and varnishing</a:t>
            </a:r>
          </a:p>
          <a:p>
            <a:pPr lvl="1"/>
            <a:r>
              <a:rPr lang="en-US">
                <a:latin typeface="Arial" charset="0"/>
                <a:cs typeface="Arial" charset="0"/>
              </a:rPr>
              <a:t>There are 240 hours of carpentry time available and 100 hours of painting and varnishing</a:t>
            </a:r>
          </a:p>
          <a:p>
            <a:pPr lvl="1"/>
            <a:r>
              <a:rPr lang="en-US">
                <a:latin typeface="Arial" charset="0"/>
                <a:cs typeface="Arial" charset="0"/>
              </a:rPr>
              <a:t>Each table yields a profit of $70 and each chair a profit of $50</a:t>
            </a:r>
          </a:p>
          <a:p>
            <a:endParaRPr lang="en-US">
              <a:latin typeface="Arial" charset="0"/>
              <a:cs typeface="Arial" charset="0"/>
            </a:endParaRPr>
          </a:p>
        </p:txBody>
      </p:sp>
      <p:sp>
        <p:nvSpPr>
          <p:cNvPr id="7" name="Date Placeholder 8"/>
          <p:cNvSpPr>
            <a:spLocks noGrp="1"/>
          </p:cNvSpPr>
          <p:nvPr>
            <p:ph type="dt" sz="quarter" idx="10"/>
          </p:nvPr>
        </p:nvSpPr>
        <p:spPr/>
        <p:txBody>
          <a:bodyPr/>
          <a:lstStyle/>
          <a:p>
            <a:pPr>
              <a:defRPr/>
            </a:pPr>
            <a:r>
              <a:rPr lang="en-US"/>
              <a:t>Copyright ©2015 Pearson Education, Inc.</a:t>
            </a:r>
            <a:endParaRPr lang="en-US" dirty="0"/>
          </a:p>
        </p:txBody>
      </p:sp>
      <p:sp>
        <p:nvSpPr>
          <p:cNvPr id="8" name="Slide Number Placeholder 9"/>
          <p:cNvSpPr>
            <a:spLocks noGrp="1"/>
          </p:cNvSpPr>
          <p:nvPr>
            <p:ph type="sldNum" sz="quarter" idx="11"/>
          </p:nvPr>
        </p:nvSpPr>
        <p:spPr/>
        <p:txBody>
          <a:bodyPr/>
          <a:lstStyle/>
          <a:p>
            <a:pPr>
              <a:defRPr/>
            </a:pPr>
            <a:r>
              <a:rPr lang="en-US"/>
              <a:t>7 – </a:t>
            </a:r>
            <a:fld id="{7145DC8C-65D7-4ABB-A230-922EB5E1127D}" type="slidenum">
              <a:rPr lang="en-US"/>
              <a:pPr>
                <a:defRPr/>
              </a:pPr>
              <a:t>7</a:t>
            </a:fld>
            <a:endParaRPr lang="en-US"/>
          </a:p>
        </p:txBody>
      </p:sp>
    </p:spTree>
  </p:cSld>
  <p:clrMapOvr>
    <a:masterClrMapping/>
  </p:clrMapOvr>
  <p:transition>
    <p:pull dir="l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lIns="90488" tIns="44450" rIns="90488" bIns="44450"/>
          <a:lstStyle/>
          <a:p>
            <a:pPr>
              <a:lnSpc>
                <a:spcPct val="80000"/>
              </a:lnSpc>
            </a:pPr>
            <a:r>
              <a:rPr lang="en-US">
                <a:latin typeface="Arial" charset="0"/>
                <a:ea typeface="MS PGothic" pitchFamily="34" charset="-128"/>
                <a:cs typeface="Arial" charset="0"/>
              </a:rPr>
              <a:t>Flair Furniture Company</a:t>
            </a:r>
            <a:endParaRPr lang="en-US" sz="2800">
              <a:latin typeface="Arial" charset="0"/>
              <a:ea typeface="MS PGothic" pitchFamily="34" charset="-128"/>
              <a:cs typeface="Arial" charset="0"/>
            </a:endParaRPr>
          </a:p>
        </p:txBody>
      </p:sp>
      <p:sp>
        <p:nvSpPr>
          <p:cNvPr id="25602" name="Content Placeholder 1"/>
          <p:cNvSpPr>
            <a:spLocks noGrp="1"/>
          </p:cNvSpPr>
          <p:nvPr>
            <p:ph idx="1"/>
          </p:nvPr>
        </p:nvSpPr>
        <p:spPr>
          <a:xfrm>
            <a:off x="673100" y="1600200"/>
            <a:ext cx="7823200" cy="1536700"/>
          </a:xfrm>
        </p:spPr>
        <p:txBody>
          <a:bodyPr/>
          <a:lstStyle/>
          <a:p>
            <a:r>
              <a:rPr lang="en-US">
                <a:latin typeface="Arial" charset="0"/>
                <a:cs typeface="Arial" charset="0"/>
              </a:rPr>
              <a:t>The company wants to determine the best combination of tables and chairs to produce to reach the maximum profit</a:t>
            </a:r>
          </a:p>
        </p:txBody>
      </p:sp>
      <p:graphicFrame>
        <p:nvGraphicFramePr>
          <p:cNvPr id="146594" name="Group 162"/>
          <p:cNvGraphicFramePr>
            <a:graphicFrameLocks noGrp="1"/>
          </p:cNvGraphicFramePr>
          <p:nvPr/>
        </p:nvGraphicFramePr>
        <p:xfrm>
          <a:off x="822325" y="3467100"/>
          <a:ext cx="7473950" cy="2293945"/>
        </p:xfrm>
        <a:graphic>
          <a:graphicData uri="http://schemas.openxmlformats.org/drawingml/2006/table">
            <a:tbl>
              <a:tblPr/>
              <a:tblGrid>
                <a:gridCol w="2686050">
                  <a:extLst>
                    <a:ext uri="{9D8B030D-6E8A-4147-A177-3AD203B41FA5}">
                      <a16:colId xmlns:a16="http://schemas.microsoft.com/office/drawing/2014/main" val="20000"/>
                    </a:ext>
                  </a:extLst>
                </a:gridCol>
                <a:gridCol w="1292225">
                  <a:extLst>
                    <a:ext uri="{9D8B030D-6E8A-4147-A177-3AD203B41FA5}">
                      <a16:colId xmlns:a16="http://schemas.microsoft.com/office/drawing/2014/main" val="20001"/>
                    </a:ext>
                  </a:extLst>
                </a:gridCol>
                <a:gridCol w="1235075">
                  <a:extLst>
                    <a:ext uri="{9D8B030D-6E8A-4147-A177-3AD203B41FA5}">
                      <a16:colId xmlns:a16="http://schemas.microsoft.com/office/drawing/2014/main" val="20002"/>
                    </a:ext>
                  </a:extLst>
                </a:gridCol>
                <a:gridCol w="2260600">
                  <a:extLst>
                    <a:ext uri="{9D8B030D-6E8A-4147-A177-3AD203B41FA5}">
                      <a16:colId xmlns:a16="http://schemas.microsoft.com/office/drawing/2014/main" val="20003"/>
                    </a:ext>
                  </a:extLst>
                </a:gridCol>
              </a:tblGrid>
              <a:tr h="530333">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600" b="1" i="0" u="none" strike="noStrike" cap="none" normalizeH="0" baseline="0" dirty="0">
                        <a:ln>
                          <a:noFill/>
                        </a:ln>
                        <a:solidFill>
                          <a:schemeClr val="bg1"/>
                        </a:solidFill>
                        <a:effectLst/>
                        <a:latin typeface="Arial" charset="0"/>
                        <a:ea typeface="ＭＳ Ｐゴシック" pitchFamily="34" charset="-128"/>
                      </a:endParaRPr>
                    </a:p>
                  </a:txBody>
                  <a:tcPr marT="45712" marB="45712" horzOverflow="overflow">
                    <a:lnL cap="flat">
                      <a:noFill/>
                    </a:lnL>
                    <a:lnR>
                      <a:noFill/>
                    </a:lnR>
                    <a:lnT cap="flat">
                      <a:noFill/>
                    </a:lnT>
                    <a:lnB>
                      <a:noFill/>
                    </a:lnB>
                    <a:lnTlToBr>
                      <a:noFill/>
                    </a:lnTlToBr>
                    <a:lnBlToTr>
                      <a:noFill/>
                    </a:lnBlToTr>
                    <a:solidFill>
                      <a:schemeClr val="accent1"/>
                    </a:solidFill>
                  </a:tcPr>
                </a:tc>
                <a:tc gridSpan="2">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1" i="0" u="none" strike="noStrike" cap="none" normalizeH="0" baseline="0" dirty="0">
                          <a:ln>
                            <a:noFill/>
                          </a:ln>
                          <a:solidFill>
                            <a:schemeClr val="bg1"/>
                          </a:solidFill>
                          <a:effectLst/>
                          <a:latin typeface="Arial" charset="0"/>
                          <a:ea typeface="ＭＳ Ｐゴシック" pitchFamily="34" charset="-128"/>
                        </a:rPr>
                        <a:t>HOURS REQUIRED TO PRODUCE 1 UNIT</a:t>
                      </a:r>
                    </a:p>
                  </a:txBody>
                  <a:tcPr marT="45712" marB="45712" horzOverflow="overflow">
                    <a:lnL>
                      <a:noFill/>
                    </a:lnL>
                    <a:lnR>
                      <a:noFill/>
                    </a:lnR>
                    <a:lnT cap="flat">
                      <a:noFill/>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600" b="1" i="0" u="none" strike="noStrike" cap="none" normalizeH="0" baseline="0" dirty="0">
                        <a:ln>
                          <a:noFill/>
                        </a:ln>
                        <a:solidFill>
                          <a:schemeClr val="bg1"/>
                        </a:solidFill>
                        <a:effectLst/>
                        <a:latin typeface="Arial" charset="0"/>
                        <a:ea typeface="ＭＳ Ｐゴシック" pitchFamily="34" charset="-128"/>
                      </a:endParaRPr>
                    </a:p>
                  </a:txBody>
                  <a:tcPr marT="45712" marB="45712" horzOverflow="overflow">
                    <a:lnL>
                      <a:noFill/>
                    </a:lnL>
                    <a:lnR cap="flat">
                      <a:noFill/>
                    </a:lnR>
                    <a:lnT cap="flat">
                      <a:noFill/>
                    </a:lnT>
                    <a:lnB>
                      <a:noFill/>
                    </a:lnB>
                    <a:lnTlToBr>
                      <a:noFill/>
                    </a:lnTlToBr>
                    <a:lnBlToTr>
                      <a:noFill/>
                    </a:lnBlToTr>
                    <a:solidFill>
                      <a:schemeClr val="accent1"/>
                    </a:solidFill>
                  </a:tcPr>
                </a:tc>
                <a:extLst>
                  <a:ext uri="{0D108BD9-81ED-4DB2-BD59-A6C34878D82A}">
                    <a16:rowId xmlns:a16="http://schemas.microsoft.com/office/drawing/2014/main" val="10000"/>
                  </a:ext>
                </a:extLst>
              </a:tr>
              <a:tr h="530333">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1" i="0" u="none" strike="noStrike" cap="none" normalizeH="0" baseline="0">
                          <a:ln>
                            <a:noFill/>
                          </a:ln>
                          <a:solidFill>
                            <a:schemeClr val="bg1"/>
                          </a:solidFill>
                          <a:effectLst/>
                          <a:latin typeface="Arial" charset="0"/>
                          <a:ea typeface="ＭＳ Ｐゴシック" pitchFamily="34" charset="-128"/>
                        </a:rPr>
                        <a:t>DEPARTMENT</a:t>
                      </a:r>
                    </a:p>
                  </a:txBody>
                  <a:tcPr marT="45712" marB="45712" anchor="b"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1" i="0" u="none" strike="noStrike" cap="none" normalizeH="0" baseline="0" dirty="0">
                          <a:ln>
                            <a:noFill/>
                          </a:ln>
                          <a:solidFill>
                            <a:schemeClr val="bg1"/>
                          </a:solidFill>
                          <a:effectLst/>
                          <a:latin typeface="Arial"/>
                          <a:ea typeface="ＭＳ Ｐゴシック" pitchFamily="34" charset="-128"/>
                          <a:cs typeface="Arial"/>
                        </a:rPr>
                        <a:t>(</a:t>
                      </a:r>
                      <a:r>
                        <a:rPr kumimoji="0" lang="en-US" sz="1600" b="1" i="1" u="none" strike="noStrike" cap="none" normalizeH="0" baseline="0" dirty="0">
                          <a:ln>
                            <a:noFill/>
                          </a:ln>
                          <a:solidFill>
                            <a:schemeClr val="bg1"/>
                          </a:solidFill>
                          <a:effectLst/>
                          <a:latin typeface="Arial"/>
                          <a:ea typeface="ＭＳ Ｐゴシック" pitchFamily="34" charset="-128"/>
                          <a:cs typeface="Arial"/>
                        </a:rPr>
                        <a:t>T</a:t>
                      </a:r>
                      <a:r>
                        <a:rPr kumimoji="0" lang="en-US" sz="1600" b="1" i="0" u="none" strike="noStrike" cap="none" normalizeH="0" baseline="0" dirty="0">
                          <a:ln>
                            <a:noFill/>
                          </a:ln>
                          <a:solidFill>
                            <a:schemeClr val="bg1"/>
                          </a:solidFill>
                          <a:effectLst/>
                          <a:latin typeface="Arial"/>
                          <a:ea typeface="ＭＳ Ｐゴシック" pitchFamily="34" charset="-128"/>
                          <a:cs typeface="Arial"/>
                        </a:rPr>
                        <a:t>) TABLES</a:t>
                      </a:r>
                    </a:p>
                  </a:txBody>
                  <a:tcPr marT="45712" marB="45712" anchor="b" horzOverflow="overflow">
                    <a:lnL>
                      <a:noFill/>
                    </a:lnL>
                    <a:lnR>
                      <a:noFill/>
                    </a:lnR>
                    <a:lnT w="28575" cap="flat" cmpd="sng" algn="ctr">
                      <a:solidFill>
                        <a:srgbClr val="FFFFFF"/>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1" i="0" u="none" strike="noStrike" cap="none" normalizeH="0" baseline="0" dirty="0">
                          <a:ln>
                            <a:noFill/>
                          </a:ln>
                          <a:solidFill>
                            <a:schemeClr val="bg1"/>
                          </a:solidFill>
                          <a:effectLst/>
                          <a:latin typeface="Arial"/>
                          <a:ea typeface="ＭＳ Ｐゴシック" pitchFamily="34" charset="-128"/>
                          <a:cs typeface="Arial"/>
                        </a:rPr>
                        <a:t>(</a:t>
                      </a:r>
                      <a:r>
                        <a:rPr kumimoji="0" lang="en-US" sz="1600" b="1" i="1" u="none" strike="noStrike" cap="none" normalizeH="0" baseline="0" dirty="0">
                          <a:ln>
                            <a:noFill/>
                          </a:ln>
                          <a:solidFill>
                            <a:schemeClr val="bg1"/>
                          </a:solidFill>
                          <a:effectLst/>
                          <a:latin typeface="Arial"/>
                          <a:ea typeface="ＭＳ Ｐゴシック" pitchFamily="34" charset="-128"/>
                          <a:cs typeface="Arial"/>
                        </a:rPr>
                        <a:t>C</a:t>
                      </a:r>
                      <a:r>
                        <a:rPr kumimoji="0" lang="en-US" sz="1600" b="1" i="0" u="none" strike="noStrike" cap="none" normalizeH="0" baseline="0" dirty="0">
                          <a:ln>
                            <a:noFill/>
                          </a:ln>
                          <a:solidFill>
                            <a:schemeClr val="bg1"/>
                          </a:solidFill>
                          <a:effectLst/>
                          <a:latin typeface="Arial"/>
                          <a:ea typeface="ＭＳ Ｐゴシック" pitchFamily="34" charset="-128"/>
                          <a:cs typeface="Arial"/>
                        </a:rPr>
                        <a:t>) CHAIRS</a:t>
                      </a:r>
                    </a:p>
                  </a:txBody>
                  <a:tcPr marT="45712" marB="45712" anchor="b" horzOverflow="overflow">
                    <a:lnL>
                      <a:noFill/>
                    </a:lnL>
                    <a:lnR>
                      <a:noFill/>
                    </a:lnR>
                    <a:lnT w="28575" cap="flat" cmpd="sng" algn="ctr">
                      <a:solidFill>
                        <a:srgbClr val="FFFFFF"/>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1" i="0" u="none" strike="noStrike" cap="none" normalizeH="0" baseline="0" dirty="0">
                          <a:ln>
                            <a:noFill/>
                          </a:ln>
                          <a:solidFill>
                            <a:schemeClr val="bg1"/>
                          </a:solidFill>
                          <a:effectLst/>
                          <a:latin typeface="Arial"/>
                          <a:ea typeface="ＭＳ Ｐゴシック" pitchFamily="34" charset="-128"/>
                          <a:cs typeface="Arial"/>
                        </a:rPr>
                        <a:t>AVAILABLE HOURS THIS WEEK</a:t>
                      </a:r>
                    </a:p>
                  </a:txBody>
                  <a:tcPr marT="45712" marB="45712" anchor="b"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11091">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0" i="0" u="none" strike="noStrike" cap="none" normalizeH="0" baseline="0" dirty="0">
                          <a:ln>
                            <a:noFill/>
                          </a:ln>
                          <a:solidFill>
                            <a:schemeClr val="tx1"/>
                          </a:solidFill>
                          <a:effectLst/>
                          <a:latin typeface="Arial" charset="0"/>
                          <a:ea typeface="ＭＳ Ｐゴシック" pitchFamily="34" charset="-128"/>
                        </a:rPr>
                        <a:t>Carpentry</a:t>
                      </a:r>
                    </a:p>
                  </a:txBody>
                  <a:tcPr marT="45712" marB="45712" anchor="ct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tab pos="723900" algn="r"/>
                        </a:tabLst>
                      </a:pPr>
                      <a:r>
                        <a:rPr kumimoji="0" lang="en-US" sz="1600" b="0" i="0" u="none" strike="noStrike" cap="none" normalizeH="0" baseline="0" dirty="0">
                          <a:ln>
                            <a:noFill/>
                          </a:ln>
                          <a:solidFill>
                            <a:schemeClr val="tx1"/>
                          </a:solidFill>
                          <a:effectLst/>
                          <a:latin typeface="Arial" charset="0"/>
                          <a:ea typeface="ＭＳ Ｐゴシック" pitchFamily="34" charset="-128"/>
                        </a:rPr>
                        <a:t>	4</a:t>
                      </a:r>
                    </a:p>
                  </a:txBody>
                  <a:tcPr marT="45712" marB="45712"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tab pos="723900" algn="r"/>
                        </a:tabLst>
                      </a:pPr>
                      <a:r>
                        <a:rPr kumimoji="0" lang="en-US" sz="1600" b="0" i="0" u="none" strike="noStrike" cap="none" normalizeH="0" baseline="0">
                          <a:ln>
                            <a:noFill/>
                          </a:ln>
                          <a:solidFill>
                            <a:schemeClr val="tx1"/>
                          </a:solidFill>
                          <a:effectLst/>
                          <a:latin typeface="Arial" charset="0"/>
                          <a:ea typeface="ＭＳ Ｐゴシック" pitchFamily="34" charset="-128"/>
                        </a:rPr>
                        <a:t>	3</a:t>
                      </a:r>
                    </a:p>
                  </a:txBody>
                  <a:tcPr marT="45712" marB="45712"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0" i="0" u="none" strike="noStrike" cap="none" normalizeH="0" baseline="0" dirty="0">
                          <a:ln>
                            <a:noFill/>
                          </a:ln>
                          <a:solidFill>
                            <a:schemeClr val="tx1"/>
                          </a:solidFill>
                          <a:effectLst/>
                          <a:latin typeface="Arial" charset="0"/>
                          <a:ea typeface="ＭＳ Ｐゴシック" pitchFamily="34" charset="-128"/>
                        </a:rPr>
                        <a:t>240</a:t>
                      </a:r>
                    </a:p>
                  </a:txBody>
                  <a:tcPr marT="45712" marB="45712" anchor="ct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11091">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0" i="0" u="none" strike="noStrike" cap="none" normalizeH="0" baseline="0" dirty="0">
                          <a:ln>
                            <a:noFill/>
                          </a:ln>
                          <a:solidFill>
                            <a:schemeClr val="tx1"/>
                          </a:solidFill>
                          <a:effectLst/>
                          <a:latin typeface="Arial" charset="0"/>
                          <a:ea typeface="ＭＳ Ｐゴシック" pitchFamily="34" charset="-128"/>
                        </a:rPr>
                        <a:t>Painting and varnishing</a:t>
                      </a:r>
                    </a:p>
                  </a:txBody>
                  <a:tcPr marT="45712" marB="45712" anchor="ct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tab pos="723900" algn="r"/>
                        </a:tabLst>
                      </a:pPr>
                      <a:r>
                        <a:rPr kumimoji="0" lang="en-US" sz="1600" b="0" i="0" u="none" strike="noStrike" cap="none" normalizeH="0" baseline="0" dirty="0">
                          <a:ln>
                            <a:noFill/>
                          </a:ln>
                          <a:solidFill>
                            <a:schemeClr val="tx1"/>
                          </a:solidFill>
                          <a:effectLst/>
                          <a:latin typeface="Arial" charset="0"/>
                          <a:ea typeface="ＭＳ Ｐゴシック" pitchFamily="34" charset="-128"/>
                        </a:rPr>
                        <a:t>	2</a:t>
                      </a:r>
                    </a:p>
                  </a:txBody>
                  <a:tcPr marT="45712" marB="45712"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tab pos="723900" algn="r"/>
                        </a:tabLst>
                      </a:pPr>
                      <a:r>
                        <a:rPr kumimoji="0" lang="en-US" sz="1600" b="0" i="0" u="none" strike="noStrike" cap="none" normalizeH="0" baseline="0" dirty="0">
                          <a:ln>
                            <a:noFill/>
                          </a:ln>
                          <a:solidFill>
                            <a:schemeClr val="tx1"/>
                          </a:solidFill>
                          <a:effectLst/>
                          <a:latin typeface="Arial" charset="0"/>
                          <a:ea typeface="ＭＳ Ｐゴシック" pitchFamily="34" charset="-128"/>
                        </a:rPr>
                        <a:t>	1</a:t>
                      </a:r>
                    </a:p>
                  </a:txBody>
                  <a:tcPr marT="45712" marB="45712"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0" i="0" u="none" strike="noStrike" cap="none" normalizeH="0" baseline="0" dirty="0">
                          <a:ln>
                            <a:noFill/>
                          </a:ln>
                          <a:solidFill>
                            <a:schemeClr val="tx1"/>
                          </a:solidFill>
                          <a:effectLst/>
                          <a:latin typeface="Arial" charset="0"/>
                          <a:ea typeface="ＭＳ Ｐゴシック" pitchFamily="34" charset="-128"/>
                        </a:rPr>
                        <a:t>100</a:t>
                      </a:r>
                    </a:p>
                  </a:txBody>
                  <a:tcPr marT="45712" marB="45712"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11091">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r>
                        <a:rPr kumimoji="0" lang="en-US" sz="1600" b="0" i="0" u="none" strike="noStrike" cap="none" normalizeH="0" baseline="0">
                          <a:ln>
                            <a:noFill/>
                          </a:ln>
                          <a:solidFill>
                            <a:schemeClr val="tx1"/>
                          </a:solidFill>
                          <a:effectLst/>
                          <a:latin typeface="Arial" charset="0"/>
                          <a:ea typeface="ＭＳ Ｐゴシック" pitchFamily="34" charset="-128"/>
                        </a:rPr>
                        <a:t>Profit per unit</a:t>
                      </a:r>
                    </a:p>
                  </a:txBody>
                  <a:tcPr marT="45712" marB="45712" anchor="ctr"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tab pos="723900" algn="r"/>
                        </a:tabLst>
                      </a:pPr>
                      <a:r>
                        <a:rPr kumimoji="0" lang="en-US" sz="1600" b="0" i="0" u="none" strike="noStrike" cap="none" normalizeH="0" baseline="0">
                          <a:ln>
                            <a:noFill/>
                          </a:ln>
                          <a:solidFill>
                            <a:schemeClr val="tx1"/>
                          </a:solidFill>
                          <a:effectLst/>
                          <a:latin typeface="Arial" charset="0"/>
                          <a:ea typeface="ＭＳ Ｐゴシック" pitchFamily="34" charset="-128"/>
                        </a:rPr>
                        <a:t>	$70</a:t>
                      </a:r>
                    </a:p>
                  </a:txBody>
                  <a:tcPr marT="45712" marB="45712"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tab pos="723900" algn="r"/>
                        </a:tabLst>
                      </a:pPr>
                      <a:r>
                        <a:rPr kumimoji="0" lang="en-US" sz="1600" b="0" i="0" u="none" strike="noStrike" cap="none" normalizeH="0" baseline="0">
                          <a:ln>
                            <a:noFill/>
                          </a:ln>
                          <a:solidFill>
                            <a:schemeClr val="tx1"/>
                          </a:solidFill>
                          <a:effectLst/>
                          <a:latin typeface="Arial" charset="0"/>
                          <a:ea typeface="ＭＳ Ｐゴシック" pitchFamily="34" charset="-128"/>
                        </a:rPr>
                        <a:t>	$50</a:t>
                      </a:r>
                    </a:p>
                  </a:txBody>
                  <a:tcPr marT="45712" marB="45712"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accent2"/>
                        </a:buClr>
                        <a:buSzPct val="85000"/>
                        <a:buFont typeface="Wingdings" pitchFamily="2" charset="2"/>
                        <a:buNone/>
                        <a:tabLst/>
                      </a:pPr>
                      <a:endParaRPr kumimoji="0" lang="en-US" sz="1600" b="0" i="0" u="none" strike="noStrike" cap="none" normalizeH="0" baseline="0" dirty="0">
                        <a:ln>
                          <a:noFill/>
                        </a:ln>
                        <a:solidFill>
                          <a:schemeClr val="tx1"/>
                        </a:solidFill>
                        <a:effectLst/>
                        <a:latin typeface="Arial" charset="0"/>
                        <a:ea typeface="ＭＳ Ｐゴシック" pitchFamily="34" charset="-128"/>
                      </a:endParaRPr>
                    </a:p>
                  </a:txBody>
                  <a:tcPr marT="45712" marB="45712" anchor="ctr"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6595" name="Text Box 163"/>
          <p:cNvSpPr txBox="1">
            <a:spLocks noChangeArrowheads="1"/>
          </p:cNvSpPr>
          <p:nvPr/>
        </p:nvSpPr>
        <p:spPr bwMode="auto">
          <a:xfrm>
            <a:off x="808038" y="3006725"/>
            <a:ext cx="1039812" cy="307975"/>
          </a:xfrm>
          <a:prstGeom prst="rect">
            <a:avLst/>
          </a:prstGeom>
          <a:noFill/>
          <a:ln w="9525">
            <a:noFill/>
            <a:miter lim="800000"/>
            <a:headEnd/>
            <a:tailEnd/>
          </a:ln>
        </p:spPr>
        <p:txBody>
          <a:bodyPr wrap="none">
            <a:spAutoFit/>
          </a:bodyPr>
          <a:lstStyle/>
          <a:p>
            <a:r>
              <a:rPr lang="en-US" sz="1400">
                <a:ea typeface="MS PGothic" pitchFamily="34" charset="-128"/>
              </a:rPr>
              <a:t>TABLE 7.2</a:t>
            </a:r>
          </a:p>
        </p:txBody>
      </p:sp>
      <p:sp>
        <p:nvSpPr>
          <p:cNvPr id="9" name="Date Placeholder 8"/>
          <p:cNvSpPr>
            <a:spLocks noGrp="1"/>
          </p:cNvSpPr>
          <p:nvPr>
            <p:ph type="dt" sz="quarter" idx="10"/>
          </p:nvPr>
        </p:nvSpPr>
        <p:spPr/>
        <p:txBody>
          <a:bodyPr/>
          <a:lstStyle/>
          <a:p>
            <a:pPr>
              <a:defRPr/>
            </a:pPr>
            <a:r>
              <a:rPr lang="en-US"/>
              <a:t>Copyright ©2015 Pearson Education, Inc.</a:t>
            </a:r>
            <a:endParaRPr lang="en-US" dirty="0"/>
          </a:p>
        </p:txBody>
      </p:sp>
      <p:sp>
        <p:nvSpPr>
          <p:cNvPr id="10" name="Slide Number Placeholder 9"/>
          <p:cNvSpPr>
            <a:spLocks noGrp="1"/>
          </p:cNvSpPr>
          <p:nvPr>
            <p:ph type="sldNum" sz="quarter" idx="11"/>
          </p:nvPr>
        </p:nvSpPr>
        <p:spPr/>
        <p:txBody>
          <a:bodyPr/>
          <a:lstStyle/>
          <a:p>
            <a:pPr>
              <a:defRPr/>
            </a:pPr>
            <a:r>
              <a:rPr lang="en-US"/>
              <a:t>7 – </a:t>
            </a:r>
            <a:fld id="{2DF77435-E999-44EC-97AB-7AAEA056BC24}" type="slidenum">
              <a:rPr lang="en-US"/>
              <a:pPr>
                <a:defRPr/>
              </a:pPr>
              <a:t>8</a:t>
            </a:fld>
            <a:endParaRPr lang="en-US"/>
          </a:p>
        </p:txBody>
      </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146594"/>
                                        </p:tgtEl>
                                        <p:attrNameLst>
                                          <p:attrName>style.visibility</p:attrName>
                                        </p:attrNameLst>
                                      </p:cBhvr>
                                      <p:to>
                                        <p:strVal val="visible"/>
                                      </p:to>
                                    </p:set>
                                    <p:animEffect transition="in" filter="strips(downRight)">
                                      <p:cBhvr>
                                        <p:cTn id="7" dur="1000"/>
                                        <p:tgtEl>
                                          <p:spTgt spid="146594"/>
                                        </p:tgtEl>
                                      </p:cBhvr>
                                    </p:animEffect>
                                  </p:childTnLst>
                                </p:cTn>
                              </p:par>
                            </p:childTnLst>
                          </p:cTn>
                        </p:par>
                        <p:par>
                          <p:cTn id="8" fill="hold" nodeType="afterGroup">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146595"/>
                                        </p:tgtEl>
                                        <p:attrNameLst>
                                          <p:attrName>style.visibility</p:attrName>
                                        </p:attrNameLst>
                                      </p:cBhvr>
                                      <p:to>
                                        <p:strVal val="visible"/>
                                      </p:to>
                                    </p:set>
                                    <p:animEffect transition="in" filter="wipe(left)">
                                      <p:cBhvr>
                                        <p:cTn id="11" dur="1000"/>
                                        <p:tgtEl>
                                          <p:spTgt spid="146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59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lIns="90488" tIns="44450" rIns="90488" bIns="44450"/>
          <a:lstStyle/>
          <a:p>
            <a:pPr>
              <a:lnSpc>
                <a:spcPct val="80000"/>
              </a:lnSpc>
            </a:pPr>
            <a:r>
              <a:rPr lang="en-US">
                <a:latin typeface="Arial" charset="0"/>
                <a:ea typeface="MS PGothic" pitchFamily="34" charset="-128"/>
                <a:cs typeface="Arial" charset="0"/>
              </a:rPr>
              <a:t>Flair Furniture Company</a:t>
            </a:r>
            <a:endParaRPr lang="en-US" sz="2800">
              <a:latin typeface="Arial" charset="0"/>
              <a:ea typeface="MS PGothic" pitchFamily="34" charset="-128"/>
              <a:cs typeface="Arial" charset="0"/>
            </a:endParaRPr>
          </a:p>
        </p:txBody>
      </p:sp>
      <p:sp>
        <p:nvSpPr>
          <p:cNvPr id="2" name="Content Placeholder 1"/>
          <p:cNvSpPr>
            <a:spLocks noGrp="1"/>
          </p:cNvSpPr>
          <p:nvPr>
            <p:ph idx="1"/>
          </p:nvPr>
        </p:nvSpPr>
        <p:spPr>
          <a:xfrm>
            <a:off x="673100" y="1600200"/>
            <a:ext cx="7823200" cy="4902200"/>
          </a:xfrm>
        </p:spPr>
        <p:txBody>
          <a:bodyPr rtlCol="0">
            <a:normAutofit/>
          </a:bodyPr>
          <a:lstStyle/>
          <a:p>
            <a:pPr fontAlgn="auto">
              <a:spcBef>
                <a:spcPts val="0"/>
              </a:spcBef>
              <a:buFont typeface="Arial"/>
              <a:buChar char="•"/>
              <a:defRPr/>
            </a:pPr>
            <a:r>
              <a:rPr lang="en-US" dirty="0"/>
              <a:t>The objective is</a:t>
            </a:r>
          </a:p>
          <a:p>
            <a:pPr marL="0" indent="0" algn="ctr" fontAlgn="auto">
              <a:spcBef>
                <a:spcPts val="0"/>
              </a:spcBef>
              <a:buFont typeface="Arial"/>
              <a:buNone/>
              <a:defRPr/>
            </a:pPr>
            <a:r>
              <a:rPr lang="en-US" sz="2400" dirty="0"/>
              <a:t>Maximize profit</a:t>
            </a:r>
          </a:p>
          <a:p>
            <a:pPr fontAlgn="auto">
              <a:spcBef>
                <a:spcPts val="0"/>
              </a:spcBef>
              <a:buFont typeface="Arial"/>
              <a:buChar char="•"/>
              <a:defRPr/>
            </a:pPr>
            <a:r>
              <a:rPr lang="en-US" dirty="0"/>
              <a:t>The constraints are</a:t>
            </a:r>
          </a:p>
          <a:p>
            <a:pPr lvl="1" fontAlgn="auto">
              <a:spcBef>
                <a:spcPts val="0"/>
              </a:spcBef>
              <a:buFont typeface="Arial"/>
              <a:buChar char="–"/>
              <a:defRPr/>
            </a:pPr>
            <a:r>
              <a:rPr lang="en-US" dirty="0"/>
              <a:t>The hours of carpentry time used cannot exceed 240 hours per week</a:t>
            </a:r>
          </a:p>
          <a:p>
            <a:pPr lvl="1" fontAlgn="auto">
              <a:spcBef>
                <a:spcPts val="0"/>
              </a:spcBef>
              <a:buFont typeface="Arial"/>
              <a:buChar char="–"/>
              <a:defRPr/>
            </a:pPr>
            <a:r>
              <a:rPr lang="en-US" dirty="0"/>
              <a:t>The hours of painting and varnishing time used cannot exceed 100 hours per week</a:t>
            </a:r>
          </a:p>
          <a:p>
            <a:pPr fontAlgn="auto">
              <a:spcBef>
                <a:spcPts val="0"/>
              </a:spcBef>
              <a:buFont typeface="Arial"/>
              <a:buChar char="•"/>
              <a:defRPr/>
            </a:pPr>
            <a:r>
              <a:rPr lang="en-US" dirty="0"/>
              <a:t>The </a:t>
            </a:r>
            <a:r>
              <a:rPr lang="en-US" b="1" dirty="0"/>
              <a:t>decision variables </a:t>
            </a:r>
            <a:r>
              <a:rPr lang="en-US" dirty="0"/>
              <a:t>are</a:t>
            </a:r>
          </a:p>
          <a:p>
            <a:pPr marL="0" indent="0" fontAlgn="auto">
              <a:spcBef>
                <a:spcPts val="0"/>
              </a:spcBef>
              <a:buFont typeface="Arial"/>
              <a:buNone/>
              <a:defRPr/>
            </a:pPr>
            <a:r>
              <a:rPr lang="en-US" sz="2600" dirty="0"/>
              <a:t>		</a:t>
            </a:r>
            <a:r>
              <a:rPr lang="en-US" sz="2400" i="1" dirty="0"/>
              <a:t>T</a:t>
            </a:r>
            <a:r>
              <a:rPr lang="en-US" sz="2400" dirty="0"/>
              <a:t> = number of tables to be produced per week</a:t>
            </a:r>
          </a:p>
          <a:p>
            <a:pPr marL="0" indent="0" fontAlgn="auto">
              <a:spcBef>
                <a:spcPts val="0"/>
              </a:spcBef>
              <a:buFont typeface="Arial"/>
              <a:buNone/>
              <a:defRPr/>
            </a:pPr>
            <a:r>
              <a:rPr lang="en-US" sz="2400" dirty="0"/>
              <a:t>		</a:t>
            </a:r>
            <a:r>
              <a:rPr lang="en-US" sz="2400" i="1" dirty="0"/>
              <a:t>C</a:t>
            </a:r>
            <a:r>
              <a:rPr lang="en-US" sz="2400" dirty="0"/>
              <a:t> = number of chairs to be produced per week</a:t>
            </a:r>
          </a:p>
        </p:txBody>
      </p:sp>
      <p:sp>
        <p:nvSpPr>
          <p:cNvPr id="7" name="Date Placeholder 8"/>
          <p:cNvSpPr>
            <a:spLocks noGrp="1"/>
          </p:cNvSpPr>
          <p:nvPr>
            <p:ph type="dt" sz="quarter" idx="10"/>
          </p:nvPr>
        </p:nvSpPr>
        <p:spPr/>
        <p:txBody>
          <a:bodyPr/>
          <a:lstStyle/>
          <a:p>
            <a:pPr>
              <a:defRPr/>
            </a:pPr>
            <a:r>
              <a:rPr lang="en-US"/>
              <a:t>Copyright ©2015 Pearson Education, Inc.</a:t>
            </a:r>
            <a:endParaRPr lang="en-US" dirty="0"/>
          </a:p>
        </p:txBody>
      </p:sp>
      <p:sp>
        <p:nvSpPr>
          <p:cNvPr id="8" name="Slide Number Placeholder 9"/>
          <p:cNvSpPr>
            <a:spLocks noGrp="1"/>
          </p:cNvSpPr>
          <p:nvPr>
            <p:ph type="sldNum" sz="quarter" idx="11"/>
          </p:nvPr>
        </p:nvSpPr>
        <p:spPr/>
        <p:txBody>
          <a:bodyPr/>
          <a:lstStyle/>
          <a:p>
            <a:pPr>
              <a:defRPr/>
            </a:pPr>
            <a:r>
              <a:rPr lang="en-US"/>
              <a:t>7 – </a:t>
            </a:r>
            <a:fld id="{89FBA3DB-0045-4C4C-B589-391787333A4B}" type="slidenum">
              <a:rPr lang="en-US"/>
              <a:pPr>
                <a:defRPr/>
              </a:pPr>
              <a:t>9</a:t>
            </a:fld>
            <a:endParaRPr lang="en-US"/>
          </a:p>
        </p:txBody>
      </p:sp>
    </p:spTree>
  </p:cSld>
  <p:clrMapOvr>
    <a:masterClrMapping/>
  </p:clrMapOvr>
  <p:transition>
    <p:strips/>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lIns="90488" tIns="44450" rIns="90488" bIns="44450"/>
          <a:lstStyle/>
          <a:p>
            <a:pPr>
              <a:lnSpc>
                <a:spcPct val="80000"/>
              </a:lnSpc>
            </a:pPr>
            <a:r>
              <a:rPr lang="en-US">
                <a:latin typeface="Arial" charset="0"/>
                <a:ea typeface="MS PGothic" pitchFamily="34" charset="-128"/>
                <a:cs typeface="Arial" charset="0"/>
              </a:rPr>
              <a:t>Flair Furniture Company</a:t>
            </a:r>
            <a:endParaRPr lang="en-US" sz="2800">
              <a:latin typeface="Arial" charset="0"/>
              <a:ea typeface="MS PGothic" pitchFamily="34" charset="-128"/>
              <a:cs typeface="Arial" charset="0"/>
            </a:endParaRPr>
          </a:p>
        </p:txBody>
      </p:sp>
      <p:sp>
        <p:nvSpPr>
          <p:cNvPr id="2" name="Content Placeholder 1"/>
          <p:cNvSpPr>
            <a:spLocks noGrp="1"/>
          </p:cNvSpPr>
          <p:nvPr>
            <p:ph idx="1"/>
          </p:nvPr>
        </p:nvSpPr>
        <p:spPr>
          <a:xfrm>
            <a:off x="673100" y="1417638"/>
            <a:ext cx="7823200" cy="4945062"/>
          </a:xfrm>
        </p:spPr>
        <p:txBody>
          <a:bodyPr rtlCol="0">
            <a:normAutofit/>
          </a:bodyPr>
          <a:lstStyle/>
          <a:p>
            <a:pPr fontAlgn="auto">
              <a:spcBef>
                <a:spcPts val="0"/>
              </a:spcBef>
              <a:spcAft>
                <a:spcPts val="1200"/>
              </a:spcAft>
              <a:buFont typeface="Arial"/>
              <a:buChar char="•"/>
              <a:defRPr/>
            </a:pPr>
            <a:r>
              <a:rPr lang="en-US" dirty="0"/>
              <a:t>Create objective function in terms of </a:t>
            </a:r>
            <a:r>
              <a:rPr lang="en-US" i="1" dirty="0"/>
              <a:t>T</a:t>
            </a:r>
            <a:r>
              <a:rPr lang="en-US" dirty="0"/>
              <a:t> and </a:t>
            </a:r>
            <a:r>
              <a:rPr lang="en-US" i="1" dirty="0"/>
              <a:t>C</a:t>
            </a:r>
          </a:p>
          <a:p>
            <a:pPr marL="0" indent="0" algn="ctr" fontAlgn="auto">
              <a:spcBef>
                <a:spcPts val="0"/>
              </a:spcBef>
              <a:spcAft>
                <a:spcPts val="1200"/>
              </a:spcAft>
              <a:buFont typeface="Arial"/>
              <a:buNone/>
              <a:defRPr/>
            </a:pPr>
            <a:r>
              <a:rPr lang="en-US" sz="2400" dirty="0"/>
              <a:t>Maximize profit = $</a:t>
            </a:r>
            <a:r>
              <a:rPr lang="en-US" sz="2400" dirty="0" err="1"/>
              <a:t>70</a:t>
            </a:r>
            <a:r>
              <a:rPr lang="en-US" sz="2400" i="1" dirty="0" err="1"/>
              <a:t>T</a:t>
            </a:r>
            <a:r>
              <a:rPr lang="en-US" sz="2400" dirty="0"/>
              <a:t> + $</a:t>
            </a:r>
            <a:r>
              <a:rPr lang="en-US" sz="2400" dirty="0" err="1"/>
              <a:t>50</a:t>
            </a:r>
            <a:r>
              <a:rPr lang="en-US" sz="2400" i="1" dirty="0" err="1"/>
              <a:t>C</a:t>
            </a:r>
            <a:endParaRPr lang="en-US" sz="2400" i="1" dirty="0"/>
          </a:p>
          <a:p>
            <a:pPr fontAlgn="auto">
              <a:spcBef>
                <a:spcPts val="0"/>
              </a:spcBef>
              <a:buFont typeface="Arial"/>
              <a:buChar char="•"/>
              <a:defRPr/>
            </a:pPr>
            <a:r>
              <a:rPr lang="en-US" dirty="0"/>
              <a:t>Develop mathematical relationships for the two constraints</a:t>
            </a:r>
          </a:p>
          <a:p>
            <a:pPr lvl="1" fontAlgn="auto">
              <a:spcBef>
                <a:spcPts val="0"/>
              </a:spcBef>
              <a:buFont typeface="Arial"/>
              <a:buChar char="–"/>
              <a:defRPr/>
            </a:pPr>
            <a:r>
              <a:rPr lang="en-US" dirty="0"/>
              <a:t>For carpentry, total time used is</a:t>
            </a:r>
          </a:p>
          <a:p>
            <a:pPr marL="0" indent="0" fontAlgn="auto">
              <a:spcBef>
                <a:spcPts val="0"/>
              </a:spcBef>
              <a:buFont typeface="Arial"/>
              <a:buNone/>
              <a:defRPr/>
            </a:pPr>
            <a:r>
              <a:rPr lang="en-US" dirty="0"/>
              <a:t>		(</a:t>
            </a:r>
            <a:r>
              <a:rPr lang="en-US" sz="2400" dirty="0"/>
              <a:t>4 hours per table)(Number of tables produced)</a:t>
            </a:r>
            <a:br>
              <a:rPr lang="en-US" sz="2400" dirty="0"/>
            </a:br>
            <a:r>
              <a:rPr lang="en-US" sz="2400" dirty="0"/>
              <a:t>		+ (3 hours per chair)(Number of chairs produced)</a:t>
            </a:r>
          </a:p>
          <a:p>
            <a:pPr lvl="1" fontAlgn="auto">
              <a:spcBef>
                <a:spcPts val="0"/>
              </a:spcBef>
              <a:spcAft>
                <a:spcPts val="1200"/>
              </a:spcAft>
              <a:buFont typeface="Arial"/>
              <a:buChar char="–"/>
              <a:defRPr/>
            </a:pPr>
            <a:r>
              <a:rPr lang="en-US" dirty="0"/>
              <a:t>First constraint is</a:t>
            </a:r>
          </a:p>
          <a:p>
            <a:pPr marL="0" indent="0" algn="ctr" fontAlgn="auto">
              <a:spcBef>
                <a:spcPts val="0"/>
              </a:spcBef>
              <a:spcAft>
                <a:spcPts val="1200"/>
              </a:spcAft>
              <a:buFont typeface="Arial"/>
              <a:buNone/>
              <a:defRPr/>
            </a:pPr>
            <a:r>
              <a:rPr lang="en-US" sz="2400" dirty="0"/>
              <a:t>Carpentry time used ≤ Carpentry time available</a:t>
            </a:r>
          </a:p>
          <a:p>
            <a:pPr marL="0" indent="0" algn="ctr" fontAlgn="auto">
              <a:spcBef>
                <a:spcPts val="0"/>
              </a:spcBef>
              <a:buFont typeface="Arial"/>
              <a:buNone/>
              <a:defRPr/>
            </a:pPr>
            <a:r>
              <a:rPr lang="en-US" sz="2400" dirty="0" err="1"/>
              <a:t>4</a:t>
            </a:r>
            <a:r>
              <a:rPr lang="en-US" sz="2400" i="1" dirty="0" err="1"/>
              <a:t>T</a:t>
            </a:r>
            <a:r>
              <a:rPr lang="en-US" sz="2400" dirty="0"/>
              <a:t> + </a:t>
            </a:r>
            <a:r>
              <a:rPr lang="en-US" sz="2400" dirty="0" err="1"/>
              <a:t>3</a:t>
            </a:r>
            <a:r>
              <a:rPr lang="en-US" sz="2400" i="1" dirty="0" err="1"/>
              <a:t>C</a:t>
            </a:r>
            <a:r>
              <a:rPr lang="en-US" sz="2400" dirty="0"/>
              <a:t> ≤ 240 (hours of carpentry time)</a:t>
            </a:r>
          </a:p>
        </p:txBody>
      </p:sp>
      <p:sp>
        <p:nvSpPr>
          <p:cNvPr id="7" name="Date Placeholder 8"/>
          <p:cNvSpPr>
            <a:spLocks noGrp="1"/>
          </p:cNvSpPr>
          <p:nvPr>
            <p:ph type="dt" sz="quarter" idx="10"/>
          </p:nvPr>
        </p:nvSpPr>
        <p:spPr/>
        <p:txBody>
          <a:bodyPr/>
          <a:lstStyle/>
          <a:p>
            <a:pPr>
              <a:defRPr/>
            </a:pPr>
            <a:r>
              <a:rPr lang="en-US"/>
              <a:t>Copyright ©2015 Pearson Education, Inc.</a:t>
            </a:r>
            <a:endParaRPr lang="en-US" dirty="0"/>
          </a:p>
        </p:txBody>
      </p:sp>
      <p:sp>
        <p:nvSpPr>
          <p:cNvPr id="8" name="Slide Number Placeholder 9"/>
          <p:cNvSpPr>
            <a:spLocks noGrp="1"/>
          </p:cNvSpPr>
          <p:nvPr>
            <p:ph type="sldNum" sz="quarter" idx="11"/>
          </p:nvPr>
        </p:nvSpPr>
        <p:spPr/>
        <p:txBody>
          <a:bodyPr/>
          <a:lstStyle/>
          <a:p>
            <a:pPr>
              <a:defRPr/>
            </a:pPr>
            <a:r>
              <a:rPr lang="en-US"/>
              <a:t>7 – </a:t>
            </a:r>
            <a:fld id="{BCF4405D-CF05-4571-9C57-8B9E05AD28DB}" type="slidenum">
              <a:rPr lang="en-US"/>
              <a:pPr>
                <a:defRPr/>
              </a:pPr>
              <a:t>10</a:t>
            </a:fld>
            <a:endParaRPr lang="en-US"/>
          </a:p>
        </p:txBody>
      </p:sp>
    </p:spTree>
  </p:cSld>
  <p:clrMapOvr>
    <a:masterClrMapping/>
  </p:clrMapOvr>
  <p:transition>
    <p:strips/>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r>
              <a:rPr lang="en-US" sz="4000">
                <a:latin typeface="Arial" charset="0"/>
                <a:ea typeface="MS PGothic" pitchFamily="34" charset="-128"/>
                <a:cs typeface="Arial" charset="0"/>
              </a:rPr>
              <a:t>Solving Flair Furniture’s </a:t>
            </a:r>
            <a:br>
              <a:rPr lang="en-US" sz="4000">
                <a:latin typeface="Arial" charset="0"/>
                <a:ea typeface="MS PGothic" pitchFamily="34" charset="-128"/>
                <a:cs typeface="Arial" charset="0"/>
              </a:rPr>
            </a:br>
            <a:r>
              <a:rPr lang="en-US" sz="4000">
                <a:latin typeface="Arial" charset="0"/>
                <a:ea typeface="MS PGothic" pitchFamily="34" charset="-128"/>
                <a:cs typeface="Arial" charset="0"/>
              </a:rPr>
              <a:t>LP Problem</a:t>
            </a:r>
          </a:p>
        </p:txBody>
      </p:sp>
      <p:sp>
        <p:nvSpPr>
          <p:cNvPr id="56322" name="Rectangle 4"/>
          <p:cNvSpPr>
            <a:spLocks noGrp="1" noChangeArrowheads="1"/>
          </p:cNvSpPr>
          <p:nvPr>
            <p:ph type="body" idx="1"/>
          </p:nvPr>
        </p:nvSpPr>
        <p:spPr>
          <a:xfrm>
            <a:off x="673100" y="1828800"/>
            <a:ext cx="7823200" cy="4076700"/>
          </a:xfrm>
        </p:spPr>
        <p:txBody>
          <a:bodyPr/>
          <a:lstStyle/>
          <a:p>
            <a:r>
              <a:rPr lang="en-US">
                <a:latin typeface="Arial" charset="0"/>
                <a:ea typeface="MS PGothic" pitchFamily="34" charset="-128"/>
                <a:cs typeface="Arial" charset="0"/>
              </a:rPr>
              <a:t>Most organizations have access to software to solve big LP problems</a:t>
            </a:r>
          </a:p>
          <a:p>
            <a:r>
              <a:rPr lang="en-US">
                <a:latin typeface="Arial" charset="0"/>
                <a:ea typeface="MS PGothic" pitchFamily="34" charset="-128"/>
                <a:cs typeface="Arial" charset="0"/>
              </a:rPr>
              <a:t>There are differences between software implementations, the approach is basically the same</a:t>
            </a:r>
          </a:p>
          <a:p>
            <a:r>
              <a:rPr lang="en-US">
                <a:latin typeface="Arial" charset="0"/>
                <a:ea typeface="MS PGothic" pitchFamily="34" charset="-128"/>
                <a:cs typeface="Arial" charset="0"/>
              </a:rPr>
              <a:t>With experience with computerized LP algorithms, it is easy to adjust to minor changes</a:t>
            </a:r>
          </a:p>
        </p:txBody>
      </p:sp>
      <p:sp>
        <p:nvSpPr>
          <p:cNvPr id="4" name="Date Placeholder 8"/>
          <p:cNvSpPr>
            <a:spLocks noGrp="1"/>
          </p:cNvSpPr>
          <p:nvPr>
            <p:ph type="dt" sz="quarter" idx="10"/>
          </p:nvPr>
        </p:nvSpPr>
        <p:spPr/>
        <p:txBody>
          <a:bodyPr/>
          <a:lstStyle/>
          <a:p>
            <a:pPr>
              <a:defRPr/>
            </a:pPr>
            <a:r>
              <a:rPr lang="en-US" dirty="0"/>
              <a:t>Copyright ©2015 Pearson Education, Inc.</a:t>
            </a:r>
          </a:p>
        </p:txBody>
      </p:sp>
      <p:sp>
        <p:nvSpPr>
          <p:cNvPr id="5" name="Slide Number Placeholder 9"/>
          <p:cNvSpPr>
            <a:spLocks noGrp="1"/>
          </p:cNvSpPr>
          <p:nvPr>
            <p:ph type="sldNum" sz="quarter" idx="11"/>
          </p:nvPr>
        </p:nvSpPr>
        <p:spPr/>
        <p:txBody>
          <a:bodyPr/>
          <a:lstStyle/>
          <a:p>
            <a:pPr>
              <a:defRPr/>
            </a:pPr>
            <a:r>
              <a:rPr lang="en-US"/>
              <a:t>7 – </a:t>
            </a:r>
            <a:fld id="{8355A1F5-B4F6-4036-BBF0-C55A1AF40841}" type="slidenum">
              <a:rPr lang="en-US"/>
              <a:pPr>
                <a:defRPr/>
              </a:pPr>
              <a:t>11</a:t>
            </a:fld>
            <a:endParaRPr lang="en-US"/>
          </a:p>
        </p:txBody>
      </p:sp>
    </p:spTree>
  </p:cSld>
  <p:clrMapOvr>
    <a:masterClrMapping/>
  </p:clrMapOvr>
  <p:transition>
    <p:pull dir="l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p:txBody>
          <a:bodyPr/>
          <a:lstStyle/>
          <a:p>
            <a:r>
              <a:rPr lang="en-US">
                <a:latin typeface="Arial" charset="0"/>
                <a:ea typeface="MS PGothic" pitchFamily="34" charset="-128"/>
                <a:cs typeface="Arial" charset="0"/>
              </a:rPr>
              <a:t>Using Excel’s Solver</a:t>
            </a:r>
          </a:p>
        </p:txBody>
      </p:sp>
      <p:sp>
        <p:nvSpPr>
          <p:cNvPr id="61442" name="Content Placeholder 1"/>
          <p:cNvSpPr>
            <a:spLocks noGrp="1"/>
          </p:cNvSpPr>
          <p:nvPr>
            <p:ph idx="1"/>
          </p:nvPr>
        </p:nvSpPr>
        <p:spPr/>
        <p:txBody>
          <a:bodyPr/>
          <a:lstStyle/>
          <a:p>
            <a:r>
              <a:rPr lang="en-US">
                <a:latin typeface="Arial" charset="0"/>
                <a:cs typeface="Arial" charset="0"/>
              </a:rPr>
              <a:t>The Solver tool in Excel can be used to find solutions to</a:t>
            </a:r>
          </a:p>
          <a:p>
            <a:pPr lvl="1"/>
            <a:r>
              <a:rPr lang="en-US">
                <a:latin typeface="Arial" charset="0"/>
                <a:cs typeface="Arial" charset="0"/>
              </a:rPr>
              <a:t>LP problems</a:t>
            </a:r>
          </a:p>
          <a:p>
            <a:pPr lvl="1"/>
            <a:r>
              <a:rPr lang="en-US">
                <a:latin typeface="Arial" charset="0"/>
                <a:cs typeface="Arial" charset="0"/>
              </a:rPr>
              <a:t>Integer programming problems</a:t>
            </a:r>
          </a:p>
          <a:p>
            <a:pPr lvl="1"/>
            <a:r>
              <a:rPr lang="en-US">
                <a:latin typeface="Arial" charset="0"/>
                <a:cs typeface="Arial" charset="0"/>
              </a:rPr>
              <a:t>Noninteger programming problems</a:t>
            </a:r>
          </a:p>
          <a:p>
            <a:pPr lvl="1"/>
            <a:r>
              <a:rPr lang="en-US">
                <a:latin typeface="Arial" charset="0"/>
                <a:cs typeface="Arial" charset="0"/>
              </a:rPr>
              <a:t>Solver is limited to 200 variables and, in some situations, 100 constraints</a:t>
            </a:r>
          </a:p>
          <a:p>
            <a:endParaRPr lang="en-US">
              <a:latin typeface="Arial" charset="0"/>
              <a:cs typeface="Arial" charset="0"/>
            </a:endParaRPr>
          </a:p>
        </p:txBody>
      </p:sp>
      <p:sp>
        <p:nvSpPr>
          <p:cNvPr id="5" name="Date Placeholder 8"/>
          <p:cNvSpPr>
            <a:spLocks noGrp="1"/>
          </p:cNvSpPr>
          <p:nvPr>
            <p:ph type="dt" sz="quarter" idx="10"/>
          </p:nvPr>
        </p:nvSpPr>
        <p:spPr/>
        <p:txBody>
          <a:bodyPr/>
          <a:lstStyle/>
          <a:p>
            <a:pPr>
              <a:defRPr/>
            </a:pPr>
            <a:r>
              <a:rPr lang="en-US" dirty="0"/>
              <a:t>Copyright ©2015 Pearson Education, Inc.</a:t>
            </a:r>
          </a:p>
        </p:txBody>
      </p:sp>
      <p:sp>
        <p:nvSpPr>
          <p:cNvPr id="6" name="Slide Number Placeholder 9"/>
          <p:cNvSpPr>
            <a:spLocks noGrp="1"/>
          </p:cNvSpPr>
          <p:nvPr>
            <p:ph type="sldNum" sz="quarter" idx="11"/>
          </p:nvPr>
        </p:nvSpPr>
        <p:spPr/>
        <p:txBody>
          <a:bodyPr/>
          <a:lstStyle/>
          <a:p>
            <a:pPr>
              <a:defRPr/>
            </a:pPr>
            <a:r>
              <a:rPr lang="en-US"/>
              <a:t>7 – </a:t>
            </a:r>
            <a:fld id="{4F22B1D2-DD52-458B-B311-9C1DBCEE8AC7}" type="slidenum">
              <a:rPr lang="en-US"/>
              <a:pPr>
                <a:defRPr/>
              </a:pPr>
              <a:t>12</a:t>
            </a:fld>
            <a:endParaRPr lang="en-US"/>
          </a:p>
        </p:txBody>
      </p:sp>
    </p:spTree>
  </p:cSld>
  <p:clrMapOvr>
    <a:masterClrMapping/>
  </p:clrMapOvr>
  <p:transition>
    <p:pull dir="l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62466" name="Content Placeholder 1"/>
          <p:cNvSpPr>
            <a:spLocks noGrp="1"/>
          </p:cNvSpPr>
          <p:nvPr>
            <p:ph idx="1"/>
          </p:nvPr>
        </p:nvSpPr>
        <p:spPr>
          <a:xfrm>
            <a:off x="673100" y="1600200"/>
            <a:ext cx="7823200" cy="749300"/>
          </a:xfrm>
        </p:spPr>
        <p:txBody>
          <a:bodyPr/>
          <a:lstStyle/>
          <a:p>
            <a:r>
              <a:rPr lang="en-US">
                <a:latin typeface="Arial" charset="0"/>
                <a:cs typeface="Arial" charset="0"/>
              </a:rPr>
              <a:t>Recall the model for Flair Furniture is</a:t>
            </a:r>
          </a:p>
        </p:txBody>
      </p:sp>
      <p:sp>
        <p:nvSpPr>
          <p:cNvPr id="176133" name="Text Box 5"/>
          <p:cNvSpPr txBox="1">
            <a:spLocks noChangeArrowheads="1"/>
          </p:cNvSpPr>
          <p:nvPr/>
        </p:nvSpPr>
        <p:spPr bwMode="auto">
          <a:xfrm>
            <a:off x="1724025" y="2241550"/>
            <a:ext cx="5748338" cy="1200150"/>
          </a:xfrm>
          <a:prstGeom prst="rect">
            <a:avLst/>
          </a:prstGeom>
          <a:noFill/>
          <a:ln w="9525">
            <a:noFill/>
            <a:miter lim="800000"/>
            <a:headEnd/>
            <a:tailEnd/>
          </a:ln>
        </p:spPr>
        <p:txBody>
          <a:bodyPr wrap="none">
            <a:spAutoFit/>
          </a:bodyPr>
          <a:lstStyle/>
          <a:p>
            <a:pPr>
              <a:tabLst>
                <a:tab pos="3860800" algn="r"/>
                <a:tab pos="4660900" algn="r"/>
                <a:tab pos="4749800" algn="l"/>
              </a:tabLst>
            </a:pPr>
            <a:r>
              <a:rPr lang="en-US" sz="2400">
                <a:ea typeface="MS PGothic" pitchFamily="34" charset="-128"/>
              </a:rPr>
              <a:t>Maximize profit =	$70</a:t>
            </a:r>
            <a:r>
              <a:rPr lang="en-US" sz="2400" i="1">
                <a:ea typeface="MS PGothic" pitchFamily="34" charset="-128"/>
              </a:rPr>
              <a:t>T</a:t>
            </a:r>
            <a:r>
              <a:rPr lang="en-US" sz="2400">
                <a:ea typeface="MS PGothic" pitchFamily="34" charset="-128"/>
              </a:rPr>
              <a:t> +	$50</a:t>
            </a:r>
            <a:r>
              <a:rPr lang="en-US" sz="2400" i="1">
                <a:ea typeface="MS PGothic" pitchFamily="34" charset="-128"/>
              </a:rPr>
              <a:t>C</a:t>
            </a:r>
          </a:p>
          <a:p>
            <a:pPr>
              <a:tabLst>
                <a:tab pos="3860800" algn="r"/>
                <a:tab pos="4660900" algn="r"/>
                <a:tab pos="4749800" algn="l"/>
              </a:tabLst>
            </a:pPr>
            <a:r>
              <a:rPr lang="en-US" sz="2400">
                <a:ea typeface="MS PGothic" pitchFamily="34" charset="-128"/>
              </a:rPr>
              <a:t>Subject to	4</a:t>
            </a:r>
            <a:r>
              <a:rPr lang="en-US" sz="2400" i="1">
                <a:ea typeface="MS PGothic" pitchFamily="34" charset="-128"/>
              </a:rPr>
              <a:t>T</a:t>
            </a:r>
            <a:r>
              <a:rPr lang="en-US" sz="2400">
                <a:ea typeface="MS PGothic" pitchFamily="34" charset="-128"/>
              </a:rPr>
              <a:t> +	3</a:t>
            </a:r>
            <a:r>
              <a:rPr lang="en-US" sz="2400" i="1">
                <a:ea typeface="MS PGothic" pitchFamily="34" charset="-128"/>
              </a:rPr>
              <a:t>C</a:t>
            </a:r>
            <a:r>
              <a:rPr lang="en-US" sz="2400">
                <a:ea typeface="MS PGothic" pitchFamily="34" charset="-128"/>
              </a:rPr>
              <a:t>	≤ 240</a:t>
            </a:r>
          </a:p>
          <a:p>
            <a:pPr>
              <a:tabLst>
                <a:tab pos="3860800" algn="r"/>
                <a:tab pos="4660900" algn="r"/>
                <a:tab pos="4749800" algn="l"/>
              </a:tabLst>
            </a:pPr>
            <a:r>
              <a:rPr lang="en-US" sz="2400">
                <a:ea typeface="MS PGothic" pitchFamily="34" charset="-128"/>
              </a:rPr>
              <a:t>	2</a:t>
            </a:r>
            <a:r>
              <a:rPr lang="en-US" sz="2400" i="1">
                <a:ea typeface="MS PGothic" pitchFamily="34" charset="-128"/>
              </a:rPr>
              <a:t>T</a:t>
            </a:r>
            <a:r>
              <a:rPr lang="en-US" sz="2400">
                <a:ea typeface="MS PGothic" pitchFamily="34" charset="-128"/>
              </a:rPr>
              <a:t> +	1</a:t>
            </a:r>
            <a:r>
              <a:rPr lang="en-US" sz="2400" i="1">
                <a:ea typeface="MS PGothic" pitchFamily="34" charset="-128"/>
              </a:rPr>
              <a:t>C</a:t>
            </a:r>
            <a:r>
              <a:rPr lang="en-US" sz="2400">
                <a:ea typeface="MS PGothic" pitchFamily="34" charset="-128"/>
              </a:rPr>
              <a:t>	≤ 100</a:t>
            </a:r>
          </a:p>
        </p:txBody>
      </p:sp>
      <p:sp>
        <p:nvSpPr>
          <p:cNvPr id="7" name="Content Placeholder 1"/>
          <p:cNvSpPr txBox="1">
            <a:spLocks/>
          </p:cNvSpPr>
          <p:nvPr/>
        </p:nvSpPr>
        <p:spPr bwMode="auto">
          <a:xfrm>
            <a:off x="673100" y="3568700"/>
            <a:ext cx="7823200" cy="1181100"/>
          </a:xfrm>
          <a:prstGeom prst="rect">
            <a:avLst/>
          </a:prstGeom>
          <a:noFill/>
          <a:ln w="9525">
            <a:noFill/>
            <a:miter lim="800000"/>
            <a:headEnd/>
            <a:tailEnd/>
          </a:ln>
        </p:spPr>
        <p:txBody>
          <a:bodyPr/>
          <a:lstStyle/>
          <a:p>
            <a:pPr marL="342900" indent="-342900">
              <a:lnSpc>
                <a:spcPct val="90000"/>
              </a:lnSpc>
              <a:spcAft>
                <a:spcPts val="600"/>
              </a:spcAft>
              <a:buFont typeface="Arial" charset="0"/>
              <a:buChar char="•"/>
            </a:pPr>
            <a:r>
              <a:rPr lang="en-US" sz="2800"/>
              <a:t>To use Solver, it is necessary to enter data and formulas</a:t>
            </a:r>
          </a:p>
        </p:txBody>
      </p:sp>
      <p:sp>
        <p:nvSpPr>
          <p:cNvPr id="8" name="Date Placeholder 8"/>
          <p:cNvSpPr>
            <a:spLocks noGrp="1"/>
          </p:cNvSpPr>
          <p:nvPr>
            <p:ph type="dt" sz="quarter" idx="10"/>
          </p:nvPr>
        </p:nvSpPr>
        <p:spPr/>
        <p:txBody>
          <a:bodyPr/>
          <a:lstStyle/>
          <a:p>
            <a:pPr>
              <a:defRPr/>
            </a:pPr>
            <a:r>
              <a:rPr lang="en-US" dirty="0"/>
              <a:t>Copyright ©2015 Pearson Education, Inc.</a:t>
            </a:r>
          </a:p>
        </p:txBody>
      </p:sp>
      <p:sp>
        <p:nvSpPr>
          <p:cNvPr id="9" name="Slide Number Placeholder 9"/>
          <p:cNvSpPr>
            <a:spLocks noGrp="1"/>
          </p:cNvSpPr>
          <p:nvPr>
            <p:ph type="sldNum" sz="quarter" idx="11"/>
          </p:nvPr>
        </p:nvSpPr>
        <p:spPr/>
        <p:txBody>
          <a:bodyPr/>
          <a:lstStyle/>
          <a:p>
            <a:pPr>
              <a:defRPr/>
            </a:pPr>
            <a:r>
              <a:rPr lang="en-US"/>
              <a:t>7 – </a:t>
            </a:r>
            <a:fld id="{746E4D11-81A4-4F55-85DF-6AC4413B01AF}" type="slidenum">
              <a:rPr lang="en-US"/>
              <a:pPr>
                <a:defRPr/>
              </a:pPr>
              <a:t>13</a:t>
            </a:fld>
            <a:endParaRPr lang="en-US"/>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176133"/>
                                        </p:tgtEl>
                                        <p:attrNameLst>
                                          <p:attrName>style.visibility</p:attrName>
                                        </p:attrNameLst>
                                      </p:cBhvr>
                                      <p:to>
                                        <p:strVal val="visible"/>
                                      </p:to>
                                    </p:set>
                                    <p:animEffect transition="in" filter="strips(downRight)">
                                      <p:cBhvr>
                                        <p:cTn id="7" dur="1000"/>
                                        <p:tgtEl>
                                          <p:spTgt spid="176133"/>
                                        </p:tgtEl>
                                      </p:cBhvr>
                                    </p:animEffect>
                                  </p:childTnLst>
                                </p:cTn>
                              </p:par>
                            </p:childTnLst>
                          </p:cTn>
                        </p:par>
                        <p:par>
                          <p:cTn id="8" fill="hold">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7"/>
                                        </p:tgtEl>
                                        <p:attrNameLst>
                                          <p:attrName>style.visibility</p:attrName>
                                        </p:attrNameLst>
                                      </p:cBhvr>
                                      <p:to>
                                        <p:strVal val="visible"/>
                                      </p:to>
                                    </p:set>
                                    <p:animEffect transition="in" filter="strips(downRight)">
                                      <p:cBhvr>
                                        <p:cTn id="1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3"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63490" name="Content Placeholder 1"/>
          <p:cNvSpPr>
            <a:spLocks noGrp="1"/>
          </p:cNvSpPr>
          <p:nvPr>
            <p:ph idx="1"/>
          </p:nvPr>
        </p:nvSpPr>
        <p:spPr>
          <a:xfrm>
            <a:off x="673100" y="1600200"/>
            <a:ext cx="7823200" cy="4533900"/>
          </a:xfrm>
        </p:spPr>
        <p:txBody>
          <a:bodyPr/>
          <a:lstStyle/>
          <a:p>
            <a:pPr marL="514350" indent="-514350">
              <a:buFont typeface="Calibri" pitchFamily="34" charset="0"/>
              <a:buAutoNum type="arabicPeriod"/>
            </a:pPr>
            <a:r>
              <a:rPr lang="en-US">
                <a:latin typeface="Arial" charset="0"/>
                <a:cs typeface="Arial" charset="0"/>
              </a:rPr>
              <a:t>Enter problem data</a:t>
            </a:r>
          </a:p>
          <a:p>
            <a:pPr lvl="1"/>
            <a:r>
              <a:rPr lang="en-US">
                <a:latin typeface="Arial" charset="0"/>
                <a:cs typeface="Arial" charset="0"/>
              </a:rPr>
              <a:t>Variable names, coefficients for the objective function and constraints, RHS values for each constraint</a:t>
            </a:r>
          </a:p>
          <a:p>
            <a:pPr marL="514350" indent="-514350">
              <a:buFont typeface="Calibri" pitchFamily="34" charset="0"/>
              <a:buAutoNum type="arabicPeriod"/>
            </a:pPr>
            <a:r>
              <a:rPr lang="en-US">
                <a:latin typeface="Arial" charset="0"/>
                <a:cs typeface="Arial" charset="0"/>
              </a:rPr>
              <a:t>Designate specific cells for the values of the decision variables</a:t>
            </a:r>
          </a:p>
          <a:p>
            <a:pPr marL="514350" indent="-514350">
              <a:buFont typeface="Calibri" pitchFamily="34" charset="0"/>
              <a:buAutoNum type="arabicPeriod"/>
            </a:pPr>
            <a:r>
              <a:rPr lang="en-US">
                <a:latin typeface="Arial" charset="0"/>
                <a:cs typeface="Arial" charset="0"/>
              </a:rPr>
              <a:t>Write a formula to calculate the value of the objective function</a:t>
            </a:r>
          </a:p>
          <a:p>
            <a:pPr marL="514350" indent="-514350">
              <a:buFont typeface="Calibri" pitchFamily="34" charset="0"/>
              <a:buAutoNum type="arabicPeriod"/>
            </a:pPr>
            <a:r>
              <a:rPr lang="en-US">
                <a:latin typeface="Arial" charset="0"/>
                <a:cs typeface="Arial" charset="0"/>
              </a:rPr>
              <a:t>Write a formula to compute the left-hand sides of each of the constraints</a:t>
            </a:r>
          </a:p>
        </p:txBody>
      </p:sp>
      <p:sp>
        <p:nvSpPr>
          <p:cNvPr id="6" name="Date Placeholder 8"/>
          <p:cNvSpPr>
            <a:spLocks noGrp="1"/>
          </p:cNvSpPr>
          <p:nvPr>
            <p:ph type="dt" sz="quarter" idx="10"/>
          </p:nvPr>
        </p:nvSpPr>
        <p:spPr/>
        <p:txBody>
          <a:bodyPr/>
          <a:lstStyle/>
          <a:p>
            <a:pPr>
              <a:defRPr/>
            </a:pPr>
            <a:r>
              <a:rPr lang="en-US" dirty="0"/>
              <a:t>Copyright ©2015 Pearson Education, Inc.</a:t>
            </a:r>
          </a:p>
        </p:txBody>
      </p:sp>
      <p:sp>
        <p:nvSpPr>
          <p:cNvPr id="8" name="Slide Number Placeholder 9"/>
          <p:cNvSpPr>
            <a:spLocks noGrp="1"/>
          </p:cNvSpPr>
          <p:nvPr>
            <p:ph type="sldNum" sz="quarter" idx="11"/>
          </p:nvPr>
        </p:nvSpPr>
        <p:spPr/>
        <p:txBody>
          <a:bodyPr/>
          <a:lstStyle/>
          <a:p>
            <a:pPr>
              <a:defRPr/>
            </a:pPr>
            <a:r>
              <a:rPr lang="en-US"/>
              <a:t>7 – </a:t>
            </a:r>
            <a:fld id="{3F59745E-2CA6-443B-A204-FF387BEF2421}" type="slidenum">
              <a:rPr lang="en-US"/>
              <a:pPr>
                <a:defRPr/>
              </a:pPr>
              <a:t>14</a:t>
            </a:fld>
            <a:endParaRPr lang="en-US"/>
          </a:p>
        </p:txBody>
      </p:sp>
    </p:spTree>
  </p:cSld>
  <p:clrMapOvr>
    <a:masterClrMapping/>
  </p:clrMapOvr>
  <p:transition spd="slow">
    <p:strips/>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5" name="Text Box 5"/>
          <p:cNvSpPr txBox="1">
            <a:spLocks noChangeArrowheads="1"/>
          </p:cNvSpPr>
          <p:nvPr/>
        </p:nvSpPr>
        <p:spPr bwMode="auto">
          <a:xfrm>
            <a:off x="457200" y="1679575"/>
            <a:ext cx="3044825" cy="307975"/>
          </a:xfrm>
          <a:prstGeom prst="rect">
            <a:avLst/>
          </a:prstGeom>
          <a:noFill/>
          <a:ln w="9525">
            <a:noFill/>
            <a:miter lim="800000"/>
            <a:headEnd/>
            <a:tailEnd/>
          </a:ln>
        </p:spPr>
        <p:txBody>
          <a:bodyPr wrap="none">
            <a:spAutoFit/>
          </a:bodyPr>
          <a:lstStyle/>
          <a:p>
            <a:r>
              <a:rPr lang="en-US" sz="1400">
                <a:ea typeface="MS PGothic" pitchFamily="34" charset="-128"/>
              </a:rPr>
              <a:t>PROGRAM 7.2A – Excel Data Input</a:t>
            </a:r>
          </a:p>
        </p:txBody>
      </p:sp>
      <p:sp>
        <p:nvSpPr>
          <p:cNvPr id="6" name="Date Placeholder 8"/>
          <p:cNvSpPr>
            <a:spLocks noGrp="1"/>
          </p:cNvSpPr>
          <p:nvPr>
            <p:ph type="dt" sz="quarter" idx="10"/>
          </p:nvPr>
        </p:nvSpPr>
        <p:spPr/>
        <p:txBody>
          <a:bodyPr/>
          <a:lstStyle/>
          <a:p>
            <a:pPr>
              <a:defRPr/>
            </a:pPr>
            <a:r>
              <a:rPr lang="en-US" dirty="0"/>
              <a:t>Copyright ©2015 Pearson Education, Inc.</a:t>
            </a:r>
          </a:p>
        </p:txBody>
      </p:sp>
      <p:sp>
        <p:nvSpPr>
          <p:cNvPr id="7" name="Slide Number Placeholder 9"/>
          <p:cNvSpPr>
            <a:spLocks noGrp="1"/>
          </p:cNvSpPr>
          <p:nvPr>
            <p:ph type="sldNum" sz="quarter" idx="11"/>
          </p:nvPr>
        </p:nvSpPr>
        <p:spPr/>
        <p:txBody>
          <a:bodyPr/>
          <a:lstStyle/>
          <a:p>
            <a:pPr>
              <a:defRPr/>
            </a:pPr>
            <a:r>
              <a:rPr lang="en-US"/>
              <a:t>7 – </a:t>
            </a:r>
            <a:fld id="{E9D800AB-F6BA-48FB-A095-6621C9199CF9}" type="slidenum">
              <a:rPr lang="en-US"/>
              <a:pPr>
                <a:defRPr/>
              </a:pPr>
              <a:t>15</a:t>
            </a:fld>
            <a:endParaRPr lang="en-US"/>
          </a:p>
        </p:txBody>
      </p:sp>
      <p:pic>
        <p:nvPicPr>
          <p:cNvPr id="4" name="Picture 3" descr="p 7-2a.pdf"/>
          <p:cNvPicPr>
            <a:picLocks noChangeAspect="1"/>
          </p:cNvPicPr>
          <p:nvPr/>
        </p:nvPicPr>
        <p:blipFill>
          <a:blip r:embed="rId2"/>
          <a:srcRect/>
          <a:stretch>
            <a:fillRect/>
          </a:stretch>
        </p:blipFill>
        <p:spPr bwMode="auto">
          <a:xfrm>
            <a:off x="1250950" y="2241550"/>
            <a:ext cx="6889750" cy="3351213"/>
          </a:xfrm>
          <a:prstGeom prst="rect">
            <a:avLst/>
          </a:prstGeom>
          <a:noFill/>
          <a:ln w="9525">
            <a:noFill/>
            <a:miter lim="800000"/>
            <a:headEnd/>
            <a:tailEnd/>
          </a:ln>
        </p:spPr>
      </p:pic>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2/3*#ppt_w"/>
                                          </p:val>
                                        </p:tav>
                                        <p:tav tm="100000">
                                          <p:val>
                                            <p:strVal val="#ppt_w"/>
                                          </p:val>
                                        </p:tav>
                                      </p:tavLst>
                                    </p:anim>
                                    <p:anim calcmode="lin" valueType="num">
                                      <p:cBhvr>
                                        <p:cTn id="8" dur="1000" fill="hold"/>
                                        <p:tgtEl>
                                          <p:spTgt spid="4"/>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5" name="Text Box 5"/>
          <p:cNvSpPr txBox="1">
            <a:spLocks noChangeArrowheads="1"/>
          </p:cNvSpPr>
          <p:nvPr/>
        </p:nvSpPr>
        <p:spPr bwMode="auto">
          <a:xfrm>
            <a:off x="457200" y="1679575"/>
            <a:ext cx="2479675" cy="307975"/>
          </a:xfrm>
          <a:prstGeom prst="rect">
            <a:avLst/>
          </a:prstGeom>
          <a:noFill/>
          <a:ln w="9525">
            <a:noFill/>
            <a:miter lim="800000"/>
            <a:headEnd/>
            <a:tailEnd/>
          </a:ln>
        </p:spPr>
        <p:txBody>
          <a:bodyPr wrap="none">
            <a:spAutoFit/>
          </a:bodyPr>
          <a:lstStyle/>
          <a:p>
            <a:r>
              <a:rPr lang="en-US" sz="1400">
                <a:ea typeface="MS PGothic" pitchFamily="34" charset="-128"/>
              </a:rPr>
              <a:t>PROGRAM 7.2B – Formulas</a:t>
            </a:r>
          </a:p>
        </p:txBody>
      </p:sp>
      <p:sp>
        <p:nvSpPr>
          <p:cNvPr id="6" name="Date Placeholder 8"/>
          <p:cNvSpPr>
            <a:spLocks noGrp="1"/>
          </p:cNvSpPr>
          <p:nvPr>
            <p:ph type="dt" sz="quarter" idx="10"/>
          </p:nvPr>
        </p:nvSpPr>
        <p:spPr/>
        <p:txBody>
          <a:bodyPr/>
          <a:lstStyle/>
          <a:p>
            <a:pPr>
              <a:defRPr/>
            </a:pPr>
            <a:r>
              <a:rPr lang="en-US" dirty="0"/>
              <a:t>Copyright ©2015 Pearson Education, Inc.</a:t>
            </a:r>
          </a:p>
        </p:txBody>
      </p:sp>
      <p:sp>
        <p:nvSpPr>
          <p:cNvPr id="7" name="Slide Number Placeholder 9"/>
          <p:cNvSpPr>
            <a:spLocks noGrp="1"/>
          </p:cNvSpPr>
          <p:nvPr>
            <p:ph type="sldNum" sz="quarter" idx="11"/>
          </p:nvPr>
        </p:nvSpPr>
        <p:spPr/>
        <p:txBody>
          <a:bodyPr/>
          <a:lstStyle/>
          <a:p>
            <a:pPr>
              <a:defRPr/>
            </a:pPr>
            <a:r>
              <a:rPr lang="en-US"/>
              <a:t>7 – </a:t>
            </a:r>
            <a:fld id="{1A32D5E3-0F30-4BFA-81D2-EA5CEF33D39E}" type="slidenum">
              <a:rPr lang="en-US"/>
              <a:pPr>
                <a:defRPr/>
              </a:pPr>
              <a:t>16</a:t>
            </a:fld>
            <a:endParaRPr lang="en-US"/>
          </a:p>
        </p:txBody>
      </p:sp>
      <p:pic>
        <p:nvPicPr>
          <p:cNvPr id="2" name="Picture 1" descr="p 7-2b.pdf"/>
          <p:cNvPicPr>
            <a:picLocks noChangeAspect="1"/>
          </p:cNvPicPr>
          <p:nvPr/>
        </p:nvPicPr>
        <p:blipFill>
          <a:blip r:embed="rId2"/>
          <a:srcRect/>
          <a:stretch>
            <a:fillRect/>
          </a:stretch>
        </p:blipFill>
        <p:spPr bwMode="auto">
          <a:xfrm>
            <a:off x="2508250" y="2768600"/>
            <a:ext cx="3690938" cy="1958975"/>
          </a:xfrm>
          <a:prstGeom prst="rect">
            <a:avLst/>
          </a:prstGeom>
          <a:noFill/>
          <a:ln w="9525">
            <a:noFill/>
            <a:miter lim="800000"/>
            <a:headEnd/>
            <a:tailEnd/>
          </a:ln>
        </p:spPr>
      </p:pic>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5" name="Text Box 5"/>
          <p:cNvSpPr txBox="1">
            <a:spLocks noChangeArrowheads="1"/>
          </p:cNvSpPr>
          <p:nvPr/>
        </p:nvSpPr>
        <p:spPr bwMode="auto">
          <a:xfrm>
            <a:off x="457200" y="1679575"/>
            <a:ext cx="3228975" cy="307975"/>
          </a:xfrm>
          <a:prstGeom prst="rect">
            <a:avLst/>
          </a:prstGeom>
          <a:noFill/>
          <a:ln w="9525">
            <a:noFill/>
            <a:miter lim="800000"/>
            <a:headEnd/>
            <a:tailEnd/>
          </a:ln>
        </p:spPr>
        <p:txBody>
          <a:bodyPr wrap="none">
            <a:spAutoFit/>
          </a:bodyPr>
          <a:lstStyle/>
          <a:p>
            <a:r>
              <a:rPr lang="en-US" sz="1400">
                <a:ea typeface="MS PGothic" pitchFamily="34" charset="-128"/>
              </a:rPr>
              <a:t>PROGRAM 7.2C – Excel Spreadsheet</a:t>
            </a:r>
          </a:p>
        </p:txBody>
      </p:sp>
      <p:sp>
        <p:nvSpPr>
          <p:cNvPr id="6" name="Date Placeholder 8"/>
          <p:cNvSpPr>
            <a:spLocks noGrp="1"/>
          </p:cNvSpPr>
          <p:nvPr>
            <p:ph type="dt" sz="quarter" idx="10"/>
          </p:nvPr>
        </p:nvSpPr>
        <p:spPr/>
        <p:txBody>
          <a:bodyPr/>
          <a:lstStyle/>
          <a:p>
            <a:pPr>
              <a:defRPr/>
            </a:pPr>
            <a:r>
              <a:rPr lang="en-US" dirty="0"/>
              <a:t>Copyright ©2015 Pearson Education, Inc.</a:t>
            </a:r>
          </a:p>
        </p:txBody>
      </p:sp>
      <p:sp>
        <p:nvSpPr>
          <p:cNvPr id="7" name="Slide Number Placeholder 9"/>
          <p:cNvSpPr>
            <a:spLocks noGrp="1"/>
          </p:cNvSpPr>
          <p:nvPr>
            <p:ph type="sldNum" sz="quarter" idx="11"/>
          </p:nvPr>
        </p:nvSpPr>
        <p:spPr/>
        <p:txBody>
          <a:bodyPr/>
          <a:lstStyle/>
          <a:p>
            <a:pPr>
              <a:defRPr/>
            </a:pPr>
            <a:r>
              <a:rPr lang="en-US"/>
              <a:t>7 – </a:t>
            </a:r>
            <a:fld id="{18D5A91B-4588-409C-AB03-C90D9638DB54}" type="slidenum">
              <a:rPr lang="en-US"/>
              <a:pPr>
                <a:defRPr/>
              </a:pPr>
              <a:t>17</a:t>
            </a:fld>
            <a:endParaRPr lang="en-US"/>
          </a:p>
        </p:txBody>
      </p:sp>
      <p:pic>
        <p:nvPicPr>
          <p:cNvPr id="2" name="Picture 1" descr="p 7-2c.pdf"/>
          <p:cNvPicPr>
            <a:picLocks noChangeAspect="1"/>
          </p:cNvPicPr>
          <p:nvPr/>
        </p:nvPicPr>
        <p:blipFill>
          <a:blip r:embed="rId2"/>
          <a:srcRect/>
          <a:stretch>
            <a:fillRect/>
          </a:stretch>
        </p:blipFill>
        <p:spPr bwMode="auto">
          <a:xfrm>
            <a:off x="863600" y="2711450"/>
            <a:ext cx="7458075" cy="2114550"/>
          </a:xfrm>
          <a:prstGeom prst="rect">
            <a:avLst/>
          </a:prstGeom>
          <a:noFill/>
          <a:ln w="9525">
            <a:noFill/>
            <a:miter lim="800000"/>
            <a:headEnd/>
            <a:tailEnd/>
          </a:ln>
        </p:spPr>
      </p:pic>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5" name="Text Box 5"/>
          <p:cNvSpPr txBox="1">
            <a:spLocks noChangeArrowheads="1"/>
          </p:cNvSpPr>
          <p:nvPr/>
        </p:nvSpPr>
        <p:spPr bwMode="auto">
          <a:xfrm>
            <a:off x="457200" y="1679575"/>
            <a:ext cx="2928938" cy="307975"/>
          </a:xfrm>
          <a:prstGeom prst="rect">
            <a:avLst/>
          </a:prstGeom>
          <a:noFill/>
          <a:ln w="9525">
            <a:noFill/>
            <a:miter lim="800000"/>
            <a:headEnd/>
            <a:tailEnd/>
          </a:ln>
        </p:spPr>
        <p:txBody>
          <a:bodyPr wrap="none">
            <a:spAutoFit/>
          </a:bodyPr>
          <a:lstStyle/>
          <a:p>
            <a:r>
              <a:rPr lang="en-US" sz="1400">
                <a:ea typeface="MS PGothic" pitchFamily="34" charset="-128"/>
              </a:rPr>
              <a:t>PROGRAM 7.2D – Starting Solver</a:t>
            </a:r>
          </a:p>
        </p:txBody>
      </p:sp>
      <p:sp>
        <p:nvSpPr>
          <p:cNvPr id="6" name="Date Placeholder 8"/>
          <p:cNvSpPr>
            <a:spLocks noGrp="1"/>
          </p:cNvSpPr>
          <p:nvPr>
            <p:ph type="dt" sz="quarter" idx="10"/>
          </p:nvPr>
        </p:nvSpPr>
        <p:spPr/>
        <p:txBody>
          <a:bodyPr/>
          <a:lstStyle/>
          <a:p>
            <a:pPr>
              <a:defRPr/>
            </a:pPr>
            <a:r>
              <a:rPr lang="en-US" dirty="0"/>
              <a:t>Copyright ©2015 Pearson Education, Inc.</a:t>
            </a:r>
          </a:p>
        </p:txBody>
      </p:sp>
      <p:sp>
        <p:nvSpPr>
          <p:cNvPr id="7" name="Slide Number Placeholder 9"/>
          <p:cNvSpPr>
            <a:spLocks noGrp="1"/>
          </p:cNvSpPr>
          <p:nvPr>
            <p:ph type="sldNum" sz="quarter" idx="11"/>
          </p:nvPr>
        </p:nvSpPr>
        <p:spPr/>
        <p:txBody>
          <a:bodyPr/>
          <a:lstStyle/>
          <a:p>
            <a:pPr>
              <a:defRPr/>
            </a:pPr>
            <a:r>
              <a:rPr lang="en-US"/>
              <a:t>7 – </a:t>
            </a:r>
            <a:fld id="{45000991-3D8B-4DEE-B6AF-AA17406D3CC6}" type="slidenum">
              <a:rPr lang="en-US"/>
              <a:pPr>
                <a:defRPr/>
              </a:pPr>
              <a:t>18</a:t>
            </a:fld>
            <a:endParaRPr lang="en-US"/>
          </a:p>
        </p:txBody>
      </p:sp>
      <p:pic>
        <p:nvPicPr>
          <p:cNvPr id="67591" name="Picture 7"/>
          <p:cNvPicPr>
            <a:picLocks noChangeAspect="1" noChangeArrowheads="1"/>
          </p:cNvPicPr>
          <p:nvPr/>
        </p:nvPicPr>
        <p:blipFill>
          <a:blip r:embed="rId2"/>
          <a:srcRect/>
          <a:stretch>
            <a:fillRect/>
          </a:stretch>
        </p:blipFill>
        <p:spPr bwMode="auto">
          <a:xfrm>
            <a:off x="142875" y="2298700"/>
            <a:ext cx="8851900" cy="3065463"/>
          </a:xfrm>
          <a:prstGeom prst="rect">
            <a:avLst/>
          </a:prstGeom>
          <a:noFill/>
          <a:ln w="9525">
            <a:noFill/>
            <a:miter lim="800000"/>
            <a:headEnd/>
            <a:tailEnd/>
          </a:ln>
          <a:effectLst/>
        </p:spPr>
      </p:pic>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5" name="Text Box 5"/>
          <p:cNvSpPr txBox="1">
            <a:spLocks noChangeArrowheads="1"/>
          </p:cNvSpPr>
          <p:nvPr/>
        </p:nvSpPr>
        <p:spPr bwMode="auto">
          <a:xfrm>
            <a:off x="457200" y="1679575"/>
            <a:ext cx="1684338" cy="738188"/>
          </a:xfrm>
          <a:prstGeom prst="rect">
            <a:avLst/>
          </a:prstGeom>
          <a:noFill/>
          <a:ln w="9525">
            <a:noFill/>
            <a:miter lim="800000"/>
            <a:headEnd/>
            <a:tailEnd/>
          </a:ln>
        </p:spPr>
        <p:txBody>
          <a:bodyPr wrap="none">
            <a:spAutoFit/>
          </a:bodyPr>
          <a:lstStyle/>
          <a:p>
            <a:r>
              <a:rPr lang="en-US" sz="1400">
                <a:ea typeface="MS PGothic" pitchFamily="34" charset="-128"/>
              </a:rPr>
              <a:t>PROGRAM 7.2E – </a:t>
            </a:r>
          </a:p>
          <a:p>
            <a:r>
              <a:rPr lang="en-US" sz="1400">
                <a:ea typeface="MS PGothic" pitchFamily="34" charset="-128"/>
              </a:rPr>
              <a:t>Solver Parameters </a:t>
            </a:r>
          </a:p>
          <a:p>
            <a:r>
              <a:rPr lang="en-US" sz="1400">
                <a:ea typeface="MS PGothic" pitchFamily="34" charset="-128"/>
              </a:rPr>
              <a:t>Dialog Box</a:t>
            </a:r>
          </a:p>
        </p:txBody>
      </p:sp>
      <p:sp>
        <p:nvSpPr>
          <p:cNvPr id="6" name="Date Placeholder 8"/>
          <p:cNvSpPr>
            <a:spLocks noGrp="1"/>
          </p:cNvSpPr>
          <p:nvPr>
            <p:ph type="dt" sz="quarter" idx="10"/>
          </p:nvPr>
        </p:nvSpPr>
        <p:spPr/>
        <p:txBody>
          <a:bodyPr/>
          <a:lstStyle/>
          <a:p>
            <a:pPr>
              <a:defRPr/>
            </a:pPr>
            <a:r>
              <a:rPr lang="en-US" dirty="0"/>
              <a:t>Copyright ©2015 Pearson Education, Inc.</a:t>
            </a:r>
          </a:p>
        </p:txBody>
      </p:sp>
      <p:sp>
        <p:nvSpPr>
          <p:cNvPr id="7" name="Slide Number Placeholder 9"/>
          <p:cNvSpPr>
            <a:spLocks noGrp="1"/>
          </p:cNvSpPr>
          <p:nvPr>
            <p:ph type="sldNum" sz="quarter" idx="11"/>
          </p:nvPr>
        </p:nvSpPr>
        <p:spPr/>
        <p:txBody>
          <a:bodyPr/>
          <a:lstStyle/>
          <a:p>
            <a:pPr>
              <a:defRPr/>
            </a:pPr>
            <a:r>
              <a:rPr lang="en-US"/>
              <a:t>7 – </a:t>
            </a:r>
            <a:fld id="{B30F74FD-DB24-4762-B64E-9611FC698289}" type="slidenum">
              <a:rPr lang="en-US"/>
              <a:pPr>
                <a:defRPr/>
              </a:pPr>
              <a:t>19</a:t>
            </a:fld>
            <a:endParaRPr lang="en-US"/>
          </a:p>
        </p:txBody>
      </p:sp>
      <p:pic>
        <p:nvPicPr>
          <p:cNvPr id="68615" name="Picture 7"/>
          <p:cNvPicPr>
            <a:picLocks noChangeAspect="1" noChangeArrowheads="1"/>
          </p:cNvPicPr>
          <p:nvPr/>
        </p:nvPicPr>
        <p:blipFill>
          <a:blip r:embed="rId2"/>
          <a:srcRect/>
          <a:stretch>
            <a:fillRect/>
          </a:stretch>
        </p:blipFill>
        <p:spPr bwMode="auto">
          <a:xfrm>
            <a:off x="2297113" y="1258888"/>
            <a:ext cx="6389687" cy="5083175"/>
          </a:xfrm>
          <a:prstGeom prst="rect">
            <a:avLst/>
          </a:prstGeom>
          <a:noFill/>
          <a:ln w="9525">
            <a:noFill/>
            <a:miter lim="800000"/>
            <a:headEnd/>
            <a:tailEnd/>
          </a:ln>
          <a:effectLst/>
        </p:spPr>
      </p:pic>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5" name="Text Box 5"/>
          <p:cNvSpPr txBox="1">
            <a:spLocks noChangeArrowheads="1"/>
          </p:cNvSpPr>
          <p:nvPr/>
        </p:nvSpPr>
        <p:spPr bwMode="auto">
          <a:xfrm>
            <a:off x="457200" y="1679575"/>
            <a:ext cx="4375150" cy="307975"/>
          </a:xfrm>
          <a:prstGeom prst="rect">
            <a:avLst/>
          </a:prstGeom>
          <a:noFill/>
          <a:ln w="9525">
            <a:noFill/>
            <a:miter lim="800000"/>
            <a:headEnd/>
            <a:tailEnd/>
          </a:ln>
        </p:spPr>
        <p:txBody>
          <a:bodyPr wrap="none">
            <a:spAutoFit/>
          </a:bodyPr>
          <a:lstStyle/>
          <a:p>
            <a:r>
              <a:rPr lang="en-US" sz="1400">
                <a:ea typeface="MS PGothic" pitchFamily="34" charset="-128"/>
              </a:rPr>
              <a:t>PROGRAM 7.2F – Solver Add Constraint Dialog Box</a:t>
            </a:r>
          </a:p>
        </p:txBody>
      </p:sp>
      <p:sp>
        <p:nvSpPr>
          <p:cNvPr id="6" name="Date Placeholder 8"/>
          <p:cNvSpPr>
            <a:spLocks noGrp="1"/>
          </p:cNvSpPr>
          <p:nvPr>
            <p:ph type="dt" sz="quarter" idx="10"/>
          </p:nvPr>
        </p:nvSpPr>
        <p:spPr/>
        <p:txBody>
          <a:bodyPr/>
          <a:lstStyle/>
          <a:p>
            <a:pPr>
              <a:defRPr/>
            </a:pPr>
            <a:r>
              <a:rPr lang="en-US" dirty="0"/>
              <a:t>Copyright ©2015 Pearson Education, Inc.</a:t>
            </a:r>
          </a:p>
        </p:txBody>
      </p:sp>
      <p:sp>
        <p:nvSpPr>
          <p:cNvPr id="7" name="Slide Number Placeholder 9"/>
          <p:cNvSpPr>
            <a:spLocks noGrp="1"/>
          </p:cNvSpPr>
          <p:nvPr>
            <p:ph type="sldNum" sz="quarter" idx="11"/>
          </p:nvPr>
        </p:nvSpPr>
        <p:spPr/>
        <p:txBody>
          <a:bodyPr/>
          <a:lstStyle/>
          <a:p>
            <a:pPr>
              <a:defRPr/>
            </a:pPr>
            <a:r>
              <a:rPr lang="en-US"/>
              <a:t>7 – </a:t>
            </a:r>
            <a:fld id="{9F4BA134-5CBA-4EE9-812E-1F6357DB12BC}" type="slidenum">
              <a:rPr lang="en-US"/>
              <a:pPr>
                <a:defRPr/>
              </a:pPr>
              <a:t>20</a:t>
            </a:fld>
            <a:endParaRPr lang="en-US"/>
          </a:p>
        </p:txBody>
      </p:sp>
      <p:pic>
        <p:nvPicPr>
          <p:cNvPr id="2" name="Picture 1" descr="p 7-2f.pdf"/>
          <p:cNvPicPr>
            <a:picLocks noChangeAspect="1"/>
          </p:cNvPicPr>
          <p:nvPr/>
        </p:nvPicPr>
        <p:blipFill>
          <a:blip r:embed="rId2"/>
          <a:srcRect/>
          <a:stretch>
            <a:fillRect/>
          </a:stretch>
        </p:blipFill>
        <p:spPr bwMode="auto">
          <a:xfrm>
            <a:off x="620713" y="2533650"/>
            <a:ext cx="7900987" cy="2254250"/>
          </a:xfrm>
          <a:prstGeom prst="rect">
            <a:avLst/>
          </a:prstGeom>
          <a:noFill/>
          <a:ln w="9525">
            <a:noFill/>
            <a:miter lim="800000"/>
            <a:headEnd/>
            <a:tailEnd/>
          </a:ln>
        </p:spPr>
      </p:pic>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5" name="Text Box 5"/>
          <p:cNvSpPr txBox="1">
            <a:spLocks noChangeArrowheads="1"/>
          </p:cNvSpPr>
          <p:nvPr/>
        </p:nvSpPr>
        <p:spPr bwMode="auto">
          <a:xfrm>
            <a:off x="457200" y="1425575"/>
            <a:ext cx="3797300" cy="307975"/>
          </a:xfrm>
          <a:prstGeom prst="rect">
            <a:avLst/>
          </a:prstGeom>
          <a:noFill/>
          <a:ln w="9525">
            <a:noFill/>
            <a:miter lim="800000"/>
            <a:headEnd/>
            <a:tailEnd/>
          </a:ln>
        </p:spPr>
        <p:txBody>
          <a:bodyPr wrap="none">
            <a:spAutoFit/>
          </a:bodyPr>
          <a:lstStyle/>
          <a:p>
            <a:r>
              <a:rPr lang="en-US" sz="1400">
                <a:ea typeface="MS PGothic" pitchFamily="34" charset="-128"/>
              </a:rPr>
              <a:t>PROGRAM 7.2G – Solver Results Dialog Box</a:t>
            </a:r>
          </a:p>
        </p:txBody>
      </p:sp>
      <p:sp>
        <p:nvSpPr>
          <p:cNvPr id="6" name="Date Placeholder 8"/>
          <p:cNvSpPr>
            <a:spLocks noGrp="1"/>
          </p:cNvSpPr>
          <p:nvPr>
            <p:ph type="dt" sz="quarter" idx="10"/>
          </p:nvPr>
        </p:nvSpPr>
        <p:spPr/>
        <p:txBody>
          <a:bodyPr/>
          <a:lstStyle/>
          <a:p>
            <a:pPr>
              <a:defRPr/>
            </a:pPr>
            <a:r>
              <a:rPr lang="en-US" dirty="0"/>
              <a:t>Copyright ©2015 Pearson Education, Inc.</a:t>
            </a:r>
          </a:p>
        </p:txBody>
      </p:sp>
      <p:sp>
        <p:nvSpPr>
          <p:cNvPr id="7" name="Slide Number Placeholder 9"/>
          <p:cNvSpPr>
            <a:spLocks noGrp="1"/>
          </p:cNvSpPr>
          <p:nvPr>
            <p:ph type="sldNum" sz="quarter" idx="11"/>
          </p:nvPr>
        </p:nvSpPr>
        <p:spPr/>
        <p:txBody>
          <a:bodyPr/>
          <a:lstStyle/>
          <a:p>
            <a:pPr>
              <a:defRPr/>
            </a:pPr>
            <a:r>
              <a:rPr lang="en-US"/>
              <a:t>7 – </a:t>
            </a:r>
            <a:fld id="{A4460EF3-9566-4369-8E3C-5F4B54DF5A49}" type="slidenum">
              <a:rPr lang="en-US"/>
              <a:pPr>
                <a:defRPr/>
              </a:pPr>
              <a:t>21</a:t>
            </a:fld>
            <a:endParaRPr lang="en-US"/>
          </a:p>
        </p:txBody>
      </p:sp>
      <p:pic>
        <p:nvPicPr>
          <p:cNvPr id="2" name="Picture 1" descr="p 7-2g.pdf"/>
          <p:cNvPicPr>
            <a:picLocks noChangeAspect="1"/>
          </p:cNvPicPr>
          <p:nvPr/>
        </p:nvPicPr>
        <p:blipFill>
          <a:blip r:embed="rId2"/>
          <a:srcRect/>
          <a:stretch>
            <a:fillRect/>
          </a:stretch>
        </p:blipFill>
        <p:spPr bwMode="auto">
          <a:xfrm>
            <a:off x="1936750" y="1987550"/>
            <a:ext cx="5335588" cy="4070350"/>
          </a:xfrm>
          <a:prstGeom prst="rect">
            <a:avLst/>
          </a:prstGeom>
          <a:noFill/>
          <a:ln w="9525">
            <a:noFill/>
            <a:miter lim="800000"/>
            <a:headEnd/>
            <a:tailEnd/>
          </a:ln>
        </p:spPr>
      </p:pic>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r>
              <a:rPr lang="en-US">
                <a:latin typeface="Arial" charset="0"/>
                <a:ea typeface="MS PGothic" pitchFamily="34" charset="-128"/>
                <a:cs typeface="Arial" charset="0"/>
              </a:rPr>
              <a:t>Using Solver</a:t>
            </a:r>
          </a:p>
        </p:txBody>
      </p:sp>
      <p:sp>
        <p:nvSpPr>
          <p:cNvPr id="5" name="Text Box 5"/>
          <p:cNvSpPr txBox="1">
            <a:spLocks noChangeArrowheads="1"/>
          </p:cNvSpPr>
          <p:nvPr/>
        </p:nvSpPr>
        <p:spPr bwMode="auto">
          <a:xfrm>
            <a:off x="457200" y="1679575"/>
            <a:ext cx="2389188" cy="307975"/>
          </a:xfrm>
          <a:prstGeom prst="rect">
            <a:avLst/>
          </a:prstGeom>
          <a:noFill/>
          <a:ln w="9525">
            <a:noFill/>
            <a:miter lim="800000"/>
            <a:headEnd/>
            <a:tailEnd/>
          </a:ln>
        </p:spPr>
        <p:txBody>
          <a:bodyPr wrap="none">
            <a:spAutoFit/>
          </a:bodyPr>
          <a:lstStyle/>
          <a:p>
            <a:r>
              <a:rPr lang="en-US" sz="1400">
                <a:ea typeface="MS PGothic" pitchFamily="34" charset="-128"/>
              </a:rPr>
              <a:t>PROGRAM 7.2H – Solution</a:t>
            </a:r>
          </a:p>
        </p:txBody>
      </p:sp>
      <p:sp>
        <p:nvSpPr>
          <p:cNvPr id="6" name="Date Placeholder 8"/>
          <p:cNvSpPr>
            <a:spLocks noGrp="1"/>
          </p:cNvSpPr>
          <p:nvPr>
            <p:ph type="dt" sz="quarter" idx="10"/>
          </p:nvPr>
        </p:nvSpPr>
        <p:spPr/>
        <p:txBody>
          <a:bodyPr/>
          <a:lstStyle/>
          <a:p>
            <a:pPr>
              <a:defRPr/>
            </a:pPr>
            <a:r>
              <a:rPr lang="en-US" dirty="0"/>
              <a:t>Copyright ©2015 Pearson Education, Inc.</a:t>
            </a:r>
          </a:p>
        </p:txBody>
      </p:sp>
      <p:sp>
        <p:nvSpPr>
          <p:cNvPr id="7" name="Slide Number Placeholder 9"/>
          <p:cNvSpPr>
            <a:spLocks noGrp="1"/>
          </p:cNvSpPr>
          <p:nvPr>
            <p:ph type="sldNum" sz="quarter" idx="11"/>
          </p:nvPr>
        </p:nvSpPr>
        <p:spPr/>
        <p:txBody>
          <a:bodyPr/>
          <a:lstStyle/>
          <a:p>
            <a:pPr>
              <a:defRPr/>
            </a:pPr>
            <a:r>
              <a:rPr lang="en-US"/>
              <a:t>7 – </a:t>
            </a:r>
            <a:fld id="{828ED352-2376-483D-96B8-B12804DF6BA6}" type="slidenum">
              <a:rPr lang="en-US"/>
              <a:pPr>
                <a:defRPr/>
              </a:pPr>
              <a:t>22</a:t>
            </a:fld>
            <a:endParaRPr lang="en-US"/>
          </a:p>
        </p:txBody>
      </p:sp>
      <p:pic>
        <p:nvPicPr>
          <p:cNvPr id="2" name="Picture 1" descr="p 7-2h.pdf"/>
          <p:cNvPicPr>
            <a:picLocks noChangeAspect="1"/>
          </p:cNvPicPr>
          <p:nvPr/>
        </p:nvPicPr>
        <p:blipFill>
          <a:blip r:embed="rId2"/>
          <a:srcRect/>
          <a:stretch>
            <a:fillRect/>
          </a:stretch>
        </p:blipFill>
        <p:spPr bwMode="auto">
          <a:xfrm>
            <a:off x="844550" y="2762250"/>
            <a:ext cx="7480300" cy="2241550"/>
          </a:xfrm>
          <a:prstGeom prst="rect">
            <a:avLst/>
          </a:prstGeom>
          <a:noFill/>
          <a:ln w="9525">
            <a:noFill/>
            <a:miter lim="800000"/>
            <a:headEnd/>
            <a:tailEnd/>
          </a:ln>
        </p:spPr>
      </p:pic>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ChangeArrowheads="1"/>
          </p:cNvSpPr>
          <p:nvPr>
            <p:ph type="title"/>
          </p:nvPr>
        </p:nvSpPr>
        <p:spPr/>
        <p:txBody>
          <a:bodyPr lIns="90488" tIns="44450" rIns="90488" bIns="44450"/>
          <a:lstStyle/>
          <a:p>
            <a:r>
              <a:rPr lang="en-US" dirty="0">
                <a:latin typeface="Arial" charset="0"/>
                <a:ea typeface="MS PGothic" pitchFamily="34" charset="-128"/>
                <a:cs typeface="Arial" charset="0"/>
              </a:rPr>
              <a:t>Sensitivity Analysis</a:t>
            </a:r>
          </a:p>
        </p:txBody>
      </p:sp>
      <p:sp>
        <p:nvSpPr>
          <p:cNvPr id="98306" name="Content Placeholder 1"/>
          <p:cNvSpPr>
            <a:spLocks noGrp="1"/>
          </p:cNvSpPr>
          <p:nvPr>
            <p:ph idx="1"/>
          </p:nvPr>
        </p:nvSpPr>
        <p:spPr>
          <a:xfrm>
            <a:off x="673100" y="1384300"/>
            <a:ext cx="7823200" cy="4997450"/>
          </a:xfrm>
        </p:spPr>
        <p:txBody>
          <a:bodyPr/>
          <a:lstStyle/>
          <a:p>
            <a:r>
              <a:rPr lang="en-US">
                <a:latin typeface="Arial" charset="0"/>
                <a:cs typeface="Arial" charset="0"/>
              </a:rPr>
              <a:t>Optimal solutions to LP problems thus far have been found under </a:t>
            </a:r>
            <a:r>
              <a:rPr lang="en-US" i="1">
                <a:latin typeface="Arial" charset="0"/>
                <a:cs typeface="Arial" charset="0"/>
              </a:rPr>
              <a:t>deterministic assumptions</a:t>
            </a:r>
          </a:p>
          <a:p>
            <a:pPr lvl="1"/>
            <a:r>
              <a:rPr lang="en-US">
                <a:latin typeface="Arial" charset="0"/>
                <a:cs typeface="Arial" charset="0"/>
              </a:rPr>
              <a:t>We assume complete certainty in the data and relationships of a problem</a:t>
            </a:r>
          </a:p>
          <a:p>
            <a:r>
              <a:rPr lang="en-US">
                <a:latin typeface="Arial" charset="0"/>
                <a:cs typeface="Arial" charset="0"/>
              </a:rPr>
              <a:t>Real world conditions are dynamic </a:t>
            </a:r>
          </a:p>
          <a:p>
            <a:r>
              <a:rPr lang="en-US">
                <a:latin typeface="Arial" charset="0"/>
                <a:cs typeface="Arial" charset="0"/>
              </a:rPr>
              <a:t>Analyze how sensitive a deterministic solution is to changes in the assumptions of the model</a:t>
            </a:r>
          </a:p>
          <a:p>
            <a:r>
              <a:rPr lang="en-US">
                <a:latin typeface="Arial" charset="0"/>
                <a:cs typeface="Arial" charset="0"/>
              </a:rPr>
              <a:t>This is called </a:t>
            </a:r>
            <a:r>
              <a:rPr lang="en-US" b="1">
                <a:latin typeface="Arial" charset="0"/>
                <a:cs typeface="Arial" charset="0"/>
              </a:rPr>
              <a:t>sensitivity analysis</a:t>
            </a:r>
            <a:r>
              <a:rPr lang="en-US">
                <a:latin typeface="Arial" charset="0"/>
                <a:cs typeface="Arial" charset="0"/>
              </a:rPr>
              <a:t>, </a:t>
            </a:r>
            <a:r>
              <a:rPr lang="en-US" i="1">
                <a:latin typeface="Arial" charset="0"/>
                <a:cs typeface="Arial" charset="0"/>
              </a:rPr>
              <a:t>postoptimality</a:t>
            </a:r>
            <a:r>
              <a:rPr lang="en-US">
                <a:latin typeface="Arial" charset="0"/>
                <a:cs typeface="Arial" charset="0"/>
              </a:rPr>
              <a:t> </a:t>
            </a:r>
            <a:r>
              <a:rPr lang="en-US" i="1">
                <a:latin typeface="Arial" charset="0"/>
                <a:cs typeface="Arial" charset="0"/>
              </a:rPr>
              <a:t>analysis</a:t>
            </a:r>
            <a:r>
              <a:rPr lang="en-US">
                <a:latin typeface="Arial" charset="0"/>
                <a:cs typeface="Arial" charset="0"/>
              </a:rPr>
              <a:t>, </a:t>
            </a:r>
            <a:r>
              <a:rPr lang="en-US" i="1">
                <a:latin typeface="Arial" charset="0"/>
                <a:cs typeface="Arial" charset="0"/>
              </a:rPr>
              <a:t>parametric programming</a:t>
            </a:r>
            <a:r>
              <a:rPr lang="en-US">
                <a:latin typeface="Arial" charset="0"/>
                <a:cs typeface="Arial" charset="0"/>
              </a:rPr>
              <a:t>, or </a:t>
            </a:r>
            <a:r>
              <a:rPr lang="en-US" i="1">
                <a:latin typeface="Arial" charset="0"/>
                <a:cs typeface="Arial" charset="0"/>
              </a:rPr>
              <a:t>optimality analysis</a:t>
            </a:r>
          </a:p>
        </p:txBody>
      </p:sp>
      <p:sp>
        <p:nvSpPr>
          <p:cNvPr id="4"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6" name="Slide Number Placeholder 9"/>
          <p:cNvSpPr>
            <a:spLocks noGrp="1"/>
          </p:cNvSpPr>
          <p:nvPr>
            <p:ph type="sldNum" sz="quarter" idx="11"/>
          </p:nvPr>
        </p:nvSpPr>
        <p:spPr/>
        <p:txBody>
          <a:bodyPr/>
          <a:lstStyle/>
          <a:p>
            <a:pPr>
              <a:defRPr/>
            </a:pPr>
            <a:r>
              <a:rPr lang="en-US"/>
              <a:t>7 – </a:t>
            </a:r>
            <a:fld id="{3AAF705F-8742-4079-99F3-B760B30851B5}" type="slidenum">
              <a:rPr lang="en-US"/>
              <a:pPr>
                <a:defRPr/>
              </a:pPr>
              <a:t>23</a:t>
            </a:fld>
            <a:endParaRPr lang="en-US"/>
          </a:p>
        </p:txBody>
      </p:sp>
    </p:spTree>
  </p:cSld>
  <p:clrMapOvr>
    <a:masterClrMapping/>
  </p:clrMapOvr>
  <p:transition>
    <p:pull dir="l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p:txBody>
          <a:bodyPr lIns="90488" tIns="44450" rIns="90488" bIns="44450"/>
          <a:lstStyle/>
          <a:p>
            <a:r>
              <a:rPr lang="en-US">
                <a:latin typeface="Arial" charset="0"/>
                <a:ea typeface="MS PGothic" pitchFamily="34" charset="-128"/>
                <a:cs typeface="Arial" charset="0"/>
              </a:rPr>
              <a:t>Sensitivity Analysis</a:t>
            </a:r>
          </a:p>
        </p:txBody>
      </p:sp>
      <p:sp>
        <p:nvSpPr>
          <p:cNvPr id="99330" name="Content Placeholder 1"/>
          <p:cNvSpPr>
            <a:spLocks noGrp="1"/>
          </p:cNvSpPr>
          <p:nvPr>
            <p:ph idx="1"/>
          </p:nvPr>
        </p:nvSpPr>
        <p:spPr>
          <a:xfrm>
            <a:off x="673100" y="1417638"/>
            <a:ext cx="7823200" cy="4894262"/>
          </a:xfrm>
        </p:spPr>
        <p:txBody>
          <a:bodyPr/>
          <a:lstStyle/>
          <a:p>
            <a:r>
              <a:rPr lang="en-US">
                <a:latin typeface="Arial" charset="0"/>
                <a:cs typeface="Arial" charset="0"/>
              </a:rPr>
              <a:t>Involves a series of what-if? questions concerning constraints, variable coefficients, and the objective function</a:t>
            </a:r>
          </a:p>
          <a:p>
            <a:r>
              <a:rPr lang="en-US">
                <a:latin typeface="Arial" charset="0"/>
                <a:cs typeface="Arial" charset="0"/>
              </a:rPr>
              <a:t>Trial-and-error method</a:t>
            </a:r>
          </a:p>
          <a:p>
            <a:pPr lvl="1"/>
            <a:r>
              <a:rPr lang="en-US">
                <a:latin typeface="Arial" charset="0"/>
                <a:cs typeface="Arial" charset="0"/>
              </a:rPr>
              <a:t>Values are changed and the entire model is resolved</a:t>
            </a:r>
          </a:p>
          <a:p>
            <a:r>
              <a:rPr lang="en-US">
                <a:latin typeface="Arial" charset="0"/>
                <a:cs typeface="Arial" charset="0"/>
              </a:rPr>
              <a:t>Preferred way is to use an analytic postoptimality analysis</a:t>
            </a:r>
          </a:p>
          <a:p>
            <a:pPr lvl="1"/>
            <a:r>
              <a:rPr lang="en-US">
                <a:latin typeface="Arial" charset="0"/>
                <a:cs typeface="Arial" charset="0"/>
              </a:rPr>
              <a:t>After a problem has been solved, we determine a range of changes in problem parameters that will not affect the optimal solution or change the variables in the solution</a:t>
            </a:r>
          </a:p>
        </p:txBody>
      </p:sp>
      <p:sp>
        <p:nvSpPr>
          <p:cNvPr id="5"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7" name="Slide Number Placeholder 9"/>
          <p:cNvSpPr>
            <a:spLocks noGrp="1"/>
          </p:cNvSpPr>
          <p:nvPr>
            <p:ph type="sldNum" sz="quarter" idx="11"/>
          </p:nvPr>
        </p:nvSpPr>
        <p:spPr/>
        <p:txBody>
          <a:bodyPr/>
          <a:lstStyle/>
          <a:p>
            <a:pPr>
              <a:defRPr/>
            </a:pPr>
            <a:r>
              <a:rPr lang="en-US"/>
              <a:t>7 – </a:t>
            </a:r>
            <a:fld id="{2DA53A1C-25D4-4ABF-94A1-518E7FE3E16D}" type="slidenum">
              <a:rPr lang="en-US"/>
              <a:pPr>
                <a:defRPr/>
              </a:pPr>
              <a:t>24</a:t>
            </a:fld>
            <a:endParaRPr lang="en-US"/>
          </a:p>
        </p:txBody>
      </p:sp>
    </p:spTree>
  </p:cSld>
  <p:clrMapOvr>
    <a:masterClrMapping/>
  </p:clrMapOvr>
  <p:transition>
    <p:pull dir="l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4"/>
          <p:cNvSpPr>
            <a:spLocks noGrp="1" noChangeArrowheads="1"/>
          </p:cNvSpPr>
          <p:nvPr>
            <p:ph type="title"/>
          </p:nvPr>
        </p:nvSpPr>
        <p:spPr/>
        <p:txBody>
          <a:bodyPr/>
          <a:lstStyle/>
          <a:p>
            <a:r>
              <a:rPr lang="en-US">
                <a:latin typeface="Arial" charset="0"/>
                <a:ea typeface="MS PGothic" pitchFamily="34" charset="-128"/>
                <a:cs typeface="Arial" charset="0"/>
              </a:rPr>
              <a:t>High Note Sound Company</a:t>
            </a:r>
          </a:p>
        </p:txBody>
      </p:sp>
      <p:sp>
        <p:nvSpPr>
          <p:cNvPr id="100354" name="Content Placeholder 1"/>
          <p:cNvSpPr>
            <a:spLocks noGrp="1"/>
          </p:cNvSpPr>
          <p:nvPr>
            <p:ph idx="1"/>
          </p:nvPr>
        </p:nvSpPr>
        <p:spPr>
          <a:xfrm>
            <a:off x="673100" y="1600200"/>
            <a:ext cx="7823200" cy="2120900"/>
          </a:xfrm>
        </p:spPr>
        <p:txBody>
          <a:bodyPr/>
          <a:lstStyle/>
          <a:p>
            <a:r>
              <a:rPr lang="en-US" sz="2400">
                <a:latin typeface="Arial" charset="0"/>
                <a:cs typeface="Arial" charset="0"/>
              </a:rPr>
              <a:t>The company manufactures quality speakers and stereo receivers</a:t>
            </a:r>
          </a:p>
          <a:p>
            <a:r>
              <a:rPr lang="en-US" sz="2400">
                <a:latin typeface="Arial" charset="0"/>
                <a:cs typeface="Arial" charset="0"/>
              </a:rPr>
              <a:t>Products require a certain amount of skilled artisanship which is in limited supply</a:t>
            </a:r>
          </a:p>
          <a:p>
            <a:r>
              <a:rPr lang="en-US" sz="2400">
                <a:latin typeface="Arial" charset="0"/>
                <a:cs typeface="Arial" charset="0"/>
              </a:rPr>
              <a:t>Product mix LP model</a:t>
            </a:r>
          </a:p>
        </p:txBody>
      </p:sp>
      <p:graphicFrame>
        <p:nvGraphicFramePr>
          <p:cNvPr id="6" name="Table 5"/>
          <p:cNvGraphicFramePr>
            <a:graphicFrameLocks noGrp="1"/>
          </p:cNvGraphicFramePr>
          <p:nvPr/>
        </p:nvGraphicFramePr>
        <p:xfrm>
          <a:off x="674688" y="3860800"/>
          <a:ext cx="7948387" cy="2072640"/>
        </p:xfrm>
        <a:graphic>
          <a:graphicData uri="http://schemas.openxmlformats.org/drawingml/2006/table">
            <a:tbl>
              <a:tblPr firstRow="1" bandRow="1">
                <a:tableStyleId>{2D5ABB26-0587-4C30-8999-92F81FD0307C}</a:tableStyleId>
              </a:tblPr>
              <a:tblGrid>
                <a:gridCol w="2144488">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2768599">
                  <a:extLst>
                    <a:ext uri="{9D8B030D-6E8A-4147-A177-3AD203B41FA5}">
                      <a16:colId xmlns:a16="http://schemas.microsoft.com/office/drawing/2014/main" val="20004"/>
                    </a:ext>
                  </a:extLst>
                </a:gridCol>
              </a:tblGrid>
              <a:tr h="190817">
                <a:tc>
                  <a:txBody>
                    <a:bodyPr/>
                    <a:lstStyle/>
                    <a:p>
                      <a:pPr>
                        <a:lnSpc>
                          <a:spcPct val="80000"/>
                        </a:lnSpc>
                      </a:pPr>
                      <a:r>
                        <a:rPr lang="en-US" sz="2000" dirty="0">
                          <a:latin typeface="Arial"/>
                          <a:cs typeface="Arial"/>
                        </a:rPr>
                        <a:t>Maximize profit =</a:t>
                      </a:r>
                    </a:p>
                  </a:txBody>
                  <a:tcPr/>
                </a:tc>
                <a:tc>
                  <a:txBody>
                    <a:bodyPr/>
                    <a:lstStyle/>
                    <a:p>
                      <a:pPr algn="r">
                        <a:lnSpc>
                          <a:spcPct val="80000"/>
                        </a:lnSpc>
                      </a:pPr>
                      <a:r>
                        <a:rPr lang="en-US" sz="2000" dirty="0">
                          <a:latin typeface="Arial"/>
                          <a:cs typeface="Arial"/>
                        </a:rPr>
                        <a:t>$</a:t>
                      </a:r>
                      <a:r>
                        <a:rPr lang="en-US" sz="2000" dirty="0" err="1">
                          <a:latin typeface="Arial"/>
                          <a:cs typeface="Arial"/>
                        </a:rPr>
                        <a:t>50</a:t>
                      </a:r>
                      <a:r>
                        <a:rPr lang="en-US" sz="2000" i="1" dirty="0" err="1">
                          <a:latin typeface="Arial"/>
                          <a:cs typeface="Arial"/>
                        </a:rPr>
                        <a:t>X</a:t>
                      </a:r>
                      <a:r>
                        <a:rPr lang="en-US" sz="2000" baseline="-25000" dirty="0" err="1">
                          <a:latin typeface="Arial"/>
                          <a:cs typeface="Arial"/>
                        </a:rPr>
                        <a:t>1</a:t>
                      </a:r>
                      <a:endParaRPr lang="en-US" sz="2000" dirty="0">
                        <a:latin typeface="Arial"/>
                        <a:cs typeface="Arial"/>
                      </a:endParaRPr>
                    </a:p>
                  </a:txBody>
                  <a:tcPr/>
                </a:tc>
                <a:tc>
                  <a:txBody>
                    <a:bodyPr/>
                    <a:lstStyle/>
                    <a:p>
                      <a:pPr algn="r">
                        <a:lnSpc>
                          <a:spcPct val="80000"/>
                        </a:lnSpc>
                      </a:pPr>
                      <a:r>
                        <a:rPr lang="en-US" sz="2000" dirty="0">
                          <a:latin typeface="Arial"/>
                          <a:cs typeface="Arial"/>
                        </a:rPr>
                        <a:t>+ $</a:t>
                      </a:r>
                      <a:r>
                        <a:rPr lang="en-US" sz="2000" dirty="0" err="1">
                          <a:latin typeface="Arial"/>
                          <a:cs typeface="Arial"/>
                        </a:rPr>
                        <a:t>120</a:t>
                      </a:r>
                      <a:r>
                        <a:rPr lang="en-US" sz="2000" i="1" dirty="0" err="1">
                          <a:latin typeface="Arial"/>
                          <a:cs typeface="Arial"/>
                        </a:rPr>
                        <a:t>X</a:t>
                      </a:r>
                      <a:r>
                        <a:rPr lang="en-US" sz="2000" baseline="-25000" dirty="0" err="1">
                          <a:latin typeface="Arial"/>
                          <a:cs typeface="Arial"/>
                        </a:rPr>
                        <a:t>2</a:t>
                      </a:r>
                      <a:endParaRPr lang="en-US" sz="2000" dirty="0">
                        <a:latin typeface="Arial"/>
                        <a:cs typeface="Arial"/>
                      </a:endParaRPr>
                    </a:p>
                  </a:txBody>
                  <a:tcPr/>
                </a:tc>
                <a:tc>
                  <a:txBody>
                    <a:bodyPr/>
                    <a:lstStyle/>
                    <a:p>
                      <a:pPr>
                        <a:lnSpc>
                          <a:spcPct val="80000"/>
                        </a:lnSpc>
                      </a:pPr>
                      <a:endParaRPr lang="en-US" sz="2000" dirty="0">
                        <a:latin typeface="Arial"/>
                        <a:cs typeface="Arial"/>
                      </a:endParaRPr>
                    </a:p>
                  </a:txBody>
                  <a:tcPr/>
                </a:tc>
                <a:tc>
                  <a:txBody>
                    <a:bodyPr/>
                    <a:lstStyle/>
                    <a:p>
                      <a:pPr>
                        <a:lnSpc>
                          <a:spcPct val="80000"/>
                        </a:lnSpc>
                      </a:pPr>
                      <a:endParaRPr lang="en-US" sz="2000" dirty="0">
                        <a:latin typeface="Arial"/>
                        <a:cs typeface="Arial"/>
                      </a:endParaRPr>
                    </a:p>
                  </a:txBody>
                  <a:tcPr/>
                </a:tc>
                <a:extLst>
                  <a:ext uri="{0D108BD9-81ED-4DB2-BD59-A6C34878D82A}">
                    <a16:rowId xmlns:a16="http://schemas.microsoft.com/office/drawing/2014/main" val="10000"/>
                  </a:ext>
                </a:extLst>
              </a:tr>
              <a:tr h="190817">
                <a:tc>
                  <a:txBody>
                    <a:bodyPr/>
                    <a:lstStyle/>
                    <a:p>
                      <a:pPr>
                        <a:lnSpc>
                          <a:spcPct val="80000"/>
                        </a:lnSpc>
                      </a:pPr>
                      <a:r>
                        <a:rPr lang="en-US" sz="2000" dirty="0">
                          <a:latin typeface="Arial"/>
                          <a:cs typeface="Arial"/>
                        </a:rPr>
                        <a:t>subject to</a:t>
                      </a:r>
                    </a:p>
                  </a:txBody>
                  <a:tcPr/>
                </a:tc>
                <a:tc>
                  <a:txBody>
                    <a:bodyPr/>
                    <a:lstStyle/>
                    <a:p>
                      <a:pPr algn="r">
                        <a:lnSpc>
                          <a:spcPct val="80000"/>
                        </a:lnSpc>
                      </a:pPr>
                      <a:r>
                        <a:rPr lang="en-US" sz="2000" i="0" dirty="0" err="1">
                          <a:latin typeface="Arial"/>
                          <a:cs typeface="Arial"/>
                        </a:rPr>
                        <a:t>2</a:t>
                      </a:r>
                      <a:r>
                        <a:rPr lang="en-US" sz="2000" i="1" dirty="0" err="1">
                          <a:latin typeface="Arial"/>
                          <a:cs typeface="Arial"/>
                        </a:rPr>
                        <a:t>X</a:t>
                      </a:r>
                      <a:r>
                        <a:rPr lang="en-US" sz="2000" baseline="-25000" dirty="0" err="1">
                          <a:latin typeface="Arial"/>
                          <a:cs typeface="Arial"/>
                        </a:rPr>
                        <a:t>1</a:t>
                      </a:r>
                      <a:endParaRPr lang="en-US" sz="2000" dirty="0">
                        <a:latin typeface="Arial"/>
                        <a:cs typeface="Arial"/>
                      </a:endParaRPr>
                    </a:p>
                  </a:txBody>
                  <a:tcPr/>
                </a:tc>
                <a:tc>
                  <a:txBody>
                    <a:bodyPr/>
                    <a:lstStyle/>
                    <a:p>
                      <a:pPr algn="r">
                        <a:lnSpc>
                          <a:spcPct val="80000"/>
                        </a:lnSpc>
                      </a:pPr>
                      <a:r>
                        <a:rPr lang="en-US" sz="2000" dirty="0">
                          <a:latin typeface="Arial"/>
                          <a:cs typeface="Arial"/>
                        </a:rPr>
                        <a:t>+ </a:t>
                      </a:r>
                      <a:r>
                        <a:rPr lang="en-US" sz="2000" dirty="0" err="1">
                          <a:latin typeface="Arial"/>
                          <a:cs typeface="Arial"/>
                        </a:rPr>
                        <a:t>4</a:t>
                      </a:r>
                      <a:r>
                        <a:rPr lang="en-US" sz="2000" i="1" dirty="0" err="1">
                          <a:latin typeface="Arial"/>
                          <a:cs typeface="Arial"/>
                        </a:rPr>
                        <a:t>X</a:t>
                      </a:r>
                      <a:r>
                        <a:rPr lang="en-US" sz="2000" baseline="-25000" dirty="0" err="1">
                          <a:latin typeface="Arial"/>
                          <a:cs typeface="Arial"/>
                        </a:rPr>
                        <a:t>2</a:t>
                      </a:r>
                      <a:endParaRPr lang="en-US" sz="2000" dirty="0">
                        <a:latin typeface="Arial"/>
                        <a:cs typeface="Arial"/>
                      </a:endParaRPr>
                    </a:p>
                  </a:txBody>
                  <a:tcPr/>
                </a:tc>
                <a:tc>
                  <a:txBody>
                    <a:bodyPr/>
                    <a:lstStyle/>
                    <a:p>
                      <a:pPr>
                        <a:lnSpc>
                          <a:spcPct val="80000"/>
                        </a:lnSpc>
                      </a:pPr>
                      <a:r>
                        <a:rPr lang="en-US" sz="2000" dirty="0">
                          <a:latin typeface="Arial"/>
                          <a:cs typeface="Arial"/>
                        </a:rPr>
                        <a:t>≤ 80</a:t>
                      </a:r>
                    </a:p>
                  </a:txBody>
                  <a:tcPr/>
                </a:tc>
                <a:tc>
                  <a:txBody>
                    <a:bodyPr/>
                    <a:lstStyle/>
                    <a:p>
                      <a:pPr>
                        <a:lnSpc>
                          <a:spcPct val="80000"/>
                        </a:lnSpc>
                      </a:pPr>
                      <a:r>
                        <a:rPr lang="en-US" sz="2000" dirty="0">
                          <a:latin typeface="Arial"/>
                          <a:cs typeface="Arial"/>
                        </a:rPr>
                        <a:t>(hours of electricians’ time available)</a:t>
                      </a:r>
                    </a:p>
                  </a:txBody>
                  <a:tcPr/>
                </a:tc>
                <a:extLst>
                  <a:ext uri="{0D108BD9-81ED-4DB2-BD59-A6C34878D82A}">
                    <a16:rowId xmlns:a16="http://schemas.microsoft.com/office/drawing/2014/main" val="10001"/>
                  </a:ext>
                </a:extLst>
              </a:tr>
              <a:tr h="190817">
                <a:tc>
                  <a:txBody>
                    <a:bodyPr/>
                    <a:lstStyle/>
                    <a:p>
                      <a:pPr>
                        <a:lnSpc>
                          <a:spcPct val="80000"/>
                        </a:lnSpc>
                      </a:pPr>
                      <a:endParaRPr lang="en-US" sz="2000">
                        <a:latin typeface="Arial"/>
                        <a:cs typeface="Arial"/>
                      </a:endParaRPr>
                    </a:p>
                  </a:txBody>
                  <a:tcPr/>
                </a:tc>
                <a:tc>
                  <a:txBody>
                    <a:bodyPr/>
                    <a:lstStyle/>
                    <a:p>
                      <a:pPr algn="r">
                        <a:lnSpc>
                          <a:spcPct val="80000"/>
                        </a:lnSpc>
                      </a:pPr>
                      <a:r>
                        <a:rPr lang="en-US" sz="2000" dirty="0" err="1">
                          <a:latin typeface="Arial"/>
                          <a:cs typeface="Arial"/>
                        </a:rPr>
                        <a:t>3</a:t>
                      </a:r>
                      <a:r>
                        <a:rPr lang="en-US" sz="2000" i="1" dirty="0" err="1">
                          <a:latin typeface="Arial"/>
                          <a:cs typeface="Arial"/>
                        </a:rPr>
                        <a:t>X</a:t>
                      </a:r>
                      <a:r>
                        <a:rPr lang="en-US" sz="2400" baseline="-25000" dirty="0" err="1">
                          <a:latin typeface="Arial"/>
                          <a:cs typeface="Arial"/>
                        </a:rPr>
                        <a:t>1</a:t>
                      </a:r>
                      <a:endParaRPr lang="en-US" sz="2000" dirty="0">
                        <a:latin typeface="Arial"/>
                        <a:cs typeface="Arial"/>
                      </a:endParaRPr>
                    </a:p>
                  </a:txBody>
                  <a:tcPr/>
                </a:tc>
                <a:tc>
                  <a:txBody>
                    <a:bodyPr/>
                    <a:lstStyle/>
                    <a:p>
                      <a:pPr algn="r">
                        <a:lnSpc>
                          <a:spcPct val="80000"/>
                        </a:lnSpc>
                      </a:pPr>
                      <a:r>
                        <a:rPr lang="en-US" sz="2000" i="0" dirty="0">
                          <a:latin typeface="Arial"/>
                          <a:cs typeface="Arial"/>
                        </a:rPr>
                        <a:t>+ </a:t>
                      </a:r>
                      <a:r>
                        <a:rPr lang="en-US" sz="2000" i="0" dirty="0" err="1">
                          <a:latin typeface="Arial"/>
                          <a:cs typeface="Arial"/>
                        </a:rPr>
                        <a:t>1</a:t>
                      </a:r>
                      <a:r>
                        <a:rPr lang="en-US" sz="2000" i="1" dirty="0" err="1">
                          <a:latin typeface="Arial"/>
                          <a:cs typeface="Arial"/>
                        </a:rPr>
                        <a:t>X</a:t>
                      </a:r>
                      <a:r>
                        <a:rPr lang="en-US" sz="2000" baseline="-25000" dirty="0" err="1">
                          <a:latin typeface="Arial"/>
                          <a:cs typeface="Arial"/>
                        </a:rPr>
                        <a:t>2</a:t>
                      </a:r>
                      <a:endParaRPr lang="en-US" sz="2000" dirty="0">
                        <a:latin typeface="Arial"/>
                        <a:cs typeface="Arial"/>
                      </a:endParaRPr>
                    </a:p>
                  </a:txBody>
                  <a:tcPr/>
                </a:tc>
                <a:tc>
                  <a:txBody>
                    <a:bodyPr/>
                    <a:lstStyle/>
                    <a:p>
                      <a:pPr>
                        <a:lnSpc>
                          <a:spcPct val="80000"/>
                        </a:lnSpc>
                      </a:pPr>
                      <a:r>
                        <a:rPr lang="en-US" sz="2000" dirty="0">
                          <a:latin typeface="Arial"/>
                          <a:cs typeface="Arial"/>
                        </a:rPr>
                        <a:t>≤ 60</a:t>
                      </a:r>
                    </a:p>
                  </a:txBody>
                  <a:tcPr/>
                </a:tc>
                <a:tc>
                  <a:txBody>
                    <a:bodyPr/>
                    <a:lstStyle/>
                    <a:p>
                      <a:pPr>
                        <a:lnSpc>
                          <a:spcPct val="80000"/>
                        </a:lnSpc>
                      </a:pPr>
                      <a:r>
                        <a:rPr lang="en-US" sz="2000" dirty="0">
                          <a:latin typeface="Arial"/>
                          <a:cs typeface="Arial"/>
                        </a:rPr>
                        <a:t>(hours of </a:t>
                      </a:r>
                      <a:r>
                        <a:rPr lang="en-US" sz="2000">
                          <a:latin typeface="Arial"/>
                          <a:cs typeface="Arial"/>
                        </a:rPr>
                        <a:t>audio technicians’ </a:t>
                      </a:r>
                      <a:r>
                        <a:rPr lang="en-US" sz="2000" dirty="0">
                          <a:latin typeface="Arial"/>
                          <a:cs typeface="Arial"/>
                        </a:rPr>
                        <a:t>time available)</a:t>
                      </a:r>
                    </a:p>
                  </a:txBody>
                  <a:tcPr/>
                </a:tc>
                <a:extLst>
                  <a:ext uri="{0D108BD9-81ED-4DB2-BD59-A6C34878D82A}">
                    <a16:rowId xmlns:a16="http://schemas.microsoft.com/office/drawing/2014/main" val="10002"/>
                  </a:ext>
                </a:extLst>
              </a:tr>
              <a:tr h="190817">
                <a:tc>
                  <a:txBody>
                    <a:bodyPr/>
                    <a:lstStyle/>
                    <a:p>
                      <a:pPr>
                        <a:lnSpc>
                          <a:spcPct val="80000"/>
                        </a:lnSpc>
                      </a:pPr>
                      <a:endParaRPr lang="en-US" sz="2000" dirty="0">
                        <a:latin typeface="Arial"/>
                        <a:cs typeface="Arial"/>
                      </a:endParaRPr>
                    </a:p>
                  </a:txBody>
                  <a:tcPr/>
                </a:tc>
                <a:tc>
                  <a:txBody>
                    <a:bodyPr/>
                    <a:lstStyle/>
                    <a:p>
                      <a:pPr algn="r">
                        <a:lnSpc>
                          <a:spcPct val="80000"/>
                        </a:lnSpc>
                      </a:pPr>
                      <a:endParaRPr lang="en-US" sz="2000">
                        <a:latin typeface="Arial"/>
                        <a:cs typeface="Arial"/>
                      </a:endParaRPr>
                    </a:p>
                  </a:txBody>
                  <a:tcPr/>
                </a:tc>
                <a:tc>
                  <a:txBody>
                    <a:bodyPr/>
                    <a:lstStyle/>
                    <a:p>
                      <a:pPr algn="r">
                        <a:lnSpc>
                          <a:spcPct val="80000"/>
                        </a:lnSpc>
                      </a:pPr>
                      <a:r>
                        <a:rPr lang="en-US" sz="2000" i="1" dirty="0" err="1">
                          <a:latin typeface="Arial"/>
                          <a:cs typeface="Arial"/>
                        </a:rPr>
                        <a:t>X</a:t>
                      </a:r>
                      <a:r>
                        <a:rPr lang="en-US" sz="2000" baseline="-25000" dirty="0" err="1">
                          <a:latin typeface="Arial"/>
                          <a:cs typeface="Arial"/>
                        </a:rPr>
                        <a:t>1</a:t>
                      </a:r>
                      <a:r>
                        <a:rPr lang="en-US" sz="2000" baseline="0" dirty="0">
                          <a:latin typeface="Arial"/>
                          <a:cs typeface="Arial"/>
                        </a:rPr>
                        <a:t>, </a:t>
                      </a:r>
                      <a:r>
                        <a:rPr lang="en-US" sz="2000" i="1" baseline="0" dirty="0" err="1">
                          <a:latin typeface="Arial"/>
                          <a:cs typeface="Arial"/>
                        </a:rPr>
                        <a:t>X</a:t>
                      </a:r>
                      <a:r>
                        <a:rPr lang="en-US" sz="2000" baseline="-25000" dirty="0" err="1">
                          <a:latin typeface="Arial"/>
                          <a:cs typeface="Arial"/>
                        </a:rPr>
                        <a:t>2</a:t>
                      </a:r>
                      <a:endParaRPr lang="en-US" sz="2000" dirty="0">
                        <a:latin typeface="Arial"/>
                        <a:cs typeface="Arial"/>
                      </a:endParaRPr>
                    </a:p>
                  </a:txBody>
                  <a:tcPr/>
                </a:tc>
                <a:tc>
                  <a:txBody>
                    <a:bodyPr/>
                    <a:lstStyle/>
                    <a:p>
                      <a:pPr>
                        <a:lnSpc>
                          <a:spcPct val="80000"/>
                        </a:lnSpc>
                      </a:pPr>
                      <a:r>
                        <a:rPr lang="en-US" sz="2000" dirty="0">
                          <a:latin typeface="Arial"/>
                          <a:cs typeface="Arial"/>
                        </a:rPr>
                        <a:t>≥ 0</a:t>
                      </a:r>
                    </a:p>
                  </a:txBody>
                  <a:tcPr/>
                </a:tc>
                <a:tc>
                  <a:txBody>
                    <a:bodyPr/>
                    <a:lstStyle/>
                    <a:p>
                      <a:pPr>
                        <a:lnSpc>
                          <a:spcPct val="80000"/>
                        </a:lnSpc>
                      </a:pPr>
                      <a:endParaRPr lang="en-US" sz="2000" dirty="0">
                        <a:latin typeface="Arial"/>
                        <a:cs typeface="Arial"/>
                      </a:endParaRPr>
                    </a:p>
                  </a:txBody>
                  <a:tcPr/>
                </a:tc>
                <a:extLst>
                  <a:ext uri="{0D108BD9-81ED-4DB2-BD59-A6C34878D82A}">
                    <a16:rowId xmlns:a16="http://schemas.microsoft.com/office/drawing/2014/main" val="10003"/>
                  </a:ext>
                </a:extLst>
              </a:tr>
            </a:tbl>
          </a:graphicData>
        </a:graphic>
      </p:graphicFrame>
      <p:sp>
        <p:nvSpPr>
          <p:cNvPr id="7"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9" name="Slide Number Placeholder 9"/>
          <p:cNvSpPr>
            <a:spLocks noGrp="1"/>
          </p:cNvSpPr>
          <p:nvPr>
            <p:ph type="sldNum" sz="quarter" idx="11"/>
          </p:nvPr>
        </p:nvSpPr>
        <p:spPr/>
        <p:txBody>
          <a:bodyPr/>
          <a:lstStyle/>
          <a:p>
            <a:pPr>
              <a:defRPr/>
            </a:pPr>
            <a:r>
              <a:rPr lang="en-US"/>
              <a:t>7 – </a:t>
            </a:r>
            <a:fld id="{22EB8CD6-5F4C-49B0-8C53-E3D2AAE48EBC}" type="slidenum">
              <a:rPr lang="en-US"/>
              <a:pPr>
                <a:defRPr/>
              </a:pPr>
              <a:t>25</a:t>
            </a:fld>
            <a:endParaRPr lang="en-US"/>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3"/>
          <p:cNvSpPr>
            <a:spLocks noGrp="1" noChangeArrowheads="1"/>
          </p:cNvSpPr>
          <p:nvPr>
            <p:ph type="title"/>
          </p:nvPr>
        </p:nvSpPr>
        <p:spPr/>
        <p:txBody>
          <a:bodyPr/>
          <a:lstStyle/>
          <a:p>
            <a:r>
              <a:rPr lang="en-US">
                <a:latin typeface="Arial" charset="0"/>
                <a:ea typeface="MS PGothic" pitchFamily="34" charset="-128"/>
                <a:cs typeface="Arial" charset="0"/>
              </a:rPr>
              <a:t>High Note Sound Company</a:t>
            </a:r>
          </a:p>
        </p:txBody>
      </p:sp>
      <p:sp>
        <p:nvSpPr>
          <p:cNvPr id="204806" name="Freeform 6"/>
          <p:cNvSpPr>
            <a:spLocks/>
          </p:cNvSpPr>
          <p:nvPr/>
        </p:nvSpPr>
        <p:spPr bwMode="auto">
          <a:xfrm>
            <a:off x="2843213" y="4862513"/>
            <a:ext cx="1054100" cy="998537"/>
          </a:xfrm>
          <a:custGeom>
            <a:avLst/>
            <a:gdLst>
              <a:gd name="T0" fmla="*/ 0 w 664"/>
              <a:gd name="T1" fmla="*/ 0 h 629"/>
              <a:gd name="T2" fmla="*/ 0 w 664"/>
              <a:gd name="T3" fmla="*/ 2147483647 h 629"/>
              <a:gd name="T4" fmla="*/ 2147483647 w 664"/>
              <a:gd name="T5" fmla="*/ 2147483647 h 629"/>
              <a:gd name="T6" fmla="*/ 2147483647 w 664"/>
              <a:gd name="T7" fmla="*/ 2147483647 h 629"/>
              <a:gd name="T8" fmla="*/ 0 w 664"/>
              <a:gd name="T9" fmla="*/ 0 h 629"/>
              <a:gd name="T10" fmla="*/ 0 60000 65536"/>
              <a:gd name="T11" fmla="*/ 0 60000 65536"/>
              <a:gd name="T12" fmla="*/ 0 60000 65536"/>
              <a:gd name="T13" fmla="*/ 0 60000 65536"/>
              <a:gd name="T14" fmla="*/ 0 60000 65536"/>
              <a:gd name="T15" fmla="*/ 0 w 664"/>
              <a:gd name="T16" fmla="*/ 0 h 629"/>
              <a:gd name="T17" fmla="*/ 664 w 664"/>
              <a:gd name="T18" fmla="*/ 629 h 629"/>
            </a:gdLst>
            <a:ahLst/>
            <a:cxnLst>
              <a:cxn ang="T10">
                <a:pos x="T0" y="T1"/>
              </a:cxn>
              <a:cxn ang="T11">
                <a:pos x="T2" y="T3"/>
              </a:cxn>
              <a:cxn ang="T12">
                <a:pos x="T4" y="T5"/>
              </a:cxn>
              <a:cxn ang="T13">
                <a:pos x="T6" y="T7"/>
              </a:cxn>
              <a:cxn ang="T14">
                <a:pos x="T8" y="T9"/>
              </a:cxn>
            </a:cxnLst>
            <a:rect l="T15" t="T16" r="T17" b="T18"/>
            <a:pathLst>
              <a:path w="664" h="629">
                <a:moveTo>
                  <a:pt x="0" y="0"/>
                </a:moveTo>
                <a:lnTo>
                  <a:pt x="0" y="629"/>
                </a:lnTo>
                <a:lnTo>
                  <a:pt x="664" y="629"/>
                </a:lnTo>
                <a:lnTo>
                  <a:pt x="534" y="243"/>
                </a:lnTo>
                <a:lnTo>
                  <a:pt x="0" y="0"/>
                </a:lnTo>
                <a:close/>
              </a:path>
            </a:pathLst>
          </a:custGeom>
          <a:solidFill>
            <a:srgbClr val="BBE2EE"/>
          </a:solidFill>
          <a:ln w="9525">
            <a:noFill/>
            <a:round/>
            <a:headEnd/>
            <a:tailEnd/>
          </a:ln>
        </p:spPr>
        <p:txBody>
          <a:bodyPr/>
          <a:lstStyle/>
          <a:p>
            <a:endParaRPr lang="en-US"/>
          </a:p>
        </p:txBody>
      </p:sp>
      <p:sp>
        <p:nvSpPr>
          <p:cNvPr id="204815" name="Line 15"/>
          <p:cNvSpPr>
            <a:spLocks noChangeShapeType="1"/>
          </p:cNvSpPr>
          <p:nvPr/>
        </p:nvSpPr>
        <p:spPr bwMode="auto">
          <a:xfrm>
            <a:off x="2844800" y="4851400"/>
            <a:ext cx="2184400" cy="1016000"/>
          </a:xfrm>
          <a:prstGeom prst="line">
            <a:avLst/>
          </a:prstGeom>
          <a:noFill/>
          <a:ln w="57150">
            <a:solidFill>
              <a:schemeClr val="accent1"/>
            </a:solidFill>
            <a:round/>
            <a:headEnd/>
            <a:tailEnd/>
          </a:ln>
        </p:spPr>
        <p:txBody>
          <a:bodyPr/>
          <a:lstStyle/>
          <a:p>
            <a:endParaRPr lang="en-US"/>
          </a:p>
        </p:txBody>
      </p:sp>
      <p:sp>
        <p:nvSpPr>
          <p:cNvPr id="204816" name="Line 16"/>
          <p:cNvSpPr>
            <a:spLocks noChangeShapeType="1"/>
          </p:cNvSpPr>
          <p:nvPr/>
        </p:nvSpPr>
        <p:spPr bwMode="auto">
          <a:xfrm>
            <a:off x="2844800" y="2870200"/>
            <a:ext cx="1054100" cy="2971800"/>
          </a:xfrm>
          <a:prstGeom prst="line">
            <a:avLst/>
          </a:prstGeom>
          <a:noFill/>
          <a:ln w="57150">
            <a:solidFill>
              <a:schemeClr val="accent1"/>
            </a:solidFill>
            <a:round/>
            <a:headEnd/>
            <a:tailEnd/>
          </a:ln>
        </p:spPr>
        <p:txBody>
          <a:bodyPr/>
          <a:lstStyle/>
          <a:p>
            <a:endParaRPr lang="en-US"/>
          </a:p>
        </p:txBody>
      </p:sp>
      <p:sp>
        <p:nvSpPr>
          <p:cNvPr id="204817" name="Text Box 17"/>
          <p:cNvSpPr txBox="1">
            <a:spLocks noChangeArrowheads="1"/>
          </p:cNvSpPr>
          <p:nvPr/>
        </p:nvSpPr>
        <p:spPr bwMode="auto">
          <a:xfrm>
            <a:off x="3590925" y="4479925"/>
            <a:ext cx="1450975" cy="317500"/>
          </a:xfrm>
          <a:prstGeom prst="rect">
            <a:avLst/>
          </a:prstGeom>
          <a:noFill/>
          <a:ln w="9525">
            <a:noFill/>
            <a:miter lim="800000"/>
            <a:headEnd/>
            <a:tailEnd/>
          </a:ln>
        </p:spPr>
        <p:txBody>
          <a:bodyPr>
            <a:spAutoFit/>
          </a:bodyPr>
          <a:lstStyle/>
          <a:p>
            <a:pPr>
              <a:lnSpc>
                <a:spcPct val="90000"/>
              </a:lnSpc>
            </a:pPr>
            <a:r>
              <a:rPr lang="en-US" sz="1600" i="1">
                <a:ea typeface="MS PGothic" pitchFamily="34" charset="-128"/>
              </a:rPr>
              <a:t>b</a:t>
            </a:r>
            <a:r>
              <a:rPr lang="en-US" sz="1600">
                <a:ea typeface="MS PGothic" pitchFamily="34" charset="-128"/>
              </a:rPr>
              <a:t> = (16, 12)</a:t>
            </a:r>
          </a:p>
        </p:txBody>
      </p:sp>
      <p:sp>
        <p:nvSpPr>
          <p:cNvPr id="204818" name="Line 18"/>
          <p:cNvSpPr>
            <a:spLocks noChangeShapeType="1"/>
          </p:cNvSpPr>
          <p:nvPr/>
        </p:nvSpPr>
        <p:spPr bwMode="auto">
          <a:xfrm flipH="1">
            <a:off x="3746500" y="4724400"/>
            <a:ext cx="203200" cy="431800"/>
          </a:xfrm>
          <a:prstGeom prst="line">
            <a:avLst/>
          </a:prstGeom>
          <a:noFill/>
          <a:ln w="38100">
            <a:solidFill>
              <a:schemeClr val="tx1"/>
            </a:solidFill>
            <a:round/>
            <a:headEnd/>
            <a:tailEnd type="triangle" w="sm" len="med"/>
          </a:ln>
        </p:spPr>
        <p:txBody>
          <a:bodyPr/>
          <a:lstStyle/>
          <a:p>
            <a:endParaRPr lang="en-US"/>
          </a:p>
        </p:txBody>
      </p:sp>
      <p:sp>
        <p:nvSpPr>
          <p:cNvPr id="204820" name="Line 20"/>
          <p:cNvSpPr>
            <a:spLocks noChangeShapeType="1"/>
          </p:cNvSpPr>
          <p:nvPr/>
        </p:nvSpPr>
        <p:spPr bwMode="auto">
          <a:xfrm flipH="1">
            <a:off x="4279900" y="5143500"/>
            <a:ext cx="330200" cy="203200"/>
          </a:xfrm>
          <a:prstGeom prst="line">
            <a:avLst/>
          </a:prstGeom>
          <a:noFill/>
          <a:ln w="38100">
            <a:solidFill>
              <a:schemeClr val="tx1"/>
            </a:solidFill>
            <a:round/>
            <a:headEnd/>
            <a:tailEnd type="triangle" w="sm" len="med"/>
          </a:ln>
        </p:spPr>
        <p:txBody>
          <a:bodyPr/>
          <a:lstStyle/>
          <a:p>
            <a:endParaRPr lang="en-US"/>
          </a:p>
        </p:txBody>
      </p:sp>
      <p:grpSp>
        <p:nvGrpSpPr>
          <p:cNvPr id="204838" name="Group 38"/>
          <p:cNvGrpSpPr>
            <a:grpSpLocks/>
          </p:cNvGrpSpPr>
          <p:nvPr/>
        </p:nvGrpSpPr>
        <p:grpSpPr bwMode="auto">
          <a:xfrm>
            <a:off x="4572000" y="3116263"/>
            <a:ext cx="2840038" cy="1143000"/>
            <a:chOff x="2880" y="1963"/>
            <a:chExt cx="1789" cy="720"/>
          </a:xfrm>
        </p:grpSpPr>
        <p:sp>
          <p:nvSpPr>
            <p:cNvPr id="101408" name="Text Box 14"/>
            <p:cNvSpPr txBox="1">
              <a:spLocks noChangeArrowheads="1"/>
            </p:cNvSpPr>
            <p:nvPr/>
          </p:nvSpPr>
          <p:spPr bwMode="auto">
            <a:xfrm>
              <a:off x="2880" y="1963"/>
              <a:ext cx="1789" cy="200"/>
            </a:xfrm>
            <a:prstGeom prst="rect">
              <a:avLst/>
            </a:prstGeom>
            <a:noFill/>
            <a:ln w="9525">
              <a:noFill/>
              <a:miter lim="800000"/>
              <a:headEnd/>
              <a:tailEnd/>
            </a:ln>
          </p:spPr>
          <p:txBody>
            <a:bodyPr>
              <a:spAutoFit/>
            </a:bodyPr>
            <a:lstStyle/>
            <a:p>
              <a:pPr>
                <a:lnSpc>
                  <a:spcPct val="90000"/>
                </a:lnSpc>
              </a:pPr>
              <a:r>
                <a:rPr lang="en-US" sz="1600">
                  <a:ea typeface="MS PGothic" pitchFamily="34" charset="-128"/>
                </a:rPr>
                <a:t>Optimal Solution at Point </a:t>
              </a:r>
              <a:r>
                <a:rPr lang="en-US" sz="1600" i="1">
                  <a:ea typeface="MS PGothic" pitchFamily="34" charset="-128"/>
                </a:rPr>
                <a:t>a</a:t>
              </a:r>
            </a:p>
          </p:txBody>
        </p:sp>
        <p:sp>
          <p:nvSpPr>
            <p:cNvPr id="101409" name="Text Box 21"/>
            <p:cNvSpPr txBox="1">
              <a:spLocks noChangeArrowheads="1"/>
            </p:cNvSpPr>
            <p:nvPr/>
          </p:nvSpPr>
          <p:spPr bwMode="auto">
            <a:xfrm>
              <a:off x="3185" y="2160"/>
              <a:ext cx="1205" cy="523"/>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1</a:t>
              </a:r>
              <a:r>
                <a:rPr lang="en-US" sz="1600">
                  <a:ea typeface="MS PGothic" pitchFamily="34" charset="-128"/>
                </a:rPr>
                <a:t> = 0 Speakers</a:t>
              </a:r>
            </a:p>
            <a:p>
              <a:r>
                <a:rPr lang="en-US" sz="1600" i="1">
                  <a:ea typeface="MS PGothic" pitchFamily="34" charset="-128"/>
                </a:rPr>
                <a:t>X</a:t>
              </a:r>
              <a:r>
                <a:rPr lang="en-US" sz="1600" baseline="-25000">
                  <a:ea typeface="MS PGothic" pitchFamily="34" charset="-128"/>
                </a:rPr>
                <a:t>2</a:t>
              </a:r>
              <a:r>
                <a:rPr lang="en-US" sz="1600">
                  <a:ea typeface="MS PGothic" pitchFamily="34" charset="-128"/>
                </a:rPr>
                <a:t> = 20 Receivers</a:t>
              </a:r>
            </a:p>
            <a:p>
              <a:r>
                <a:rPr lang="en-US" sz="1600">
                  <a:ea typeface="MS PGothic" pitchFamily="34" charset="-128"/>
                </a:rPr>
                <a:t>Profits = $2,400</a:t>
              </a:r>
            </a:p>
          </p:txBody>
        </p:sp>
      </p:grpSp>
      <p:sp>
        <p:nvSpPr>
          <p:cNvPr id="204822" name="Text Box 22"/>
          <p:cNvSpPr txBox="1">
            <a:spLocks noChangeArrowheads="1"/>
          </p:cNvSpPr>
          <p:nvPr/>
        </p:nvSpPr>
        <p:spPr bwMode="auto">
          <a:xfrm>
            <a:off x="1701800" y="4132263"/>
            <a:ext cx="1136650" cy="338137"/>
          </a:xfrm>
          <a:prstGeom prst="rect">
            <a:avLst/>
          </a:prstGeom>
          <a:noFill/>
          <a:ln w="9525">
            <a:noFill/>
            <a:miter lim="800000"/>
            <a:headEnd/>
            <a:tailEnd/>
          </a:ln>
        </p:spPr>
        <p:txBody>
          <a:bodyPr wrap="none">
            <a:spAutoFit/>
          </a:bodyPr>
          <a:lstStyle/>
          <a:p>
            <a:r>
              <a:rPr lang="en-US" sz="1600" i="1">
                <a:ea typeface="MS PGothic" pitchFamily="34" charset="-128"/>
              </a:rPr>
              <a:t>a</a:t>
            </a:r>
            <a:r>
              <a:rPr lang="en-US" sz="1600">
                <a:ea typeface="MS PGothic" pitchFamily="34" charset="-128"/>
              </a:rPr>
              <a:t> = (0, 20)</a:t>
            </a:r>
          </a:p>
        </p:txBody>
      </p:sp>
      <p:sp>
        <p:nvSpPr>
          <p:cNvPr id="204827" name="Text Box 27"/>
          <p:cNvSpPr txBox="1">
            <a:spLocks noChangeArrowheads="1"/>
          </p:cNvSpPr>
          <p:nvPr/>
        </p:nvSpPr>
        <p:spPr bwMode="auto">
          <a:xfrm>
            <a:off x="4572000" y="4972050"/>
            <a:ext cx="3675063" cy="336550"/>
          </a:xfrm>
          <a:prstGeom prst="rect">
            <a:avLst/>
          </a:prstGeom>
          <a:noFill/>
          <a:ln w="9525">
            <a:noFill/>
            <a:miter lim="800000"/>
            <a:headEnd/>
            <a:tailEnd/>
          </a:ln>
        </p:spPr>
        <p:txBody>
          <a:bodyPr wrap="none">
            <a:spAutoFit/>
          </a:bodyPr>
          <a:lstStyle/>
          <a:p>
            <a:r>
              <a:rPr lang="en-US" sz="1600">
                <a:ea typeface="MS PGothic" pitchFamily="34" charset="-128"/>
              </a:rPr>
              <a:t>Isoprofit Line: $2,400 = 50</a:t>
            </a:r>
            <a:r>
              <a:rPr lang="en-US" sz="1600" i="1">
                <a:ea typeface="MS PGothic" pitchFamily="34" charset="-128"/>
              </a:rPr>
              <a:t>X</a:t>
            </a:r>
            <a:r>
              <a:rPr lang="en-US" sz="1600" baseline="-25000">
                <a:ea typeface="MS PGothic" pitchFamily="34" charset="-128"/>
              </a:rPr>
              <a:t>1</a:t>
            </a:r>
            <a:r>
              <a:rPr lang="en-US" sz="1600">
                <a:ea typeface="MS PGothic" pitchFamily="34" charset="-128"/>
              </a:rPr>
              <a:t> + 120</a:t>
            </a:r>
            <a:r>
              <a:rPr lang="en-US" sz="1600" i="1">
                <a:ea typeface="MS PGothic" pitchFamily="34" charset="-128"/>
              </a:rPr>
              <a:t>X</a:t>
            </a:r>
            <a:r>
              <a:rPr lang="en-US" sz="1600" baseline="-25000">
                <a:ea typeface="MS PGothic" pitchFamily="34" charset="-128"/>
              </a:rPr>
              <a:t>2</a:t>
            </a:r>
            <a:endParaRPr lang="en-US" sz="1600">
              <a:ea typeface="MS PGothic" pitchFamily="34" charset="-128"/>
            </a:endParaRPr>
          </a:p>
        </p:txBody>
      </p:sp>
      <p:sp>
        <p:nvSpPr>
          <p:cNvPr id="204833" name="Line 33"/>
          <p:cNvSpPr>
            <a:spLocks noChangeShapeType="1"/>
          </p:cNvSpPr>
          <p:nvPr/>
        </p:nvSpPr>
        <p:spPr bwMode="auto">
          <a:xfrm>
            <a:off x="2514600" y="4419600"/>
            <a:ext cx="279400" cy="355600"/>
          </a:xfrm>
          <a:prstGeom prst="line">
            <a:avLst/>
          </a:prstGeom>
          <a:noFill/>
          <a:ln w="38100">
            <a:solidFill>
              <a:schemeClr val="tx1"/>
            </a:solidFill>
            <a:round/>
            <a:headEnd/>
            <a:tailEnd type="triangle" w="sm" len="med"/>
          </a:ln>
        </p:spPr>
        <p:txBody>
          <a:bodyPr/>
          <a:lstStyle/>
          <a:p>
            <a:endParaRPr lang="en-US"/>
          </a:p>
        </p:txBody>
      </p:sp>
      <p:grpSp>
        <p:nvGrpSpPr>
          <p:cNvPr id="204837" name="Group 37"/>
          <p:cNvGrpSpPr>
            <a:grpSpLocks/>
          </p:cNvGrpSpPr>
          <p:nvPr/>
        </p:nvGrpSpPr>
        <p:grpSpPr bwMode="auto">
          <a:xfrm>
            <a:off x="1533525" y="1941513"/>
            <a:ext cx="5556250" cy="4514850"/>
            <a:chOff x="966" y="1223"/>
            <a:chExt cx="3500" cy="2844"/>
          </a:xfrm>
        </p:grpSpPr>
        <p:sp>
          <p:nvSpPr>
            <p:cNvPr id="101401" name="Text Box 9"/>
            <p:cNvSpPr txBox="1">
              <a:spLocks noChangeArrowheads="1"/>
            </p:cNvSpPr>
            <p:nvPr/>
          </p:nvSpPr>
          <p:spPr bwMode="auto">
            <a:xfrm>
              <a:off x="1408" y="1526"/>
              <a:ext cx="507" cy="2299"/>
            </a:xfrm>
            <a:prstGeom prst="rect">
              <a:avLst/>
            </a:prstGeom>
            <a:noFill/>
            <a:ln w="9525">
              <a:noFill/>
              <a:miter lim="800000"/>
              <a:headEnd/>
              <a:tailEnd/>
            </a:ln>
          </p:spPr>
          <p:txBody>
            <a:bodyPr wrap="none">
              <a:spAutoFit/>
            </a:bodyPr>
            <a:lstStyle/>
            <a:p>
              <a:pPr algn="r">
                <a:lnSpc>
                  <a:spcPct val="209000"/>
                </a:lnSpc>
              </a:pPr>
              <a:r>
                <a:rPr lang="en-US" sz="1600">
                  <a:ea typeface="MS PGothic" pitchFamily="34" charset="-128"/>
                </a:rPr>
                <a:t>60 –</a:t>
              </a:r>
            </a:p>
            <a:p>
              <a:pPr algn="r">
                <a:lnSpc>
                  <a:spcPct val="209000"/>
                </a:lnSpc>
              </a:pPr>
              <a:r>
                <a:rPr lang="en-US" sz="1600">
                  <a:ea typeface="MS PGothic" pitchFamily="34" charset="-128"/>
                </a:rPr>
                <a:t> –</a:t>
              </a:r>
            </a:p>
            <a:p>
              <a:pPr algn="r">
                <a:lnSpc>
                  <a:spcPct val="209000"/>
                </a:lnSpc>
              </a:pPr>
              <a:r>
                <a:rPr lang="en-US" sz="1600">
                  <a:ea typeface="MS PGothic" pitchFamily="34" charset="-128"/>
                </a:rPr>
                <a:t>40 –</a:t>
              </a:r>
            </a:p>
            <a:p>
              <a:pPr algn="r">
                <a:lnSpc>
                  <a:spcPct val="209000"/>
                </a:lnSpc>
              </a:pPr>
              <a:r>
                <a:rPr lang="en-US" sz="1600">
                  <a:ea typeface="MS PGothic" pitchFamily="34" charset="-128"/>
                </a:rPr>
                <a:t> –</a:t>
              </a:r>
            </a:p>
            <a:p>
              <a:pPr algn="r">
                <a:lnSpc>
                  <a:spcPct val="209000"/>
                </a:lnSpc>
              </a:pPr>
              <a:r>
                <a:rPr lang="en-US" sz="1600">
                  <a:ea typeface="MS PGothic" pitchFamily="34" charset="-128"/>
                </a:rPr>
                <a:t>20 –</a:t>
              </a:r>
            </a:p>
            <a:p>
              <a:pPr algn="r">
                <a:lnSpc>
                  <a:spcPct val="209000"/>
                </a:lnSpc>
              </a:pPr>
              <a:r>
                <a:rPr lang="en-US" sz="1600">
                  <a:ea typeface="MS PGothic" pitchFamily="34" charset="-128"/>
                </a:rPr>
                <a:t>10 –</a:t>
              </a:r>
            </a:p>
            <a:p>
              <a:pPr algn="r">
                <a:lnSpc>
                  <a:spcPct val="209000"/>
                </a:lnSpc>
              </a:pPr>
              <a:r>
                <a:rPr lang="en-US" sz="1600">
                  <a:ea typeface="MS PGothic" pitchFamily="34" charset="-128"/>
                </a:rPr>
                <a:t>0 </a:t>
              </a:r>
              <a:r>
                <a:rPr lang="en-US" sz="1600">
                  <a:solidFill>
                    <a:srgbClr val="FFFFFF"/>
                  </a:solidFill>
                  <a:ea typeface="MS PGothic" pitchFamily="34" charset="-128"/>
                </a:rPr>
                <a:t>–</a:t>
              </a:r>
            </a:p>
          </p:txBody>
        </p:sp>
        <p:sp>
          <p:nvSpPr>
            <p:cNvPr id="101402" name="Freeform 8"/>
            <p:cNvSpPr>
              <a:spLocks/>
            </p:cNvSpPr>
            <p:nvPr/>
          </p:nvSpPr>
          <p:spPr bwMode="auto">
            <a:xfrm>
              <a:off x="1792" y="1336"/>
              <a:ext cx="2512" cy="2360"/>
            </a:xfrm>
            <a:custGeom>
              <a:avLst/>
              <a:gdLst>
                <a:gd name="T0" fmla="*/ 0 w 2768"/>
                <a:gd name="T1" fmla="*/ 0 h 2368"/>
                <a:gd name="T2" fmla="*/ 0 w 2768"/>
                <a:gd name="T3" fmla="*/ 2328 h 2368"/>
                <a:gd name="T4" fmla="*/ 1704 w 2768"/>
                <a:gd name="T5" fmla="*/ 2328 h 2368"/>
                <a:gd name="T6" fmla="*/ 0 60000 65536"/>
                <a:gd name="T7" fmla="*/ 0 60000 65536"/>
                <a:gd name="T8" fmla="*/ 0 60000 65536"/>
                <a:gd name="T9" fmla="*/ 0 w 2768"/>
                <a:gd name="T10" fmla="*/ 0 h 2368"/>
                <a:gd name="T11" fmla="*/ 2768 w 2768"/>
                <a:gd name="T12" fmla="*/ 2368 h 2368"/>
              </a:gdLst>
              <a:ahLst/>
              <a:cxnLst>
                <a:cxn ang="T6">
                  <a:pos x="T0" y="T1"/>
                </a:cxn>
                <a:cxn ang="T7">
                  <a:pos x="T2" y="T3"/>
                </a:cxn>
                <a:cxn ang="T8">
                  <a:pos x="T4" y="T5"/>
                </a:cxn>
              </a:cxnLst>
              <a:rect l="T9" t="T10" r="T11" b="T12"/>
              <a:pathLst>
                <a:path w="2768" h="2368">
                  <a:moveTo>
                    <a:pt x="0" y="0"/>
                  </a:moveTo>
                  <a:lnTo>
                    <a:pt x="0" y="2368"/>
                  </a:lnTo>
                  <a:lnTo>
                    <a:pt x="2768" y="2368"/>
                  </a:lnTo>
                </a:path>
              </a:pathLst>
            </a:custGeom>
            <a:noFill/>
            <a:ln w="38100" cmpd="sng">
              <a:solidFill>
                <a:schemeClr val="tx1"/>
              </a:solidFill>
              <a:round/>
              <a:headEnd type="triangle" w="sm" len="med"/>
              <a:tailEnd type="triangle" w="sm" len="med"/>
            </a:ln>
          </p:spPr>
          <p:txBody>
            <a:bodyPr/>
            <a:lstStyle/>
            <a:p>
              <a:endParaRPr lang="en-US"/>
            </a:p>
          </p:txBody>
        </p:sp>
        <p:sp>
          <p:nvSpPr>
            <p:cNvPr id="101403" name="Text Box 10"/>
            <p:cNvSpPr txBox="1">
              <a:spLocks noChangeArrowheads="1"/>
            </p:cNvSpPr>
            <p:nvPr/>
          </p:nvSpPr>
          <p:spPr bwMode="auto">
            <a:xfrm>
              <a:off x="1534" y="1223"/>
              <a:ext cx="289" cy="213"/>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2</a:t>
              </a:r>
              <a:endParaRPr lang="en-US" sz="1600" i="1">
                <a:ea typeface="MS PGothic" pitchFamily="34" charset="-128"/>
              </a:endParaRPr>
            </a:p>
          </p:txBody>
        </p:sp>
        <p:sp>
          <p:nvSpPr>
            <p:cNvPr id="101404" name="Text Box 11"/>
            <p:cNvSpPr txBox="1">
              <a:spLocks noChangeArrowheads="1"/>
            </p:cNvSpPr>
            <p:nvPr/>
          </p:nvSpPr>
          <p:spPr bwMode="auto">
            <a:xfrm>
              <a:off x="1510" y="3520"/>
              <a:ext cx="2451" cy="396"/>
            </a:xfrm>
            <a:prstGeom prst="rect">
              <a:avLst/>
            </a:prstGeom>
            <a:noFill/>
            <a:ln w="9525">
              <a:noFill/>
              <a:miter lim="800000"/>
              <a:headEnd/>
              <a:tailEnd/>
            </a:ln>
          </p:spPr>
          <p:txBody>
            <a:bodyPr wrap="none">
              <a:spAutoFit/>
            </a:bodyPr>
            <a:lstStyle/>
            <a:p>
              <a:pPr>
                <a:lnSpc>
                  <a:spcPct val="110000"/>
                </a:lnSpc>
                <a:tabLst>
                  <a:tab pos="355600" algn="ctr"/>
                  <a:tab pos="901700" algn="ctr"/>
                  <a:tab pos="1435100" algn="ctr"/>
                  <a:tab pos="1968500" algn="ctr"/>
                  <a:tab pos="2514600" algn="ctr"/>
                  <a:tab pos="3048000" algn="ctr"/>
                  <a:tab pos="3594100" algn="ctr"/>
                </a:tabLst>
              </a:pPr>
              <a:r>
                <a:rPr lang="en-US" sz="1600">
                  <a:ea typeface="MS PGothic" pitchFamily="34" charset="-128"/>
                </a:rPr>
                <a:t>	</a:t>
              </a:r>
              <a:r>
                <a:rPr lang="en-US" sz="1400">
                  <a:ea typeface="MS PGothic" pitchFamily="34" charset="-128"/>
                </a:rPr>
                <a:t>	|	|	|	|	|	|</a:t>
              </a:r>
            </a:p>
            <a:p>
              <a:pPr>
                <a:lnSpc>
                  <a:spcPct val="110000"/>
                </a:lnSpc>
                <a:tabLst>
                  <a:tab pos="355600" algn="ctr"/>
                  <a:tab pos="901700" algn="ctr"/>
                  <a:tab pos="1435100" algn="ctr"/>
                  <a:tab pos="1968500" algn="ctr"/>
                  <a:tab pos="2514600" algn="ctr"/>
                  <a:tab pos="3048000" algn="ctr"/>
                  <a:tab pos="3594100" algn="ctr"/>
                </a:tabLst>
              </a:pPr>
              <a:r>
                <a:rPr lang="en-US" sz="1600">
                  <a:ea typeface="MS PGothic" pitchFamily="34" charset="-128"/>
                </a:rPr>
                <a:t>		10	20	30	40	50	60</a:t>
              </a:r>
            </a:p>
          </p:txBody>
        </p:sp>
        <p:sp>
          <p:nvSpPr>
            <p:cNvPr id="101405" name="Text Box 12"/>
            <p:cNvSpPr txBox="1">
              <a:spLocks noChangeArrowheads="1"/>
            </p:cNvSpPr>
            <p:nvPr/>
          </p:nvSpPr>
          <p:spPr bwMode="auto">
            <a:xfrm>
              <a:off x="4158" y="3711"/>
              <a:ext cx="289" cy="213"/>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1</a:t>
              </a:r>
              <a:endParaRPr lang="en-US" sz="1600" i="1">
                <a:ea typeface="MS PGothic" pitchFamily="34" charset="-128"/>
              </a:endParaRPr>
            </a:p>
          </p:txBody>
        </p:sp>
        <p:sp>
          <p:nvSpPr>
            <p:cNvPr id="101406" name="Text Box 34"/>
            <p:cNvSpPr txBox="1">
              <a:spLocks noChangeArrowheads="1"/>
            </p:cNvSpPr>
            <p:nvPr/>
          </p:nvSpPr>
          <p:spPr bwMode="auto">
            <a:xfrm>
              <a:off x="966" y="1414"/>
              <a:ext cx="777" cy="213"/>
            </a:xfrm>
            <a:prstGeom prst="rect">
              <a:avLst/>
            </a:prstGeom>
            <a:noFill/>
            <a:ln w="9525">
              <a:noFill/>
              <a:miter lim="800000"/>
              <a:headEnd/>
              <a:tailEnd/>
            </a:ln>
          </p:spPr>
          <p:txBody>
            <a:bodyPr wrap="none">
              <a:spAutoFit/>
            </a:bodyPr>
            <a:lstStyle/>
            <a:p>
              <a:r>
                <a:rPr lang="en-US" sz="1600">
                  <a:ea typeface="MS PGothic" pitchFamily="34" charset="-128"/>
                </a:rPr>
                <a:t>(Receivers)</a:t>
              </a:r>
            </a:p>
          </p:txBody>
        </p:sp>
        <p:sp>
          <p:nvSpPr>
            <p:cNvPr id="101407" name="Text Box 35"/>
            <p:cNvSpPr txBox="1">
              <a:spLocks noChangeArrowheads="1"/>
            </p:cNvSpPr>
            <p:nvPr/>
          </p:nvSpPr>
          <p:spPr bwMode="auto">
            <a:xfrm>
              <a:off x="3718" y="3854"/>
              <a:ext cx="748" cy="213"/>
            </a:xfrm>
            <a:prstGeom prst="rect">
              <a:avLst/>
            </a:prstGeom>
            <a:noFill/>
            <a:ln w="9525">
              <a:noFill/>
              <a:miter lim="800000"/>
              <a:headEnd/>
              <a:tailEnd/>
            </a:ln>
          </p:spPr>
          <p:txBody>
            <a:bodyPr wrap="none">
              <a:spAutoFit/>
            </a:bodyPr>
            <a:lstStyle/>
            <a:p>
              <a:r>
                <a:rPr lang="en-US" sz="1600">
                  <a:ea typeface="MS PGothic" pitchFamily="34" charset="-128"/>
                </a:rPr>
                <a:t>(Speakers)</a:t>
              </a:r>
            </a:p>
          </p:txBody>
        </p:sp>
      </p:grpSp>
      <p:sp>
        <p:nvSpPr>
          <p:cNvPr id="204819" name="Line 19"/>
          <p:cNvSpPr>
            <a:spLocks noChangeShapeType="1"/>
          </p:cNvSpPr>
          <p:nvPr/>
        </p:nvSpPr>
        <p:spPr bwMode="auto">
          <a:xfrm flipH="1" flipV="1">
            <a:off x="3962400" y="5892800"/>
            <a:ext cx="419100" cy="330200"/>
          </a:xfrm>
          <a:prstGeom prst="line">
            <a:avLst/>
          </a:prstGeom>
          <a:noFill/>
          <a:ln w="38100">
            <a:solidFill>
              <a:schemeClr val="tx1"/>
            </a:solidFill>
            <a:round/>
            <a:headEnd/>
            <a:tailEnd type="triangle" w="sm" len="med"/>
          </a:ln>
        </p:spPr>
        <p:txBody>
          <a:bodyPr/>
          <a:lstStyle/>
          <a:p>
            <a:endParaRPr lang="en-US"/>
          </a:p>
        </p:txBody>
      </p:sp>
      <p:sp>
        <p:nvSpPr>
          <p:cNvPr id="204832" name="Text Box 32"/>
          <p:cNvSpPr txBox="1">
            <a:spLocks noChangeArrowheads="1"/>
          </p:cNvSpPr>
          <p:nvPr/>
        </p:nvSpPr>
        <p:spPr bwMode="auto">
          <a:xfrm>
            <a:off x="4037013" y="6156325"/>
            <a:ext cx="1184275" cy="317500"/>
          </a:xfrm>
          <a:prstGeom prst="rect">
            <a:avLst/>
          </a:prstGeom>
          <a:noFill/>
          <a:ln w="9525">
            <a:noFill/>
            <a:miter lim="800000"/>
            <a:headEnd/>
            <a:tailEnd/>
          </a:ln>
        </p:spPr>
        <p:txBody>
          <a:bodyPr>
            <a:spAutoFit/>
          </a:bodyPr>
          <a:lstStyle/>
          <a:p>
            <a:pPr>
              <a:lnSpc>
                <a:spcPct val="90000"/>
              </a:lnSpc>
            </a:pPr>
            <a:r>
              <a:rPr lang="en-US" sz="1600" i="1">
                <a:ea typeface="MS PGothic" pitchFamily="34" charset="-128"/>
              </a:rPr>
              <a:t>c</a:t>
            </a:r>
            <a:r>
              <a:rPr lang="en-US" sz="1600">
                <a:ea typeface="MS PGothic" pitchFamily="34" charset="-128"/>
              </a:rPr>
              <a:t> = (20, 0)</a:t>
            </a:r>
          </a:p>
        </p:txBody>
      </p:sp>
      <p:grpSp>
        <p:nvGrpSpPr>
          <p:cNvPr id="204841" name="Group 41"/>
          <p:cNvGrpSpPr>
            <a:grpSpLocks/>
          </p:cNvGrpSpPr>
          <p:nvPr/>
        </p:nvGrpSpPr>
        <p:grpSpPr bwMode="auto">
          <a:xfrm>
            <a:off x="2768600" y="4787900"/>
            <a:ext cx="1193800" cy="1130300"/>
            <a:chOff x="1744" y="3016"/>
            <a:chExt cx="752" cy="712"/>
          </a:xfrm>
        </p:grpSpPr>
        <p:sp>
          <p:nvSpPr>
            <p:cNvPr id="101398" name="Oval 28"/>
            <p:cNvSpPr>
              <a:spLocks noChangeArrowheads="1"/>
            </p:cNvSpPr>
            <p:nvPr/>
          </p:nvSpPr>
          <p:spPr bwMode="auto">
            <a:xfrm>
              <a:off x="1744" y="3016"/>
              <a:ext cx="88" cy="88"/>
            </a:xfrm>
            <a:prstGeom prst="ellipse">
              <a:avLst/>
            </a:prstGeom>
            <a:solidFill>
              <a:schemeClr val="tx1"/>
            </a:solidFill>
            <a:ln w="9525">
              <a:solidFill>
                <a:schemeClr val="tx1"/>
              </a:solidFill>
              <a:round/>
              <a:headEnd/>
              <a:tailEnd/>
            </a:ln>
          </p:spPr>
          <p:txBody>
            <a:bodyPr wrap="none" anchor="ctr"/>
            <a:lstStyle/>
            <a:p>
              <a:endParaRPr lang="en-US"/>
            </a:p>
          </p:txBody>
        </p:sp>
        <p:sp>
          <p:nvSpPr>
            <p:cNvPr id="101399" name="Oval 29"/>
            <p:cNvSpPr>
              <a:spLocks noChangeArrowheads="1"/>
            </p:cNvSpPr>
            <p:nvPr/>
          </p:nvSpPr>
          <p:spPr bwMode="auto">
            <a:xfrm>
              <a:off x="2280" y="3256"/>
              <a:ext cx="88" cy="88"/>
            </a:xfrm>
            <a:prstGeom prst="ellipse">
              <a:avLst/>
            </a:prstGeom>
            <a:solidFill>
              <a:schemeClr val="tx1"/>
            </a:solidFill>
            <a:ln w="9525">
              <a:solidFill>
                <a:schemeClr val="tx1"/>
              </a:solidFill>
              <a:round/>
              <a:headEnd/>
              <a:tailEnd/>
            </a:ln>
          </p:spPr>
          <p:txBody>
            <a:bodyPr wrap="none" anchor="ctr"/>
            <a:lstStyle/>
            <a:p>
              <a:endParaRPr lang="en-US"/>
            </a:p>
          </p:txBody>
        </p:sp>
        <p:sp>
          <p:nvSpPr>
            <p:cNvPr id="101400" name="Oval 30"/>
            <p:cNvSpPr>
              <a:spLocks noChangeArrowheads="1"/>
            </p:cNvSpPr>
            <p:nvPr/>
          </p:nvSpPr>
          <p:spPr bwMode="auto">
            <a:xfrm>
              <a:off x="2408" y="3640"/>
              <a:ext cx="88" cy="88"/>
            </a:xfrm>
            <a:prstGeom prst="ellipse">
              <a:avLst/>
            </a:prstGeom>
            <a:solidFill>
              <a:schemeClr val="tx1"/>
            </a:solidFill>
            <a:ln w="9525">
              <a:solidFill>
                <a:schemeClr val="tx1"/>
              </a:solidFill>
              <a:round/>
              <a:headEnd/>
              <a:tailEnd/>
            </a:ln>
          </p:spPr>
          <p:txBody>
            <a:bodyPr wrap="none" anchor="ctr"/>
            <a:lstStyle/>
            <a:p>
              <a:endParaRPr lang="en-US"/>
            </a:p>
          </p:txBody>
        </p:sp>
      </p:grpSp>
      <p:grpSp>
        <p:nvGrpSpPr>
          <p:cNvPr id="204842" name="Group 42"/>
          <p:cNvGrpSpPr>
            <a:grpSpLocks/>
          </p:cNvGrpSpPr>
          <p:nvPr/>
        </p:nvGrpSpPr>
        <p:grpSpPr bwMode="auto">
          <a:xfrm>
            <a:off x="2832100" y="4851400"/>
            <a:ext cx="2654300" cy="1066800"/>
            <a:chOff x="1784" y="3056"/>
            <a:chExt cx="1672" cy="672"/>
          </a:xfrm>
        </p:grpSpPr>
        <p:sp>
          <p:nvSpPr>
            <p:cNvPr id="101396" name="Oval 31"/>
            <p:cNvSpPr>
              <a:spLocks noChangeArrowheads="1"/>
            </p:cNvSpPr>
            <p:nvPr/>
          </p:nvSpPr>
          <p:spPr bwMode="auto">
            <a:xfrm>
              <a:off x="3368" y="3640"/>
              <a:ext cx="88" cy="88"/>
            </a:xfrm>
            <a:prstGeom prst="ellipse">
              <a:avLst/>
            </a:prstGeom>
            <a:solidFill>
              <a:schemeClr val="tx1"/>
            </a:solidFill>
            <a:ln w="9525">
              <a:solidFill>
                <a:schemeClr val="tx1"/>
              </a:solidFill>
              <a:round/>
              <a:headEnd/>
              <a:tailEnd/>
            </a:ln>
          </p:spPr>
          <p:txBody>
            <a:bodyPr wrap="none" anchor="ctr"/>
            <a:lstStyle/>
            <a:p>
              <a:endParaRPr lang="en-US"/>
            </a:p>
          </p:txBody>
        </p:sp>
        <p:sp>
          <p:nvSpPr>
            <p:cNvPr id="101397" name="Line 36"/>
            <p:cNvSpPr>
              <a:spLocks noChangeShapeType="1"/>
            </p:cNvSpPr>
            <p:nvPr/>
          </p:nvSpPr>
          <p:spPr bwMode="auto">
            <a:xfrm>
              <a:off x="1784" y="3056"/>
              <a:ext cx="1632" cy="624"/>
            </a:xfrm>
            <a:prstGeom prst="line">
              <a:avLst/>
            </a:prstGeom>
            <a:noFill/>
            <a:ln w="57150">
              <a:solidFill>
                <a:schemeClr val="accent1"/>
              </a:solidFill>
              <a:prstDash val="sysDot"/>
              <a:round/>
              <a:headEnd/>
              <a:tailEnd/>
            </a:ln>
          </p:spPr>
          <p:txBody>
            <a:bodyPr/>
            <a:lstStyle/>
            <a:p>
              <a:endParaRPr lang="en-US"/>
            </a:p>
          </p:txBody>
        </p:sp>
      </p:grpSp>
      <p:sp>
        <p:nvSpPr>
          <p:cNvPr id="204843" name="Text Box 43"/>
          <p:cNvSpPr txBox="1">
            <a:spLocks noChangeArrowheads="1"/>
          </p:cNvSpPr>
          <p:nvPr/>
        </p:nvSpPr>
        <p:spPr bwMode="auto">
          <a:xfrm>
            <a:off x="457200" y="1417638"/>
            <a:ext cx="5519738" cy="307975"/>
          </a:xfrm>
          <a:prstGeom prst="rect">
            <a:avLst/>
          </a:prstGeom>
          <a:noFill/>
          <a:ln w="9525">
            <a:noFill/>
            <a:miter lim="800000"/>
            <a:headEnd/>
            <a:tailEnd/>
          </a:ln>
        </p:spPr>
        <p:txBody>
          <a:bodyPr wrap="none">
            <a:spAutoFit/>
          </a:bodyPr>
          <a:lstStyle/>
          <a:p>
            <a:r>
              <a:rPr lang="en-US" sz="1400">
                <a:ea typeface="MS PGothic" pitchFamily="34" charset="-128"/>
              </a:rPr>
              <a:t>FIGURE 7.16 – The High Note Sound Company Graphical Solution</a:t>
            </a:r>
          </a:p>
        </p:txBody>
      </p:sp>
      <p:sp>
        <p:nvSpPr>
          <p:cNvPr id="34"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36" name="Slide Number Placeholder 9"/>
          <p:cNvSpPr>
            <a:spLocks noGrp="1"/>
          </p:cNvSpPr>
          <p:nvPr>
            <p:ph type="sldNum" sz="quarter" idx="11"/>
          </p:nvPr>
        </p:nvSpPr>
        <p:spPr/>
        <p:txBody>
          <a:bodyPr/>
          <a:lstStyle/>
          <a:p>
            <a:pPr>
              <a:defRPr/>
            </a:pPr>
            <a:r>
              <a:rPr lang="en-US"/>
              <a:t>7 – </a:t>
            </a:r>
            <a:fld id="{FDEAA75C-917C-479C-ACA8-9F1BA86368F3}" type="slidenum">
              <a:rPr lang="en-US"/>
              <a:pPr>
                <a:defRPr/>
              </a:pPr>
              <a:t>26</a:t>
            </a:fld>
            <a:endParaRPr lang="en-US"/>
          </a:p>
        </p:txBody>
      </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3" fill="hold" nodeType="afterEffect">
                                  <p:stCondLst>
                                    <p:cond delay="1000"/>
                                  </p:stCondLst>
                                  <p:childTnLst>
                                    <p:set>
                                      <p:cBhvr>
                                        <p:cTn id="6" dur="1" fill="hold">
                                          <p:stCondLst>
                                            <p:cond delay="0"/>
                                          </p:stCondLst>
                                        </p:cTn>
                                        <p:tgtEl>
                                          <p:spTgt spid="204837"/>
                                        </p:tgtEl>
                                        <p:attrNameLst>
                                          <p:attrName>style.visibility</p:attrName>
                                        </p:attrNameLst>
                                      </p:cBhvr>
                                      <p:to>
                                        <p:strVal val="visible"/>
                                      </p:to>
                                    </p:set>
                                    <p:animEffect transition="in" filter="strips(upRight)">
                                      <p:cBhvr>
                                        <p:cTn id="7" dur="1000"/>
                                        <p:tgtEl>
                                          <p:spTgt spid="204837"/>
                                        </p:tgtEl>
                                      </p:cBhvr>
                                    </p:animEffect>
                                  </p:childTnLst>
                                </p:cTn>
                              </p:par>
                            </p:childTnLst>
                          </p:cTn>
                        </p:par>
                        <p:par>
                          <p:cTn id="8" fill="hold" nodeType="afterGroup">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204815"/>
                                        </p:tgtEl>
                                        <p:attrNameLst>
                                          <p:attrName>style.visibility</p:attrName>
                                        </p:attrNameLst>
                                      </p:cBhvr>
                                      <p:to>
                                        <p:strVal val="visible"/>
                                      </p:to>
                                    </p:set>
                                    <p:animEffect transition="in" filter="strips(downRight)">
                                      <p:cBhvr>
                                        <p:cTn id="11" dur="1000"/>
                                        <p:tgtEl>
                                          <p:spTgt spid="204815"/>
                                        </p:tgtEl>
                                      </p:cBhvr>
                                    </p:animEffect>
                                  </p:childTnLst>
                                </p:cTn>
                              </p:par>
                            </p:childTnLst>
                          </p:cTn>
                        </p:par>
                        <p:par>
                          <p:cTn id="12" fill="hold" nodeType="afterGroup">
                            <p:stCondLst>
                              <p:cond delay="4000"/>
                            </p:stCondLst>
                            <p:childTnLst>
                              <p:par>
                                <p:cTn id="13" presetID="18" presetClass="entr" presetSubtype="6" fill="hold" grpId="0" nodeType="afterEffect">
                                  <p:stCondLst>
                                    <p:cond delay="1000"/>
                                  </p:stCondLst>
                                  <p:childTnLst>
                                    <p:set>
                                      <p:cBhvr>
                                        <p:cTn id="14" dur="1" fill="hold">
                                          <p:stCondLst>
                                            <p:cond delay="0"/>
                                          </p:stCondLst>
                                        </p:cTn>
                                        <p:tgtEl>
                                          <p:spTgt spid="204816"/>
                                        </p:tgtEl>
                                        <p:attrNameLst>
                                          <p:attrName>style.visibility</p:attrName>
                                        </p:attrNameLst>
                                      </p:cBhvr>
                                      <p:to>
                                        <p:strVal val="visible"/>
                                      </p:to>
                                    </p:set>
                                    <p:animEffect transition="in" filter="strips(downRight)">
                                      <p:cBhvr>
                                        <p:cTn id="15" dur="1000"/>
                                        <p:tgtEl>
                                          <p:spTgt spid="204816"/>
                                        </p:tgtEl>
                                      </p:cBhvr>
                                    </p:animEffect>
                                  </p:childTnLst>
                                </p:cTn>
                              </p:par>
                            </p:childTnLst>
                          </p:cTn>
                        </p:par>
                        <p:par>
                          <p:cTn id="16" fill="hold" nodeType="afterGroup">
                            <p:stCondLst>
                              <p:cond delay="6000"/>
                            </p:stCondLst>
                            <p:childTnLst>
                              <p:par>
                                <p:cTn id="17" presetID="9" presetClass="entr" presetSubtype="0" fill="hold" grpId="0" nodeType="afterEffect">
                                  <p:stCondLst>
                                    <p:cond delay="1000"/>
                                  </p:stCondLst>
                                  <p:childTnLst>
                                    <p:set>
                                      <p:cBhvr>
                                        <p:cTn id="18" dur="1" fill="hold">
                                          <p:stCondLst>
                                            <p:cond delay="0"/>
                                          </p:stCondLst>
                                        </p:cTn>
                                        <p:tgtEl>
                                          <p:spTgt spid="204806"/>
                                        </p:tgtEl>
                                        <p:attrNameLst>
                                          <p:attrName>style.visibility</p:attrName>
                                        </p:attrNameLst>
                                      </p:cBhvr>
                                      <p:to>
                                        <p:strVal val="visible"/>
                                      </p:to>
                                    </p:set>
                                    <p:animEffect transition="in" filter="dissolve">
                                      <p:cBhvr>
                                        <p:cTn id="19" dur="1000"/>
                                        <p:tgtEl>
                                          <p:spTgt spid="204806"/>
                                        </p:tgtEl>
                                      </p:cBhvr>
                                    </p:animEffect>
                                  </p:childTnLst>
                                </p:cTn>
                              </p:par>
                            </p:childTnLst>
                          </p:cTn>
                        </p:par>
                        <p:par>
                          <p:cTn id="20" fill="hold" nodeType="afterGroup">
                            <p:stCondLst>
                              <p:cond delay="8000"/>
                            </p:stCondLst>
                            <p:childTnLst>
                              <p:par>
                                <p:cTn id="21" presetID="18" presetClass="entr" presetSubtype="6" fill="hold" nodeType="afterEffect">
                                  <p:stCondLst>
                                    <p:cond delay="1000"/>
                                  </p:stCondLst>
                                  <p:childTnLst>
                                    <p:set>
                                      <p:cBhvr>
                                        <p:cTn id="22" dur="1" fill="hold">
                                          <p:stCondLst>
                                            <p:cond delay="0"/>
                                          </p:stCondLst>
                                        </p:cTn>
                                        <p:tgtEl>
                                          <p:spTgt spid="204841"/>
                                        </p:tgtEl>
                                        <p:attrNameLst>
                                          <p:attrName>style.visibility</p:attrName>
                                        </p:attrNameLst>
                                      </p:cBhvr>
                                      <p:to>
                                        <p:strVal val="visible"/>
                                      </p:to>
                                    </p:set>
                                    <p:animEffect transition="in" filter="strips(downRight)">
                                      <p:cBhvr>
                                        <p:cTn id="23" dur="1000"/>
                                        <p:tgtEl>
                                          <p:spTgt spid="204841"/>
                                        </p:tgtEl>
                                      </p:cBhvr>
                                    </p:animEffect>
                                  </p:childTnLst>
                                </p:cTn>
                              </p:par>
                            </p:childTnLst>
                          </p:cTn>
                        </p:par>
                        <p:par>
                          <p:cTn id="24" fill="hold" nodeType="afterGroup">
                            <p:stCondLst>
                              <p:cond delay="10000"/>
                            </p:stCondLst>
                            <p:childTnLst>
                              <p:par>
                                <p:cTn id="25" presetID="22" presetClass="entr" presetSubtype="8" fill="hold" grpId="0" nodeType="afterEffect">
                                  <p:stCondLst>
                                    <p:cond delay="1000"/>
                                  </p:stCondLst>
                                  <p:childTnLst>
                                    <p:set>
                                      <p:cBhvr>
                                        <p:cTn id="26" dur="1" fill="hold">
                                          <p:stCondLst>
                                            <p:cond delay="0"/>
                                          </p:stCondLst>
                                        </p:cTn>
                                        <p:tgtEl>
                                          <p:spTgt spid="204822"/>
                                        </p:tgtEl>
                                        <p:attrNameLst>
                                          <p:attrName>style.visibility</p:attrName>
                                        </p:attrNameLst>
                                      </p:cBhvr>
                                      <p:to>
                                        <p:strVal val="visible"/>
                                      </p:to>
                                    </p:set>
                                    <p:animEffect transition="in" filter="wipe(left)">
                                      <p:cBhvr>
                                        <p:cTn id="27" dur="1000"/>
                                        <p:tgtEl>
                                          <p:spTgt spid="204822"/>
                                        </p:tgtEl>
                                      </p:cBhvr>
                                    </p:animEffect>
                                  </p:childTnLst>
                                </p:cTn>
                              </p:par>
                              <p:par>
                                <p:cTn id="28" presetID="18" presetClass="entr" presetSubtype="6" fill="hold" grpId="0" nodeType="withEffect">
                                  <p:stCondLst>
                                    <p:cond delay="1000"/>
                                  </p:stCondLst>
                                  <p:childTnLst>
                                    <p:set>
                                      <p:cBhvr>
                                        <p:cTn id="29" dur="1" fill="hold">
                                          <p:stCondLst>
                                            <p:cond delay="0"/>
                                          </p:stCondLst>
                                        </p:cTn>
                                        <p:tgtEl>
                                          <p:spTgt spid="204833"/>
                                        </p:tgtEl>
                                        <p:attrNameLst>
                                          <p:attrName>style.visibility</p:attrName>
                                        </p:attrNameLst>
                                      </p:cBhvr>
                                      <p:to>
                                        <p:strVal val="visible"/>
                                      </p:to>
                                    </p:set>
                                    <p:animEffect transition="in" filter="strips(downRight)">
                                      <p:cBhvr>
                                        <p:cTn id="30" dur="1000"/>
                                        <p:tgtEl>
                                          <p:spTgt spid="204833"/>
                                        </p:tgtEl>
                                      </p:cBhvr>
                                    </p:animEffect>
                                  </p:childTnLst>
                                </p:cTn>
                              </p:par>
                            </p:childTnLst>
                          </p:cTn>
                        </p:par>
                        <p:par>
                          <p:cTn id="31" fill="hold" nodeType="afterGroup">
                            <p:stCondLst>
                              <p:cond delay="12000"/>
                            </p:stCondLst>
                            <p:childTnLst>
                              <p:par>
                                <p:cTn id="32" presetID="22" presetClass="entr" presetSubtype="8" fill="hold" grpId="0" nodeType="afterEffect">
                                  <p:stCondLst>
                                    <p:cond delay="1000"/>
                                  </p:stCondLst>
                                  <p:childTnLst>
                                    <p:set>
                                      <p:cBhvr>
                                        <p:cTn id="33" dur="1" fill="hold">
                                          <p:stCondLst>
                                            <p:cond delay="0"/>
                                          </p:stCondLst>
                                        </p:cTn>
                                        <p:tgtEl>
                                          <p:spTgt spid="204817"/>
                                        </p:tgtEl>
                                        <p:attrNameLst>
                                          <p:attrName>style.visibility</p:attrName>
                                        </p:attrNameLst>
                                      </p:cBhvr>
                                      <p:to>
                                        <p:strVal val="visible"/>
                                      </p:to>
                                    </p:set>
                                    <p:animEffect transition="in" filter="wipe(left)">
                                      <p:cBhvr>
                                        <p:cTn id="34" dur="1000"/>
                                        <p:tgtEl>
                                          <p:spTgt spid="204817"/>
                                        </p:tgtEl>
                                      </p:cBhvr>
                                    </p:animEffect>
                                  </p:childTnLst>
                                </p:cTn>
                              </p:par>
                              <p:par>
                                <p:cTn id="35" presetID="18" presetClass="entr" presetSubtype="12" fill="hold" grpId="0" nodeType="withEffect">
                                  <p:stCondLst>
                                    <p:cond delay="1000"/>
                                  </p:stCondLst>
                                  <p:childTnLst>
                                    <p:set>
                                      <p:cBhvr>
                                        <p:cTn id="36" dur="1" fill="hold">
                                          <p:stCondLst>
                                            <p:cond delay="0"/>
                                          </p:stCondLst>
                                        </p:cTn>
                                        <p:tgtEl>
                                          <p:spTgt spid="204818"/>
                                        </p:tgtEl>
                                        <p:attrNameLst>
                                          <p:attrName>style.visibility</p:attrName>
                                        </p:attrNameLst>
                                      </p:cBhvr>
                                      <p:to>
                                        <p:strVal val="visible"/>
                                      </p:to>
                                    </p:set>
                                    <p:animEffect transition="in" filter="strips(downLeft)">
                                      <p:cBhvr>
                                        <p:cTn id="37" dur="1000"/>
                                        <p:tgtEl>
                                          <p:spTgt spid="204818"/>
                                        </p:tgtEl>
                                      </p:cBhvr>
                                    </p:animEffect>
                                  </p:childTnLst>
                                </p:cTn>
                              </p:par>
                            </p:childTnLst>
                          </p:cTn>
                        </p:par>
                        <p:par>
                          <p:cTn id="38" fill="hold" nodeType="afterGroup">
                            <p:stCondLst>
                              <p:cond delay="14000"/>
                            </p:stCondLst>
                            <p:childTnLst>
                              <p:par>
                                <p:cTn id="39" presetID="22" presetClass="entr" presetSubtype="8" fill="hold" grpId="0" nodeType="afterEffect">
                                  <p:stCondLst>
                                    <p:cond delay="1000"/>
                                  </p:stCondLst>
                                  <p:childTnLst>
                                    <p:set>
                                      <p:cBhvr>
                                        <p:cTn id="40" dur="1" fill="hold">
                                          <p:stCondLst>
                                            <p:cond delay="0"/>
                                          </p:stCondLst>
                                        </p:cTn>
                                        <p:tgtEl>
                                          <p:spTgt spid="204832"/>
                                        </p:tgtEl>
                                        <p:attrNameLst>
                                          <p:attrName>style.visibility</p:attrName>
                                        </p:attrNameLst>
                                      </p:cBhvr>
                                      <p:to>
                                        <p:strVal val="visible"/>
                                      </p:to>
                                    </p:set>
                                    <p:animEffect transition="in" filter="wipe(left)">
                                      <p:cBhvr>
                                        <p:cTn id="41" dur="1000"/>
                                        <p:tgtEl>
                                          <p:spTgt spid="204832"/>
                                        </p:tgtEl>
                                      </p:cBhvr>
                                    </p:animEffect>
                                  </p:childTnLst>
                                </p:cTn>
                              </p:par>
                              <p:par>
                                <p:cTn id="42" presetID="18" presetClass="entr" presetSubtype="12" fill="hold" grpId="0" nodeType="withEffect">
                                  <p:stCondLst>
                                    <p:cond delay="1000"/>
                                  </p:stCondLst>
                                  <p:childTnLst>
                                    <p:set>
                                      <p:cBhvr>
                                        <p:cTn id="43" dur="1" fill="hold">
                                          <p:stCondLst>
                                            <p:cond delay="0"/>
                                          </p:stCondLst>
                                        </p:cTn>
                                        <p:tgtEl>
                                          <p:spTgt spid="204819"/>
                                        </p:tgtEl>
                                        <p:attrNameLst>
                                          <p:attrName>style.visibility</p:attrName>
                                        </p:attrNameLst>
                                      </p:cBhvr>
                                      <p:to>
                                        <p:strVal val="visible"/>
                                      </p:to>
                                    </p:set>
                                    <p:animEffect transition="in" filter="strips(downLeft)">
                                      <p:cBhvr>
                                        <p:cTn id="44" dur="1000"/>
                                        <p:tgtEl>
                                          <p:spTgt spid="204819"/>
                                        </p:tgtEl>
                                      </p:cBhvr>
                                    </p:animEffect>
                                  </p:childTnLst>
                                </p:cTn>
                              </p:par>
                            </p:childTnLst>
                          </p:cTn>
                        </p:par>
                        <p:par>
                          <p:cTn id="45" fill="hold" nodeType="afterGroup">
                            <p:stCondLst>
                              <p:cond delay="16000"/>
                            </p:stCondLst>
                            <p:childTnLst>
                              <p:par>
                                <p:cTn id="46" presetID="18" presetClass="entr" presetSubtype="6" fill="hold" nodeType="afterEffect">
                                  <p:stCondLst>
                                    <p:cond delay="1000"/>
                                  </p:stCondLst>
                                  <p:childTnLst>
                                    <p:set>
                                      <p:cBhvr>
                                        <p:cTn id="47" dur="1" fill="hold">
                                          <p:stCondLst>
                                            <p:cond delay="0"/>
                                          </p:stCondLst>
                                        </p:cTn>
                                        <p:tgtEl>
                                          <p:spTgt spid="204842"/>
                                        </p:tgtEl>
                                        <p:attrNameLst>
                                          <p:attrName>style.visibility</p:attrName>
                                        </p:attrNameLst>
                                      </p:cBhvr>
                                      <p:to>
                                        <p:strVal val="visible"/>
                                      </p:to>
                                    </p:set>
                                    <p:animEffect transition="in" filter="strips(downRight)">
                                      <p:cBhvr>
                                        <p:cTn id="48" dur="1000"/>
                                        <p:tgtEl>
                                          <p:spTgt spid="204842"/>
                                        </p:tgtEl>
                                      </p:cBhvr>
                                    </p:animEffect>
                                  </p:childTnLst>
                                </p:cTn>
                              </p:par>
                            </p:childTnLst>
                          </p:cTn>
                        </p:par>
                        <p:par>
                          <p:cTn id="49" fill="hold" nodeType="afterGroup">
                            <p:stCondLst>
                              <p:cond delay="18000"/>
                            </p:stCondLst>
                            <p:childTnLst>
                              <p:par>
                                <p:cTn id="50" presetID="22" presetClass="entr" presetSubtype="8" fill="hold" grpId="0" nodeType="afterEffect">
                                  <p:stCondLst>
                                    <p:cond delay="1000"/>
                                  </p:stCondLst>
                                  <p:childTnLst>
                                    <p:set>
                                      <p:cBhvr>
                                        <p:cTn id="51" dur="1" fill="hold">
                                          <p:stCondLst>
                                            <p:cond delay="0"/>
                                          </p:stCondLst>
                                        </p:cTn>
                                        <p:tgtEl>
                                          <p:spTgt spid="204827"/>
                                        </p:tgtEl>
                                        <p:attrNameLst>
                                          <p:attrName>style.visibility</p:attrName>
                                        </p:attrNameLst>
                                      </p:cBhvr>
                                      <p:to>
                                        <p:strVal val="visible"/>
                                      </p:to>
                                    </p:set>
                                    <p:animEffect transition="in" filter="wipe(left)">
                                      <p:cBhvr>
                                        <p:cTn id="52" dur="1000"/>
                                        <p:tgtEl>
                                          <p:spTgt spid="204827"/>
                                        </p:tgtEl>
                                      </p:cBhvr>
                                    </p:animEffect>
                                  </p:childTnLst>
                                </p:cTn>
                              </p:par>
                              <p:par>
                                <p:cTn id="53" presetID="18" presetClass="entr" presetSubtype="12" fill="hold" grpId="0" nodeType="withEffect">
                                  <p:stCondLst>
                                    <p:cond delay="1000"/>
                                  </p:stCondLst>
                                  <p:childTnLst>
                                    <p:set>
                                      <p:cBhvr>
                                        <p:cTn id="54" dur="1" fill="hold">
                                          <p:stCondLst>
                                            <p:cond delay="0"/>
                                          </p:stCondLst>
                                        </p:cTn>
                                        <p:tgtEl>
                                          <p:spTgt spid="204820"/>
                                        </p:tgtEl>
                                        <p:attrNameLst>
                                          <p:attrName>style.visibility</p:attrName>
                                        </p:attrNameLst>
                                      </p:cBhvr>
                                      <p:to>
                                        <p:strVal val="visible"/>
                                      </p:to>
                                    </p:set>
                                    <p:animEffect transition="in" filter="strips(downLeft)">
                                      <p:cBhvr>
                                        <p:cTn id="55" dur="1000"/>
                                        <p:tgtEl>
                                          <p:spTgt spid="204820"/>
                                        </p:tgtEl>
                                      </p:cBhvr>
                                    </p:animEffect>
                                  </p:childTnLst>
                                </p:cTn>
                              </p:par>
                            </p:childTnLst>
                          </p:cTn>
                        </p:par>
                        <p:par>
                          <p:cTn id="56" fill="hold" nodeType="afterGroup">
                            <p:stCondLst>
                              <p:cond delay="20000"/>
                            </p:stCondLst>
                            <p:childTnLst>
                              <p:par>
                                <p:cTn id="57" presetID="18" presetClass="entr" presetSubtype="6" fill="hold" nodeType="afterEffect">
                                  <p:stCondLst>
                                    <p:cond delay="1000"/>
                                  </p:stCondLst>
                                  <p:childTnLst>
                                    <p:set>
                                      <p:cBhvr>
                                        <p:cTn id="58" dur="1" fill="hold">
                                          <p:stCondLst>
                                            <p:cond delay="0"/>
                                          </p:stCondLst>
                                        </p:cTn>
                                        <p:tgtEl>
                                          <p:spTgt spid="204838"/>
                                        </p:tgtEl>
                                        <p:attrNameLst>
                                          <p:attrName>style.visibility</p:attrName>
                                        </p:attrNameLst>
                                      </p:cBhvr>
                                      <p:to>
                                        <p:strVal val="visible"/>
                                      </p:to>
                                    </p:set>
                                    <p:animEffect transition="in" filter="strips(downRight)">
                                      <p:cBhvr>
                                        <p:cTn id="59" dur="1000"/>
                                        <p:tgtEl>
                                          <p:spTgt spid="204838"/>
                                        </p:tgtEl>
                                      </p:cBhvr>
                                    </p:animEffect>
                                  </p:childTnLst>
                                </p:cTn>
                              </p:par>
                            </p:childTnLst>
                          </p:cTn>
                        </p:par>
                        <p:par>
                          <p:cTn id="60" fill="hold" nodeType="afterGroup">
                            <p:stCondLst>
                              <p:cond delay="22000"/>
                            </p:stCondLst>
                            <p:childTnLst>
                              <p:par>
                                <p:cTn id="61" presetID="22" presetClass="entr" presetSubtype="8" fill="hold" grpId="0" nodeType="afterEffect">
                                  <p:stCondLst>
                                    <p:cond delay="0"/>
                                  </p:stCondLst>
                                  <p:childTnLst>
                                    <p:set>
                                      <p:cBhvr>
                                        <p:cTn id="62" dur="1" fill="hold">
                                          <p:stCondLst>
                                            <p:cond delay="0"/>
                                          </p:stCondLst>
                                        </p:cTn>
                                        <p:tgtEl>
                                          <p:spTgt spid="204843"/>
                                        </p:tgtEl>
                                        <p:attrNameLst>
                                          <p:attrName>style.visibility</p:attrName>
                                        </p:attrNameLst>
                                      </p:cBhvr>
                                      <p:to>
                                        <p:strVal val="visible"/>
                                      </p:to>
                                    </p:set>
                                    <p:animEffect transition="in" filter="wipe(left)">
                                      <p:cBhvr>
                                        <p:cTn id="63" dur="1000"/>
                                        <p:tgtEl>
                                          <p:spTgt spid="204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6" grpId="0" animBg="1"/>
      <p:bldP spid="204815" grpId="0" animBg="1"/>
      <p:bldP spid="204816" grpId="0" animBg="1"/>
      <p:bldP spid="204817" grpId="0"/>
      <p:bldP spid="204818" grpId="0" animBg="1"/>
      <p:bldP spid="204820" grpId="0" animBg="1"/>
      <p:bldP spid="204822" grpId="0"/>
      <p:bldP spid="204827" grpId="0"/>
      <p:bldP spid="204833" grpId="0" animBg="1"/>
      <p:bldP spid="204819" grpId="0" animBg="1"/>
      <p:bldP spid="204832" grpId="0"/>
      <p:bldP spid="20484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3"/>
          <p:cNvSpPr>
            <a:spLocks noGrp="1" noChangeArrowheads="1"/>
          </p:cNvSpPr>
          <p:nvPr>
            <p:ph type="title"/>
          </p:nvPr>
        </p:nvSpPr>
        <p:spPr/>
        <p:txBody>
          <a:bodyPr/>
          <a:lstStyle/>
          <a:p>
            <a:r>
              <a:rPr lang="en-US">
                <a:latin typeface="Arial" charset="0"/>
                <a:ea typeface="MS PGothic" pitchFamily="34" charset="-128"/>
                <a:cs typeface="Arial" charset="0"/>
              </a:rPr>
              <a:t>High Note Sound Company</a:t>
            </a:r>
          </a:p>
        </p:txBody>
      </p:sp>
      <p:sp>
        <p:nvSpPr>
          <p:cNvPr id="2" name="Content Placeholder 1"/>
          <p:cNvSpPr>
            <a:spLocks noGrp="1"/>
          </p:cNvSpPr>
          <p:nvPr>
            <p:ph idx="1"/>
          </p:nvPr>
        </p:nvSpPr>
        <p:spPr/>
        <p:txBody>
          <a:bodyPr rtlCol="0">
            <a:normAutofit/>
          </a:bodyPr>
          <a:lstStyle/>
          <a:p>
            <a:pPr fontAlgn="auto">
              <a:spcBef>
                <a:spcPts val="0"/>
              </a:spcBef>
              <a:spcAft>
                <a:spcPts val="1200"/>
              </a:spcAft>
              <a:buFont typeface="Arial"/>
              <a:buChar char="•"/>
              <a:defRPr/>
            </a:pPr>
            <a:r>
              <a:rPr lang="en-US" dirty="0"/>
              <a:t>Electrician hours used are</a:t>
            </a:r>
          </a:p>
          <a:p>
            <a:pPr marL="0" indent="0" algn="ctr" fontAlgn="auto">
              <a:spcBef>
                <a:spcPts val="0"/>
              </a:spcBef>
              <a:spcAft>
                <a:spcPts val="1200"/>
              </a:spcAft>
              <a:buFont typeface="Arial"/>
              <a:buNone/>
              <a:defRPr/>
            </a:pPr>
            <a:r>
              <a:rPr lang="en-US" dirty="0" err="1"/>
              <a:t>2X</a:t>
            </a:r>
            <a:r>
              <a:rPr lang="en-US" baseline="-25000" dirty="0" err="1"/>
              <a:t>1</a:t>
            </a:r>
            <a:r>
              <a:rPr lang="en-US" dirty="0"/>
              <a:t> + </a:t>
            </a:r>
            <a:r>
              <a:rPr lang="en-US" dirty="0" err="1"/>
              <a:t>4X</a:t>
            </a:r>
            <a:r>
              <a:rPr lang="en-US" baseline="-25000" dirty="0" err="1"/>
              <a:t>2</a:t>
            </a:r>
            <a:r>
              <a:rPr lang="en-US" dirty="0"/>
              <a:t> = 2(0) + 4(20) = 80</a:t>
            </a:r>
          </a:p>
          <a:p>
            <a:pPr lvl="1" fontAlgn="auto">
              <a:spcBef>
                <a:spcPts val="0"/>
              </a:spcBef>
              <a:buFont typeface="Arial"/>
              <a:buChar char="–"/>
              <a:defRPr/>
            </a:pPr>
            <a:r>
              <a:rPr lang="en-US" dirty="0"/>
              <a:t>All hours are utilized so slack = 0</a:t>
            </a:r>
          </a:p>
          <a:p>
            <a:pPr lvl="1" fontAlgn="auto">
              <a:spcBef>
                <a:spcPts val="0"/>
              </a:spcBef>
              <a:buFont typeface="Arial"/>
              <a:buChar char="–"/>
              <a:defRPr/>
            </a:pPr>
            <a:r>
              <a:rPr lang="en-US" dirty="0"/>
              <a:t>Additional units of a binding constraint will generally increase profits</a:t>
            </a:r>
          </a:p>
          <a:p>
            <a:pPr fontAlgn="auto">
              <a:spcBef>
                <a:spcPts val="0"/>
              </a:spcBef>
              <a:spcAft>
                <a:spcPts val="1200"/>
              </a:spcAft>
              <a:buFont typeface="Arial"/>
              <a:buChar char="•"/>
              <a:defRPr/>
            </a:pPr>
            <a:r>
              <a:rPr lang="en-US" dirty="0"/>
              <a:t>Technician hours used are</a:t>
            </a:r>
          </a:p>
          <a:p>
            <a:pPr marL="0" indent="0" algn="ctr" fontAlgn="auto">
              <a:spcBef>
                <a:spcPts val="0"/>
              </a:spcBef>
              <a:spcAft>
                <a:spcPts val="1200"/>
              </a:spcAft>
              <a:buFont typeface="Arial"/>
              <a:buNone/>
              <a:defRPr/>
            </a:pPr>
            <a:r>
              <a:rPr lang="en-US" dirty="0" err="1"/>
              <a:t>3X</a:t>
            </a:r>
            <a:r>
              <a:rPr lang="en-US" baseline="-25000" dirty="0" err="1"/>
              <a:t>1</a:t>
            </a:r>
            <a:r>
              <a:rPr lang="en-US" dirty="0"/>
              <a:t> + </a:t>
            </a:r>
            <a:r>
              <a:rPr lang="en-US" dirty="0" err="1"/>
              <a:t>1X</a:t>
            </a:r>
            <a:r>
              <a:rPr lang="en-US" baseline="-25000" dirty="0" err="1"/>
              <a:t>2</a:t>
            </a:r>
            <a:r>
              <a:rPr lang="en-US" dirty="0"/>
              <a:t> = 3(0) + 1(20) = 20</a:t>
            </a:r>
          </a:p>
          <a:p>
            <a:pPr lvl="1" fontAlgn="auto">
              <a:spcBef>
                <a:spcPts val="0"/>
              </a:spcBef>
              <a:buFont typeface="Arial"/>
              <a:buChar char="–"/>
              <a:defRPr/>
            </a:pPr>
            <a:r>
              <a:rPr lang="en-US" dirty="0"/>
              <a:t>Available hours = 60 so slack = 60 – 20 = 40</a:t>
            </a:r>
          </a:p>
          <a:p>
            <a:pPr lvl="1" fontAlgn="auto">
              <a:spcBef>
                <a:spcPts val="0"/>
              </a:spcBef>
              <a:buFont typeface="Arial"/>
              <a:buChar char="–"/>
              <a:defRPr/>
            </a:pPr>
            <a:r>
              <a:rPr lang="en-US" dirty="0"/>
              <a:t>Additional units of a nonbinding constraint will only increase slack</a:t>
            </a:r>
          </a:p>
        </p:txBody>
      </p:sp>
      <p:sp>
        <p:nvSpPr>
          <p:cNvPr id="35"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6" name="Slide Number Placeholder 9"/>
          <p:cNvSpPr>
            <a:spLocks noGrp="1"/>
          </p:cNvSpPr>
          <p:nvPr>
            <p:ph type="sldNum" sz="quarter" idx="11"/>
          </p:nvPr>
        </p:nvSpPr>
        <p:spPr/>
        <p:txBody>
          <a:bodyPr/>
          <a:lstStyle/>
          <a:p>
            <a:pPr>
              <a:defRPr/>
            </a:pPr>
            <a:r>
              <a:rPr lang="en-US"/>
              <a:t>7 – </a:t>
            </a:r>
            <a:fld id="{448ED4D7-5A67-420B-B730-F0D8AD304D37}" type="slidenum">
              <a:rPr lang="en-US"/>
              <a:pPr>
                <a:defRPr/>
              </a:pPr>
              <a:t>27</a:t>
            </a:fld>
            <a:endParaRPr lang="en-US"/>
          </a:p>
        </p:txBody>
      </p:sp>
    </p:spTree>
  </p:cSld>
  <p:clrMapOvr>
    <a:masterClrMapping/>
  </p:clrMapOvr>
  <p:transition>
    <p:strips/>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lIns="90488" tIns="44450" rIns="90488" bIns="44450" anchor="b"/>
          <a:lstStyle/>
          <a:p>
            <a:r>
              <a:rPr lang="en-US" sz="4000">
                <a:solidFill>
                  <a:schemeClr val="accent1"/>
                </a:solidFill>
                <a:latin typeface="Arial" charset="0"/>
                <a:ea typeface="MS PGothic" pitchFamily="34" charset="-128"/>
                <a:cs typeface="Arial" charset="0"/>
              </a:rPr>
              <a:t>Changes in the </a:t>
            </a:r>
            <a:br>
              <a:rPr lang="en-US" sz="4000">
                <a:solidFill>
                  <a:schemeClr val="accent1"/>
                </a:solidFill>
                <a:latin typeface="Arial" charset="0"/>
                <a:ea typeface="MS PGothic" pitchFamily="34" charset="-128"/>
                <a:cs typeface="Arial" charset="0"/>
              </a:rPr>
            </a:br>
            <a:r>
              <a:rPr lang="en-US" sz="4000">
                <a:solidFill>
                  <a:schemeClr val="accent1"/>
                </a:solidFill>
                <a:latin typeface="Arial" charset="0"/>
                <a:ea typeface="MS PGothic" pitchFamily="34" charset="-128"/>
                <a:cs typeface="Arial" charset="0"/>
              </a:rPr>
              <a:t>Objective Function Coefficient</a:t>
            </a:r>
            <a:endParaRPr lang="en-US" sz="4000" b="0">
              <a:solidFill>
                <a:schemeClr val="accent1"/>
              </a:solidFill>
              <a:latin typeface="Arial" charset="0"/>
              <a:ea typeface="MS PGothic" pitchFamily="34" charset="-128"/>
              <a:cs typeface="Arial" charset="0"/>
            </a:endParaRPr>
          </a:p>
        </p:txBody>
      </p:sp>
      <p:sp>
        <p:nvSpPr>
          <p:cNvPr id="103426" name="Content Placeholder 1"/>
          <p:cNvSpPr>
            <a:spLocks noGrp="1"/>
          </p:cNvSpPr>
          <p:nvPr>
            <p:ph idx="1"/>
          </p:nvPr>
        </p:nvSpPr>
        <p:spPr/>
        <p:txBody>
          <a:bodyPr/>
          <a:lstStyle/>
          <a:p>
            <a:r>
              <a:rPr lang="en-US">
                <a:latin typeface="Arial" charset="0"/>
                <a:cs typeface="Arial" charset="0"/>
              </a:rPr>
              <a:t>Contribution rates in the objective functions fluctuate</a:t>
            </a:r>
          </a:p>
          <a:p>
            <a:pPr lvl="1"/>
            <a:r>
              <a:rPr lang="en-US">
                <a:latin typeface="Arial" charset="0"/>
                <a:cs typeface="Arial" charset="0"/>
              </a:rPr>
              <a:t>The feasible solution region remains exactly the same</a:t>
            </a:r>
          </a:p>
          <a:p>
            <a:pPr lvl="1"/>
            <a:r>
              <a:rPr lang="en-US">
                <a:latin typeface="Arial" charset="0"/>
                <a:cs typeface="Arial" charset="0"/>
              </a:rPr>
              <a:t>The slope of the isoprofit or isocost line changes</a:t>
            </a:r>
          </a:p>
          <a:p>
            <a:r>
              <a:rPr lang="en-US">
                <a:latin typeface="Arial" charset="0"/>
                <a:cs typeface="Arial" charset="0"/>
              </a:rPr>
              <a:t>Modest increases or decreases in objective function coefficients may not change the current optimal corner point</a:t>
            </a:r>
          </a:p>
          <a:p>
            <a:r>
              <a:rPr lang="en-US">
                <a:latin typeface="Arial" charset="0"/>
                <a:cs typeface="Arial" charset="0"/>
              </a:rPr>
              <a:t>Know how much an objective function coefficient can change before the optimal solution would be at a different corner point</a:t>
            </a:r>
          </a:p>
        </p:txBody>
      </p:sp>
      <p:sp>
        <p:nvSpPr>
          <p:cNvPr id="5"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7" name="Slide Number Placeholder 9"/>
          <p:cNvSpPr>
            <a:spLocks noGrp="1"/>
          </p:cNvSpPr>
          <p:nvPr>
            <p:ph type="sldNum" sz="quarter" idx="11"/>
          </p:nvPr>
        </p:nvSpPr>
        <p:spPr/>
        <p:txBody>
          <a:bodyPr/>
          <a:lstStyle/>
          <a:p>
            <a:pPr>
              <a:defRPr/>
            </a:pPr>
            <a:r>
              <a:rPr lang="en-US"/>
              <a:t>7 – </a:t>
            </a:r>
            <a:fld id="{1CA02623-7842-4C1F-81D2-D0AC2281FD54}" type="slidenum">
              <a:rPr lang="en-US"/>
              <a:pPr>
                <a:defRPr/>
              </a:pPr>
              <a:t>28</a:t>
            </a:fld>
            <a:endParaRPr lang="en-US"/>
          </a:p>
        </p:txBody>
      </p:sp>
    </p:spTree>
  </p:cSld>
  <p:clrMapOvr>
    <a:masterClrMapping/>
  </p:clrMapOvr>
  <p:transition>
    <p:pull dir="l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p:txBody>
          <a:bodyPr lIns="90488" tIns="44450" rIns="90488" bIns="44450" anchor="b"/>
          <a:lstStyle/>
          <a:p>
            <a:r>
              <a:rPr lang="en-US" sz="4000">
                <a:solidFill>
                  <a:schemeClr val="accent1"/>
                </a:solidFill>
                <a:latin typeface="Arial" charset="0"/>
                <a:ea typeface="MS PGothic" pitchFamily="34" charset="-128"/>
                <a:cs typeface="Arial" charset="0"/>
              </a:rPr>
              <a:t>Changes in the </a:t>
            </a:r>
            <a:br>
              <a:rPr lang="en-US" sz="4000">
                <a:solidFill>
                  <a:schemeClr val="accent1"/>
                </a:solidFill>
                <a:latin typeface="Arial" charset="0"/>
                <a:ea typeface="MS PGothic" pitchFamily="34" charset="-128"/>
                <a:cs typeface="Arial" charset="0"/>
              </a:rPr>
            </a:br>
            <a:r>
              <a:rPr lang="en-US" sz="4000">
                <a:solidFill>
                  <a:schemeClr val="accent1"/>
                </a:solidFill>
                <a:latin typeface="Arial" charset="0"/>
                <a:ea typeface="MS PGothic" pitchFamily="34" charset="-128"/>
                <a:cs typeface="Arial" charset="0"/>
              </a:rPr>
              <a:t>Objective Function Coefficient</a:t>
            </a:r>
            <a:endParaRPr lang="en-US" sz="4000" b="0">
              <a:solidFill>
                <a:schemeClr val="accent1"/>
              </a:solidFill>
              <a:latin typeface="Arial" charset="0"/>
              <a:ea typeface="MS PGothic" pitchFamily="34" charset="-128"/>
              <a:cs typeface="Arial" charset="0"/>
            </a:endParaRPr>
          </a:p>
        </p:txBody>
      </p:sp>
      <p:grpSp>
        <p:nvGrpSpPr>
          <p:cNvPr id="5" name="Group 39"/>
          <p:cNvGrpSpPr>
            <a:grpSpLocks/>
          </p:cNvGrpSpPr>
          <p:nvPr/>
        </p:nvGrpSpPr>
        <p:grpSpPr bwMode="auto">
          <a:xfrm>
            <a:off x="1271588" y="3998913"/>
            <a:ext cx="2195512" cy="1914525"/>
            <a:chOff x="753" y="2439"/>
            <a:chExt cx="1383" cy="1206"/>
          </a:xfrm>
        </p:grpSpPr>
        <p:sp>
          <p:nvSpPr>
            <p:cNvPr id="104478" name="Freeform 5"/>
            <p:cNvSpPr>
              <a:spLocks/>
            </p:cNvSpPr>
            <p:nvPr/>
          </p:nvSpPr>
          <p:spPr bwMode="auto">
            <a:xfrm>
              <a:off x="1175" y="2655"/>
              <a:ext cx="961" cy="990"/>
            </a:xfrm>
            <a:custGeom>
              <a:avLst/>
              <a:gdLst>
                <a:gd name="T0" fmla="*/ 0 w 961"/>
                <a:gd name="T1" fmla="*/ 0 h 990"/>
                <a:gd name="T2" fmla="*/ 0 w 961"/>
                <a:gd name="T3" fmla="*/ 990 h 990"/>
                <a:gd name="T4" fmla="*/ 961 w 961"/>
                <a:gd name="T5" fmla="*/ 990 h 990"/>
                <a:gd name="T6" fmla="*/ 781 w 961"/>
                <a:gd name="T7" fmla="*/ 396 h 990"/>
                <a:gd name="T8" fmla="*/ 0 w 961"/>
                <a:gd name="T9" fmla="*/ 0 h 990"/>
                <a:gd name="T10" fmla="*/ 0 60000 65536"/>
                <a:gd name="T11" fmla="*/ 0 60000 65536"/>
                <a:gd name="T12" fmla="*/ 0 60000 65536"/>
                <a:gd name="T13" fmla="*/ 0 60000 65536"/>
                <a:gd name="T14" fmla="*/ 0 60000 65536"/>
                <a:gd name="T15" fmla="*/ 0 w 961"/>
                <a:gd name="T16" fmla="*/ 0 h 990"/>
                <a:gd name="T17" fmla="*/ 961 w 961"/>
                <a:gd name="T18" fmla="*/ 990 h 990"/>
              </a:gdLst>
              <a:ahLst/>
              <a:cxnLst>
                <a:cxn ang="T10">
                  <a:pos x="T0" y="T1"/>
                </a:cxn>
                <a:cxn ang="T11">
                  <a:pos x="T2" y="T3"/>
                </a:cxn>
                <a:cxn ang="T12">
                  <a:pos x="T4" y="T5"/>
                </a:cxn>
                <a:cxn ang="T13">
                  <a:pos x="T6" y="T7"/>
                </a:cxn>
                <a:cxn ang="T14">
                  <a:pos x="T8" y="T9"/>
                </a:cxn>
              </a:cxnLst>
              <a:rect l="T15" t="T16" r="T17" b="T18"/>
              <a:pathLst>
                <a:path w="961" h="990">
                  <a:moveTo>
                    <a:pt x="0" y="0"/>
                  </a:moveTo>
                  <a:lnTo>
                    <a:pt x="0" y="990"/>
                  </a:lnTo>
                  <a:lnTo>
                    <a:pt x="961" y="990"/>
                  </a:lnTo>
                  <a:lnTo>
                    <a:pt x="781" y="396"/>
                  </a:lnTo>
                  <a:lnTo>
                    <a:pt x="0" y="0"/>
                  </a:lnTo>
                  <a:close/>
                </a:path>
              </a:pathLst>
            </a:custGeom>
            <a:solidFill>
              <a:srgbClr val="BBE2EE"/>
            </a:solidFill>
            <a:ln w="9525">
              <a:noFill/>
              <a:round/>
              <a:headEnd/>
              <a:tailEnd/>
            </a:ln>
          </p:spPr>
          <p:txBody>
            <a:bodyPr/>
            <a:lstStyle/>
            <a:p>
              <a:endParaRPr lang="en-US"/>
            </a:p>
          </p:txBody>
        </p:sp>
        <p:sp>
          <p:nvSpPr>
            <p:cNvPr id="104479" name="Freeform 38"/>
            <p:cNvSpPr>
              <a:spLocks/>
            </p:cNvSpPr>
            <p:nvPr/>
          </p:nvSpPr>
          <p:spPr bwMode="auto">
            <a:xfrm>
              <a:off x="753" y="2439"/>
              <a:ext cx="1383" cy="1206"/>
            </a:xfrm>
            <a:custGeom>
              <a:avLst/>
              <a:gdLst>
                <a:gd name="T0" fmla="*/ 0 w 1383"/>
                <a:gd name="T1" fmla="*/ 0 h 1206"/>
                <a:gd name="T2" fmla="*/ 1209 w 1383"/>
                <a:gd name="T3" fmla="*/ 612 h 1206"/>
                <a:gd name="T4" fmla="*/ 1383 w 1383"/>
                <a:gd name="T5" fmla="*/ 1206 h 1206"/>
                <a:gd name="T6" fmla="*/ 0 60000 65536"/>
                <a:gd name="T7" fmla="*/ 0 60000 65536"/>
                <a:gd name="T8" fmla="*/ 0 60000 65536"/>
                <a:gd name="T9" fmla="*/ 0 w 1383"/>
                <a:gd name="T10" fmla="*/ 0 h 1206"/>
                <a:gd name="T11" fmla="*/ 1383 w 1383"/>
                <a:gd name="T12" fmla="*/ 1206 h 1206"/>
              </a:gdLst>
              <a:ahLst/>
              <a:cxnLst>
                <a:cxn ang="T6">
                  <a:pos x="T0" y="T1"/>
                </a:cxn>
                <a:cxn ang="T7">
                  <a:pos x="T2" y="T3"/>
                </a:cxn>
                <a:cxn ang="T8">
                  <a:pos x="T4" y="T5"/>
                </a:cxn>
              </a:cxnLst>
              <a:rect l="T9" t="T10" r="T11" b="T12"/>
              <a:pathLst>
                <a:path w="1383" h="1206">
                  <a:moveTo>
                    <a:pt x="0" y="0"/>
                  </a:moveTo>
                  <a:lnTo>
                    <a:pt x="1209" y="612"/>
                  </a:lnTo>
                  <a:lnTo>
                    <a:pt x="1383" y="1206"/>
                  </a:lnTo>
                </a:path>
              </a:pathLst>
            </a:custGeom>
            <a:noFill/>
            <a:ln w="57150" cmpd="sng">
              <a:solidFill>
                <a:schemeClr val="accent1"/>
              </a:solidFill>
              <a:round/>
              <a:headEnd/>
              <a:tailEnd/>
            </a:ln>
          </p:spPr>
          <p:txBody>
            <a:bodyPr/>
            <a:lstStyle/>
            <a:p>
              <a:endParaRPr lang="en-US"/>
            </a:p>
          </p:txBody>
        </p:sp>
      </p:grpSp>
      <p:sp>
        <p:nvSpPr>
          <p:cNvPr id="8" name="Text Box 8"/>
          <p:cNvSpPr txBox="1">
            <a:spLocks noChangeArrowheads="1"/>
          </p:cNvSpPr>
          <p:nvPr/>
        </p:nvSpPr>
        <p:spPr bwMode="auto">
          <a:xfrm>
            <a:off x="3603625" y="4302125"/>
            <a:ext cx="371475" cy="317500"/>
          </a:xfrm>
          <a:prstGeom prst="rect">
            <a:avLst/>
          </a:prstGeom>
          <a:noFill/>
          <a:ln w="9525">
            <a:noFill/>
            <a:miter lim="800000"/>
            <a:headEnd/>
            <a:tailEnd/>
          </a:ln>
        </p:spPr>
        <p:txBody>
          <a:bodyPr>
            <a:spAutoFit/>
          </a:bodyPr>
          <a:lstStyle/>
          <a:p>
            <a:pPr>
              <a:lnSpc>
                <a:spcPct val="90000"/>
              </a:lnSpc>
            </a:pPr>
            <a:r>
              <a:rPr lang="en-US" sz="1600" i="1">
                <a:ea typeface="MS PGothic" pitchFamily="34" charset="-128"/>
              </a:rPr>
              <a:t>b</a:t>
            </a:r>
            <a:endParaRPr lang="en-US" sz="1600">
              <a:ea typeface="MS PGothic" pitchFamily="34" charset="-128"/>
            </a:endParaRPr>
          </a:p>
        </p:txBody>
      </p:sp>
      <p:sp>
        <p:nvSpPr>
          <p:cNvPr id="9" name="Text Box 14"/>
          <p:cNvSpPr txBox="1">
            <a:spLocks noChangeArrowheads="1"/>
          </p:cNvSpPr>
          <p:nvPr/>
        </p:nvSpPr>
        <p:spPr bwMode="auto">
          <a:xfrm>
            <a:off x="1168400" y="4551363"/>
            <a:ext cx="311150" cy="338137"/>
          </a:xfrm>
          <a:prstGeom prst="rect">
            <a:avLst/>
          </a:prstGeom>
          <a:noFill/>
          <a:ln w="9525">
            <a:noFill/>
            <a:miter lim="800000"/>
            <a:headEnd/>
            <a:tailEnd/>
          </a:ln>
        </p:spPr>
        <p:txBody>
          <a:bodyPr wrap="none">
            <a:spAutoFit/>
          </a:bodyPr>
          <a:lstStyle/>
          <a:p>
            <a:r>
              <a:rPr lang="en-US" sz="1600" i="1">
                <a:ea typeface="MS PGothic" pitchFamily="34" charset="-128"/>
              </a:rPr>
              <a:t>a</a:t>
            </a:r>
            <a:endParaRPr lang="en-US" sz="1600">
              <a:ea typeface="MS PGothic" pitchFamily="34" charset="-128"/>
            </a:endParaRPr>
          </a:p>
        </p:txBody>
      </p:sp>
      <p:sp>
        <p:nvSpPr>
          <p:cNvPr id="10" name="Text Box 15"/>
          <p:cNvSpPr txBox="1">
            <a:spLocks noChangeArrowheads="1"/>
          </p:cNvSpPr>
          <p:nvPr/>
        </p:nvSpPr>
        <p:spPr bwMode="auto">
          <a:xfrm>
            <a:off x="2628900" y="2755900"/>
            <a:ext cx="2554288" cy="539750"/>
          </a:xfrm>
          <a:prstGeom prst="rect">
            <a:avLst/>
          </a:prstGeom>
          <a:noFill/>
          <a:ln w="9525">
            <a:noFill/>
            <a:miter lim="800000"/>
            <a:headEnd/>
            <a:tailEnd/>
          </a:ln>
        </p:spPr>
        <p:txBody>
          <a:bodyPr wrap="none">
            <a:spAutoFit/>
          </a:bodyPr>
          <a:lstStyle/>
          <a:p>
            <a:pPr>
              <a:lnSpc>
                <a:spcPct val="90000"/>
              </a:lnSpc>
            </a:pPr>
            <a:r>
              <a:rPr lang="en-US" sz="1600">
                <a:ea typeface="MS PGothic" pitchFamily="34" charset="-128"/>
              </a:rPr>
              <a:t>Profit Line for 50</a:t>
            </a:r>
            <a:r>
              <a:rPr lang="en-US" sz="1600" i="1">
                <a:ea typeface="MS PGothic" pitchFamily="34" charset="-128"/>
              </a:rPr>
              <a:t>X</a:t>
            </a:r>
            <a:r>
              <a:rPr lang="en-US" sz="1600" baseline="-25000">
                <a:ea typeface="MS PGothic" pitchFamily="34" charset="-128"/>
              </a:rPr>
              <a:t>1</a:t>
            </a:r>
            <a:r>
              <a:rPr lang="en-US" sz="1600">
                <a:ea typeface="MS PGothic" pitchFamily="34" charset="-128"/>
              </a:rPr>
              <a:t> + 80</a:t>
            </a:r>
            <a:r>
              <a:rPr lang="en-US" sz="1600" i="1">
                <a:ea typeface="MS PGothic" pitchFamily="34" charset="-128"/>
              </a:rPr>
              <a:t>X</a:t>
            </a:r>
            <a:r>
              <a:rPr lang="en-US" sz="1600" baseline="-25000">
                <a:ea typeface="MS PGothic" pitchFamily="34" charset="-128"/>
              </a:rPr>
              <a:t>2</a:t>
            </a:r>
            <a:endParaRPr lang="en-US" sz="1600">
              <a:ea typeface="MS PGothic" pitchFamily="34" charset="-128"/>
            </a:endParaRPr>
          </a:p>
          <a:p>
            <a:pPr>
              <a:lnSpc>
                <a:spcPct val="90000"/>
              </a:lnSpc>
            </a:pPr>
            <a:r>
              <a:rPr lang="en-US" sz="1600">
                <a:ea typeface="MS PGothic" pitchFamily="34" charset="-128"/>
              </a:rPr>
              <a:t>(Passes through Point </a:t>
            </a:r>
            <a:r>
              <a:rPr lang="en-US" sz="1600" i="1">
                <a:ea typeface="MS PGothic" pitchFamily="34" charset="-128"/>
              </a:rPr>
              <a:t>b</a:t>
            </a:r>
            <a:r>
              <a:rPr lang="en-US" sz="1600">
                <a:ea typeface="MS PGothic" pitchFamily="34" charset="-128"/>
              </a:rPr>
              <a:t>)</a:t>
            </a:r>
          </a:p>
        </p:txBody>
      </p:sp>
      <p:sp>
        <p:nvSpPr>
          <p:cNvPr id="11" name="Line 16"/>
          <p:cNvSpPr>
            <a:spLocks noChangeShapeType="1"/>
          </p:cNvSpPr>
          <p:nvPr/>
        </p:nvSpPr>
        <p:spPr bwMode="auto">
          <a:xfrm flipV="1">
            <a:off x="1397000" y="4432300"/>
            <a:ext cx="482600" cy="241300"/>
          </a:xfrm>
          <a:prstGeom prst="line">
            <a:avLst/>
          </a:prstGeom>
          <a:noFill/>
          <a:ln w="38100">
            <a:solidFill>
              <a:schemeClr val="tx1"/>
            </a:solidFill>
            <a:round/>
            <a:headEnd/>
            <a:tailEnd type="triangle" w="sm" len="med"/>
          </a:ln>
        </p:spPr>
        <p:txBody>
          <a:bodyPr/>
          <a:lstStyle/>
          <a:p>
            <a:endParaRPr lang="en-US"/>
          </a:p>
        </p:txBody>
      </p:sp>
      <p:grpSp>
        <p:nvGrpSpPr>
          <p:cNvPr id="12" name="Group 47"/>
          <p:cNvGrpSpPr>
            <a:grpSpLocks/>
          </p:cNvGrpSpPr>
          <p:nvPr/>
        </p:nvGrpSpPr>
        <p:grpSpPr bwMode="auto">
          <a:xfrm>
            <a:off x="1495425" y="2117725"/>
            <a:ext cx="6161088" cy="4187825"/>
            <a:chOff x="894" y="1254"/>
            <a:chExt cx="3881" cy="2638"/>
          </a:xfrm>
        </p:grpSpPr>
        <p:sp>
          <p:nvSpPr>
            <p:cNvPr id="104473" name="Text Box 19"/>
            <p:cNvSpPr txBox="1">
              <a:spLocks noChangeArrowheads="1"/>
            </p:cNvSpPr>
            <p:nvPr/>
          </p:nvSpPr>
          <p:spPr bwMode="auto">
            <a:xfrm>
              <a:off x="930" y="1254"/>
              <a:ext cx="369" cy="2513"/>
            </a:xfrm>
            <a:prstGeom prst="rect">
              <a:avLst/>
            </a:prstGeom>
            <a:noFill/>
            <a:ln w="9525">
              <a:noFill/>
              <a:miter lim="800000"/>
              <a:headEnd/>
              <a:tailEnd/>
            </a:ln>
          </p:spPr>
          <p:txBody>
            <a:bodyPr wrap="none">
              <a:spAutoFit/>
            </a:bodyPr>
            <a:lstStyle/>
            <a:p>
              <a:pPr algn="r">
                <a:lnSpc>
                  <a:spcPct val="324000"/>
                </a:lnSpc>
              </a:pPr>
              <a:r>
                <a:rPr lang="en-US" sz="1600">
                  <a:ea typeface="MS PGothic" pitchFamily="34" charset="-128"/>
                </a:rPr>
                <a:t>40 –</a:t>
              </a:r>
            </a:p>
            <a:p>
              <a:pPr algn="r">
                <a:lnSpc>
                  <a:spcPct val="324000"/>
                </a:lnSpc>
              </a:pPr>
              <a:r>
                <a:rPr lang="en-US" sz="1600">
                  <a:ea typeface="MS PGothic" pitchFamily="34" charset="-128"/>
                </a:rPr>
                <a:t>30 –</a:t>
              </a:r>
            </a:p>
            <a:p>
              <a:pPr algn="r">
                <a:lnSpc>
                  <a:spcPct val="324000"/>
                </a:lnSpc>
              </a:pPr>
              <a:r>
                <a:rPr lang="en-US" sz="1600">
                  <a:ea typeface="MS PGothic" pitchFamily="34" charset="-128"/>
                </a:rPr>
                <a:t>20 –</a:t>
              </a:r>
            </a:p>
            <a:p>
              <a:pPr algn="r">
                <a:lnSpc>
                  <a:spcPct val="324000"/>
                </a:lnSpc>
              </a:pPr>
              <a:r>
                <a:rPr lang="en-US" sz="1600">
                  <a:ea typeface="MS PGothic" pitchFamily="34" charset="-128"/>
                </a:rPr>
                <a:t>10 –</a:t>
              </a:r>
            </a:p>
            <a:p>
              <a:pPr algn="r">
                <a:lnSpc>
                  <a:spcPct val="324000"/>
                </a:lnSpc>
              </a:pPr>
              <a:r>
                <a:rPr lang="en-US" sz="1600">
                  <a:ea typeface="MS PGothic" pitchFamily="34" charset="-128"/>
                </a:rPr>
                <a:t>0 </a:t>
              </a:r>
              <a:r>
                <a:rPr lang="en-US" sz="1600">
                  <a:solidFill>
                    <a:srgbClr val="FFFFFF"/>
                  </a:solidFill>
                  <a:ea typeface="MS PGothic" pitchFamily="34" charset="-128"/>
                </a:rPr>
                <a:t>–</a:t>
              </a:r>
            </a:p>
          </p:txBody>
        </p:sp>
        <p:sp>
          <p:nvSpPr>
            <p:cNvPr id="104474" name="Freeform 18"/>
            <p:cNvSpPr>
              <a:spLocks/>
            </p:cNvSpPr>
            <p:nvPr/>
          </p:nvSpPr>
          <p:spPr bwMode="auto">
            <a:xfrm>
              <a:off x="1176" y="1456"/>
              <a:ext cx="3520" cy="2192"/>
            </a:xfrm>
            <a:custGeom>
              <a:avLst/>
              <a:gdLst>
                <a:gd name="T0" fmla="*/ 0 w 2768"/>
                <a:gd name="T1" fmla="*/ 0 h 2368"/>
                <a:gd name="T2" fmla="*/ 0 w 2768"/>
                <a:gd name="T3" fmla="*/ 1609 h 2368"/>
                <a:gd name="T4" fmla="*/ 9204 w 2768"/>
                <a:gd name="T5" fmla="*/ 1609 h 2368"/>
                <a:gd name="T6" fmla="*/ 0 60000 65536"/>
                <a:gd name="T7" fmla="*/ 0 60000 65536"/>
                <a:gd name="T8" fmla="*/ 0 60000 65536"/>
                <a:gd name="T9" fmla="*/ 0 w 2768"/>
                <a:gd name="T10" fmla="*/ 0 h 2368"/>
                <a:gd name="T11" fmla="*/ 2768 w 2768"/>
                <a:gd name="T12" fmla="*/ 2368 h 2368"/>
              </a:gdLst>
              <a:ahLst/>
              <a:cxnLst>
                <a:cxn ang="T6">
                  <a:pos x="T0" y="T1"/>
                </a:cxn>
                <a:cxn ang="T7">
                  <a:pos x="T2" y="T3"/>
                </a:cxn>
                <a:cxn ang="T8">
                  <a:pos x="T4" y="T5"/>
                </a:cxn>
              </a:cxnLst>
              <a:rect l="T9" t="T10" r="T11" b="T12"/>
              <a:pathLst>
                <a:path w="2768" h="2368">
                  <a:moveTo>
                    <a:pt x="0" y="0"/>
                  </a:moveTo>
                  <a:lnTo>
                    <a:pt x="0" y="2368"/>
                  </a:lnTo>
                  <a:lnTo>
                    <a:pt x="2768" y="2368"/>
                  </a:lnTo>
                </a:path>
              </a:pathLst>
            </a:custGeom>
            <a:noFill/>
            <a:ln w="38100" cmpd="sng">
              <a:solidFill>
                <a:schemeClr val="tx1"/>
              </a:solidFill>
              <a:round/>
              <a:headEnd type="triangle" w="sm" len="med"/>
              <a:tailEnd type="triangle" w="sm" len="med"/>
            </a:ln>
          </p:spPr>
          <p:txBody>
            <a:bodyPr/>
            <a:lstStyle/>
            <a:p>
              <a:endParaRPr lang="en-US"/>
            </a:p>
          </p:txBody>
        </p:sp>
        <p:sp>
          <p:nvSpPr>
            <p:cNvPr id="104475" name="Text Box 20"/>
            <p:cNvSpPr txBox="1">
              <a:spLocks noChangeArrowheads="1"/>
            </p:cNvSpPr>
            <p:nvPr/>
          </p:nvSpPr>
          <p:spPr bwMode="auto">
            <a:xfrm>
              <a:off x="902" y="1319"/>
              <a:ext cx="289" cy="213"/>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2</a:t>
              </a:r>
              <a:endParaRPr lang="en-US" sz="1600" i="1">
                <a:ea typeface="MS PGothic" pitchFamily="34" charset="-128"/>
              </a:endParaRPr>
            </a:p>
          </p:txBody>
        </p:sp>
        <p:sp>
          <p:nvSpPr>
            <p:cNvPr id="104476" name="Text Box 21"/>
            <p:cNvSpPr txBox="1">
              <a:spLocks noChangeArrowheads="1"/>
            </p:cNvSpPr>
            <p:nvPr/>
          </p:nvSpPr>
          <p:spPr bwMode="auto">
            <a:xfrm>
              <a:off x="894" y="3464"/>
              <a:ext cx="3531" cy="396"/>
            </a:xfrm>
            <a:prstGeom prst="rect">
              <a:avLst/>
            </a:prstGeom>
            <a:noFill/>
            <a:ln w="9525">
              <a:noFill/>
              <a:miter lim="800000"/>
              <a:headEnd/>
              <a:tailEnd/>
            </a:ln>
          </p:spPr>
          <p:txBody>
            <a:bodyPr>
              <a:spAutoFit/>
            </a:bodyPr>
            <a:lstStyle/>
            <a:p>
              <a:pPr>
                <a:lnSpc>
                  <a:spcPct val="110000"/>
                </a:lnSpc>
                <a:tabLst>
                  <a:tab pos="266700" algn="ctr"/>
                  <a:tab pos="1079500" algn="ctr"/>
                  <a:tab pos="1879600" algn="ctr"/>
                  <a:tab pos="2692400" algn="ctr"/>
                  <a:tab pos="3492500" algn="ctr"/>
                  <a:tab pos="4305300" algn="ctr"/>
                  <a:tab pos="5118100" algn="ctr"/>
                </a:tabLst>
              </a:pPr>
              <a:r>
                <a:rPr lang="en-US" sz="1600">
                  <a:ea typeface="MS PGothic" pitchFamily="34" charset="-128"/>
                </a:rPr>
                <a:t>	</a:t>
              </a:r>
              <a:r>
                <a:rPr lang="en-US" sz="1400">
                  <a:ea typeface="MS PGothic" pitchFamily="34" charset="-128"/>
                </a:rPr>
                <a:t>	|	|	|	|	|	|</a:t>
              </a:r>
            </a:p>
            <a:p>
              <a:pPr>
                <a:lnSpc>
                  <a:spcPct val="110000"/>
                </a:lnSpc>
                <a:tabLst>
                  <a:tab pos="266700" algn="ctr"/>
                  <a:tab pos="1079500" algn="ctr"/>
                  <a:tab pos="1879600" algn="ctr"/>
                  <a:tab pos="2692400" algn="ctr"/>
                  <a:tab pos="3492500" algn="ctr"/>
                  <a:tab pos="4305300" algn="ctr"/>
                  <a:tab pos="5118100" algn="ctr"/>
                </a:tabLst>
              </a:pPr>
              <a:r>
                <a:rPr lang="en-US" sz="1600">
                  <a:ea typeface="MS PGothic" pitchFamily="34" charset="-128"/>
                </a:rPr>
                <a:t>		10	20	30	40	50	60</a:t>
              </a:r>
            </a:p>
          </p:txBody>
        </p:sp>
        <p:sp>
          <p:nvSpPr>
            <p:cNvPr id="104477" name="Text Box 22"/>
            <p:cNvSpPr txBox="1">
              <a:spLocks noChangeArrowheads="1"/>
            </p:cNvSpPr>
            <p:nvPr/>
          </p:nvSpPr>
          <p:spPr bwMode="auto">
            <a:xfrm>
              <a:off x="4486" y="3679"/>
              <a:ext cx="289" cy="213"/>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1</a:t>
              </a:r>
              <a:endParaRPr lang="en-US" sz="1600" i="1">
                <a:ea typeface="MS PGothic" pitchFamily="34" charset="-128"/>
              </a:endParaRPr>
            </a:p>
          </p:txBody>
        </p:sp>
      </p:grpSp>
      <p:sp>
        <p:nvSpPr>
          <p:cNvPr id="18" name="Line 25"/>
          <p:cNvSpPr>
            <a:spLocks noChangeShapeType="1"/>
          </p:cNvSpPr>
          <p:nvPr/>
        </p:nvSpPr>
        <p:spPr bwMode="auto">
          <a:xfrm flipH="1">
            <a:off x="2146300" y="3340100"/>
            <a:ext cx="584200" cy="825500"/>
          </a:xfrm>
          <a:prstGeom prst="line">
            <a:avLst/>
          </a:prstGeom>
          <a:noFill/>
          <a:ln w="38100">
            <a:solidFill>
              <a:schemeClr val="tx1"/>
            </a:solidFill>
            <a:round/>
            <a:headEnd/>
            <a:tailEnd type="triangle" w="sm" len="med"/>
          </a:ln>
        </p:spPr>
        <p:txBody>
          <a:bodyPr/>
          <a:lstStyle/>
          <a:p>
            <a:endParaRPr lang="en-US"/>
          </a:p>
        </p:txBody>
      </p:sp>
      <p:sp>
        <p:nvSpPr>
          <p:cNvPr id="19" name="Text Box 26"/>
          <p:cNvSpPr txBox="1">
            <a:spLocks noChangeArrowheads="1"/>
          </p:cNvSpPr>
          <p:nvPr/>
        </p:nvSpPr>
        <p:spPr bwMode="auto">
          <a:xfrm>
            <a:off x="3529013" y="5559425"/>
            <a:ext cx="307975" cy="317500"/>
          </a:xfrm>
          <a:prstGeom prst="rect">
            <a:avLst/>
          </a:prstGeom>
          <a:noFill/>
          <a:ln w="9525">
            <a:noFill/>
            <a:miter lim="800000"/>
            <a:headEnd/>
            <a:tailEnd/>
          </a:ln>
        </p:spPr>
        <p:txBody>
          <a:bodyPr>
            <a:spAutoFit/>
          </a:bodyPr>
          <a:lstStyle/>
          <a:p>
            <a:pPr>
              <a:lnSpc>
                <a:spcPct val="90000"/>
              </a:lnSpc>
            </a:pPr>
            <a:r>
              <a:rPr lang="en-US" sz="1600" i="1">
                <a:ea typeface="MS PGothic" pitchFamily="34" charset="-128"/>
              </a:rPr>
              <a:t>c</a:t>
            </a:r>
            <a:endParaRPr lang="en-US" sz="1600">
              <a:ea typeface="MS PGothic" pitchFamily="34" charset="-128"/>
            </a:endParaRPr>
          </a:p>
        </p:txBody>
      </p:sp>
      <p:grpSp>
        <p:nvGrpSpPr>
          <p:cNvPr id="20" name="Group 48"/>
          <p:cNvGrpSpPr>
            <a:grpSpLocks/>
          </p:cNvGrpSpPr>
          <p:nvPr/>
        </p:nvGrpSpPr>
        <p:grpSpPr bwMode="auto">
          <a:xfrm>
            <a:off x="1866900" y="4267200"/>
            <a:ext cx="1670050" cy="1714500"/>
            <a:chOff x="1128" y="2608"/>
            <a:chExt cx="1052" cy="1080"/>
          </a:xfrm>
        </p:grpSpPr>
        <p:sp>
          <p:nvSpPr>
            <p:cNvPr id="104470" name="Oval 28"/>
            <p:cNvSpPr>
              <a:spLocks noChangeArrowheads="1"/>
            </p:cNvSpPr>
            <p:nvPr/>
          </p:nvSpPr>
          <p:spPr bwMode="auto">
            <a:xfrm>
              <a:off x="1128" y="2608"/>
              <a:ext cx="88" cy="88"/>
            </a:xfrm>
            <a:prstGeom prst="ellipse">
              <a:avLst/>
            </a:prstGeom>
            <a:solidFill>
              <a:schemeClr val="tx1"/>
            </a:solidFill>
            <a:ln w="9525">
              <a:solidFill>
                <a:schemeClr val="tx1"/>
              </a:solidFill>
              <a:round/>
              <a:headEnd/>
              <a:tailEnd/>
            </a:ln>
          </p:spPr>
          <p:txBody>
            <a:bodyPr wrap="none" anchor="ctr"/>
            <a:lstStyle/>
            <a:p>
              <a:endParaRPr lang="en-US"/>
            </a:p>
          </p:txBody>
        </p:sp>
        <p:sp>
          <p:nvSpPr>
            <p:cNvPr id="104471" name="Oval 29"/>
            <p:cNvSpPr>
              <a:spLocks noChangeArrowheads="1"/>
            </p:cNvSpPr>
            <p:nvPr/>
          </p:nvSpPr>
          <p:spPr bwMode="auto">
            <a:xfrm>
              <a:off x="1920" y="3004"/>
              <a:ext cx="88" cy="88"/>
            </a:xfrm>
            <a:prstGeom prst="ellipse">
              <a:avLst/>
            </a:prstGeom>
            <a:solidFill>
              <a:schemeClr val="tx1"/>
            </a:solidFill>
            <a:ln w="9525">
              <a:solidFill>
                <a:schemeClr val="tx1"/>
              </a:solidFill>
              <a:round/>
              <a:headEnd/>
              <a:tailEnd/>
            </a:ln>
          </p:spPr>
          <p:txBody>
            <a:bodyPr wrap="none" anchor="ctr"/>
            <a:lstStyle/>
            <a:p>
              <a:endParaRPr lang="en-US"/>
            </a:p>
          </p:txBody>
        </p:sp>
        <p:sp>
          <p:nvSpPr>
            <p:cNvPr id="104472" name="Oval 30"/>
            <p:cNvSpPr>
              <a:spLocks noChangeArrowheads="1"/>
            </p:cNvSpPr>
            <p:nvPr/>
          </p:nvSpPr>
          <p:spPr bwMode="auto">
            <a:xfrm>
              <a:off x="2092" y="3600"/>
              <a:ext cx="88" cy="88"/>
            </a:xfrm>
            <a:prstGeom prst="ellipse">
              <a:avLst/>
            </a:prstGeom>
            <a:solidFill>
              <a:schemeClr val="tx1"/>
            </a:solidFill>
            <a:ln w="9525">
              <a:solidFill>
                <a:schemeClr val="tx1"/>
              </a:solidFill>
              <a:round/>
              <a:headEnd/>
              <a:tailEnd/>
            </a:ln>
          </p:spPr>
          <p:txBody>
            <a:bodyPr wrap="none" anchor="ctr"/>
            <a:lstStyle/>
            <a:p>
              <a:endParaRPr lang="en-US"/>
            </a:p>
          </p:txBody>
        </p:sp>
      </p:grpSp>
      <p:sp>
        <p:nvSpPr>
          <p:cNvPr id="24" name="Text Box 34"/>
          <p:cNvSpPr txBox="1">
            <a:spLocks noChangeArrowheads="1"/>
          </p:cNvSpPr>
          <p:nvPr/>
        </p:nvSpPr>
        <p:spPr bwMode="auto">
          <a:xfrm>
            <a:off x="836613" y="1657350"/>
            <a:ext cx="5430837" cy="307975"/>
          </a:xfrm>
          <a:prstGeom prst="rect">
            <a:avLst/>
          </a:prstGeom>
          <a:noFill/>
          <a:ln w="9525">
            <a:noFill/>
            <a:miter lim="800000"/>
            <a:headEnd/>
            <a:tailEnd/>
          </a:ln>
        </p:spPr>
        <p:txBody>
          <a:bodyPr wrap="none">
            <a:spAutoFit/>
          </a:bodyPr>
          <a:lstStyle/>
          <a:p>
            <a:r>
              <a:rPr lang="en-US" sz="1400">
                <a:ea typeface="MS PGothic" pitchFamily="34" charset="-128"/>
              </a:rPr>
              <a:t>FIGURE 7.17 – Changes in the Receiver Contribution Coefficients</a:t>
            </a:r>
          </a:p>
        </p:txBody>
      </p:sp>
      <p:sp>
        <p:nvSpPr>
          <p:cNvPr id="25" name="Line 40"/>
          <p:cNvSpPr>
            <a:spLocks noChangeShapeType="1"/>
          </p:cNvSpPr>
          <p:nvPr/>
        </p:nvSpPr>
        <p:spPr bwMode="auto">
          <a:xfrm>
            <a:off x="1504950" y="3879850"/>
            <a:ext cx="3205163" cy="2038350"/>
          </a:xfrm>
          <a:prstGeom prst="line">
            <a:avLst/>
          </a:prstGeom>
          <a:noFill/>
          <a:ln w="57150">
            <a:solidFill>
              <a:srgbClr val="086B97"/>
            </a:solidFill>
            <a:prstDash val="sysDot"/>
            <a:round/>
            <a:headEnd/>
            <a:tailEnd/>
          </a:ln>
        </p:spPr>
        <p:txBody>
          <a:bodyPr/>
          <a:lstStyle/>
          <a:p>
            <a:endParaRPr lang="en-US"/>
          </a:p>
        </p:txBody>
      </p:sp>
      <p:sp>
        <p:nvSpPr>
          <p:cNvPr id="26" name="Line 41"/>
          <p:cNvSpPr>
            <a:spLocks noChangeShapeType="1"/>
          </p:cNvSpPr>
          <p:nvPr/>
        </p:nvSpPr>
        <p:spPr bwMode="auto">
          <a:xfrm>
            <a:off x="1282700" y="4070350"/>
            <a:ext cx="4610100" cy="1841500"/>
          </a:xfrm>
          <a:prstGeom prst="line">
            <a:avLst/>
          </a:prstGeom>
          <a:noFill/>
          <a:ln w="57150">
            <a:solidFill>
              <a:srgbClr val="086B97"/>
            </a:solidFill>
            <a:prstDash val="dash"/>
            <a:round/>
            <a:headEnd/>
            <a:tailEnd/>
          </a:ln>
        </p:spPr>
        <p:txBody>
          <a:bodyPr/>
          <a:lstStyle/>
          <a:p>
            <a:endParaRPr lang="en-US"/>
          </a:p>
        </p:txBody>
      </p:sp>
      <p:sp>
        <p:nvSpPr>
          <p:cNvPr id="27" name="Line 42"/>
          <p:cNvSpPr>
            <a:spLocks noChangeShapeType="1"/>
          </p:cNvSpPr>
          <p:nvPr/>
        </p:nvSpPr>
        <p:spPr bwMode="auto">
          <a:xfrm>
            <a:off x="1289050" y="4133850"/>
            <a:ext cx="5422900" cy="1784350"/>
          </a:xfrm>
          <a:prstGeom prst="line">
            <a:avLst/>
          </a:prstGeom>
          <a:noFill/>
          <a:ln w="57150">
            <a:solidFill>
              <a:schemeClr val="accent1"/>
            </a:solidFill>
            <a:prstDash val="dashDot"/>
            <a:round/>
            <a:headEnd/>
            <a:tailEnd/>
          </a:ln>
        </p:spPr>
        <p:txBody>
          <a:bodyPr/>
          <a:lstStyle/>
          <a:p>
            <a:endParaRPr lang="en-US"/>
          </a:p>
        </p:txBody>
      </p:sp>
      <p:sp>
        <p:nvSpPr>
          <p:cNvPr id="28" name="Line 9"/>
          <p:cNvSpPr>
            <a:spLocks noChangeShapeType="1"/>
          </p:cNvSpPr>
          <p:nvPr/>
        </p:nvSpPr>
        <p:spPr bwMode="auto">
          <a:xfrm flipH="1">
            <a:off x="3238500" y="4533900"/>
            <a:ext cx="406400" cy="368300"/>
          </a:xfrm>
          <a:prstGeom prst="line">
            <a:avLst/>
          </a:prstGeom>
          <a:noFill/>
          <a:ln w="38100">
            <a:solidFill>
              <a:schemeClr val="tx1"/>
            </a:solidFill>
            <a:round/>
            <a:headEnd/>
            <a:tailEnd type="triangle" w="sm" len="med"/>
          </a:ln>
        </p:spPr>
        <p:txBody>
          <a:bodyPr/>
          <a:lstStyle/>
          <a:p>
            <a:endParaRPr lang="en-US"/>
          </a:p>
        </p:txBody>
      </p:sp>
      <p:sp>
        <p:nvSpPr>
          <p:cNvPr id="29" name="Text Box 43"/>
          <p:cNvSpPr txBox="1">
            <a:spLocks noChangeArrowheads="1"/>
          </p:cNvSpPr>
          <p:nvPr/>
        </p:nvSpPr>
        <p:spPr bwMode="auto">
          <a:xfrm>
            <a:off x="4241800" y="3724275"/>
            <a:ext cx="3044825" cy="539750"/>
          </a:xfrm>
          <a:prstGeom prst="rect">
            <a:avLst/>
          </a:prstGeom>
          <a:noFill/>
          <a:ln w="9525">
            <a:noFill/>
            <a:miter lim="800000"/>
            <a:headEnd/>
            <a:tailEnd/>
          </a:ln>
        </p:spPr>
        <p:txBody>
          <a:bodyPr wrap="none">
            <a:spAutoFit/>
          </a:bodyPr>
          <a:lstStyle/>
          <a:p>
            <a:pPr>
              <a:lnSpc>
                <a:spcPct val="90000"/>
              </a:lnSpc>
            </a:pPr>
            <a:r>
              <a:rPr lang="en-US" sz="1600">
                <a:ea typeface="MS PGothic" pitchFamily="34" charset="-128"/>
              </a:rPr>
              <a:t>Old Profit Line for 50</a:t>
            </a:r>
            <a:r>
              <a:rPr lang="en-US" sz="1600" i="1">
                <a:ea typeface="MS PGothic" pitchFamily="34" charset="-128"/>
              </a:rPr>
              <a:t>X</a:t>
            </a:r>
            <a:r>
              <a:rPr lang="en-US" sz="1600" baseline="-25000">
                <a:ea typeface="MS PGothic" pitchFamily="34" charset="-128"/>
              </a:rPr>
              <a:t>1</a:t>
            </a:r>
            <a:r>
              <a:rPr lang="en-US" sz="1600">
                <a:ea typeface="MS PGothic" pitchFamily="34" charset="-128"/>
              </a:rPr>
              <a:t> + 120</a:t>
            </a:r>
            <a:r>
              <a:rPr lang="en-US" sz="1600" i="1">
                <a:ea typeface="MS PGothic" pitchFamily="34" charset="-128"/>
              </a:rPr>
              <a:t>X</a:t>
            </a:r>
            <a:r>
              <a:rPr lang="en-US" sz="1600" baseline="-25000">
                <a:ea typeface="MS PGothic" pitchFamily="34" charset="-128"/>
              </a:rPr>
              <a:t>2</a:t>
            </a:r>
            <a:endParaRPr lang="en-US" sz="1600">
              <a:ea typeface="MS PGothic" pitchFamily="34" charset="-128"/>
            </a:endParaRPr>
          </a:p>
          <a:p>
            <a:pPr>
              <a:lnSpc>
                <a:spcPct val="90000"/>
              </a:lnSpc>
            </a:pPr>
            <a:r>
              <a:rPr lang="en-US" sz="1600">
                <a:ea typeface="MS PGothic" pitchFamily="34" charset="-128"/>
              </a:rPr>
              <a:t>(Passes through Point </a:t>
            </a:r>
            <a:r>
              <a:rPr lang="en-US" sz="1600" i="1">
                <a:ea typeface="MS PGothic" pitchFamily="34" charset="-128"/>
              </a:rPr>
              <a:t>a</a:t>
            </a:r>
            <a:r>
              <a:rPr lang="en-US" sz="1600">
                <a:ea typeface="MS PGothic" pitchFamily="34" charset="-128"/>
              </a:rPr>
              <a:t>)</a:t>
            </a:r>
          </a:p>
        </p:txBody>
      </p:sp>
      <p:sp>
        <p:nvSpPr>
          <p:cNvPr id="30" name="Text Box 44"/>
          <p:cNvSpPr txBox="1">
            <a:spLocks noChangeArrowheads="1"/>
          </p:cNvSpPr>
          <p:nvPr/>
        </p:nvSpPr>
        <p:spPr bwMode="auto">
          <a:xfrm>
            <a:off x="5626100" y="4600575"/>
            <a:ext cx="2668588" cy="539750"/>
          </a:xfrm>
          <a:prstGeom prst="rect">
            <a:avLst/>
          </a:prstGeom>
          <a:noFill/>
          <a:ln w="9525">
            <a:noFill/>
            <a:miter lim="800000"/>
            <a:headEnd/>
            <a:tailEnd/>
          </a:ln>
        </p:spPr>
        <p:txBody>
          <a:bodyPr wrap="none">
            <a:spAutoFit/>
          </a:bodyPr>
          <a:lstStyle/>
          <a:p>
            <a:pPr>
              <a:lnSpc>
                <a:spcPct val="90000"/>
              </a:lnSpc>
            </a:pPr>
            <a:r>
              <a:rPr lang="en-US" sz="1600">
                <a:ea typeface="MS PGothic" pitchFamily="34" charset="-128"/>
              </a:rPr>
              <a:t>Profit Line for 50</a:t>
            </a:r>
            <a:r>
              <a:rPr lang="en-US" sz="1600" i="1">
                <a:ea typeface="MS PGothic" pitchFamily="34" charset="-128"/>
              </a:rPr>
              <a:t>X</a:t>
            </a:r>
            <a:r>
              <a:rPr lang="en-US" sz="1600" baseline="-25000">
                <a:ea typeface="MS PGothic" pitchFamily="34" charset="-128"/>
              </a:rPr>
              <a:t>1</a:t>
            </a:r>
            <a:r>
              <a:rPr lang="en-US" sz="1600">
                <a:ea typeface="MS PGothic" pitchFamily="34" charset="-128"/>
              </a:rPr>
              <a:t> + 150</a:t>
            </a:r>
            <a:r>
              <a:rPr lang="en-US" sz="1600" i="1">
                <a:ea typeface="MS PGothic" pitchFamily="34" charset="-128"/>
              </a:rPr>
              <a:t>X</a:t>
            </a:r>
            <a:r>
              <a:rPr lang="en-US" sz="1600" baseline="-25000">
                <a:ea typeface="MS PGothic" pitchFamily="34" charset="-128"/>
              </a:rPr>
              <a:t>2</a:t>
            </a:r>
            <a:endParaRPr lang="en-US" sz="1600">
              <a:ea typeface="MS PGothic" pitchFamily="34" charset="-128"/>
            </a:endParaRPr>
          </a:p>
          <a:p>
            <a:pPr>
              <a:lnSpc>
                <a:spcPct val="90000"/>
              </a:lnSpc>
            </a:pPr>
            <a:r>
              <a:rPr lang="en-US" sz="1600">
                <a:ea typeface="MS PGothic" pitchFamily="34" charset="-128"/>
              </a:rPr>
              <a:t>(Passes through Point </a:t>
            </a:r>
            <a:r>
              <a:rPr lang="en-US" sz="1600" i="1">
                <a:ea typeface="MS PGothic" pitchFamily="34" charset="-128"/>
              </a:rPr>
              <a:t>a</a:t>
            </a:r>
            <a:r>
              <a:rPr lang="en-US" sz="1600">
                <a:ea typeface="MS PGothic" pitchFamily="34" charset="-128"/>
              </a:rPr>
              <a:t>)</a:t>
            </a:r>
          </a:p>
        </p:txBody>
      </p:sp>
      <p:sp>
        <p:nvSpPr>
          <p:cNvPr id="31" name="Line 45"/>
          <p:cNvSpPr>
            <a:spLocks noChangeShapeType="1"/>
          </p:cNvSpPr>
          <p:nvPr/>
        </p:nvSpPr>
        <p:spPr bwMode="auto">
          <a:xfrm flipH="1">
            <a:off x="3708400" y="4279900"/>
            <a:ext cx="596900" cy="736600"/>
          </a:xfrm>
          <a:prstGeom prst="line">
            <a:avLst/>
          </a:prstGeom>
          <a:noFill/>
          <a:ln w="38100">
            <a:solidFill>
              <a:schemeClr val="tx1"/>
            </a:solidFill>
            <a:round/>
            <a:headEnd/>
            <a:tailEnd type="triangle" w="sm" len="med"/>
          </a:ln>
        </p:spPr>
        <p:txBody>
          <a:bodyPr/>
          <a:lstStyle/>
          <a:p>
            <a:endParaRPr lang="en-US"/>
          </a:p>
        </p:txBody>
      </p:sp>
      <p:sp>
        <p:nvSpPr>
          <p:cNvPr id="32" name="Line 46"/>
          <p:cNvSpPr>
            <a:spLocks noChangeShapeType="1"/>
          </p:cNvSpPr>
          <p:nvPr/>
        </p:nvSpPr>
        <p:spPr bwMode="auto">
          <a:xfrm flipH="1">
            <a:off x="5473700" y="5105400"/>
            <a:ext cx="254000" cy="355600"/>
          </a:xfrm>
          <a:prstGeom prst="line">
            <a:avLst/>
          </a:prstGeom>
          <a:noFill/>
          <a:ln w="38100">
            <a:solidFill>
              <a:schemeClr val="tx1"/>
            </a:solidFill>
            <a:round/>
            <a:headEnd/>
            <a:tailEnd type="triangle" w="sm" len="med"/>
          </a:ln>
        </p:spPr>
        <p:txBody>
          <a:bodyPr/>
          <a:lstStyle/>
          <a:p>
            <a:endParaRPr lang="en-US"/>
          </a:p>
        </p:txBody>
      </p:sp>
      <p:sp>
        <p:nvSpPr>
          <p:cNvPr id="33"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35" name="Slide Number Placeholder 9"/>
          <p:cNvSpPr>
            <a:spLocks noGrp="1"/>
          </p:cNvSpPr>
          <p:nvPr>
            <p:ph type="sldNum" sz="quarter" idx="11"/>
          </p:nvPr>
        </p:nvSpPr>
        <p:spPr/>
        <p:txBody>
          <a:bodyPr/>
          <a:lstStyle/>
          <a:p>
            <a:pPr>
              <a:defRPr/>
            </a:pPr>
            <a:r>
              <a:rPr lang="en-US"/>
              <a:t>7 – </a:t>
            </a:r>
            <a:fld id="{52859F60-E2E6-475D-81CE-00EE938711C0}" type="slidenum">
              <a:rPr lang="en-US"/>
              <a:pPr>
                <a:defRPr/>
              </a:pPr>
              <a:t>29</a:t>
            </a:fld>
            <a:endParaRPr lang="en-US"/>
          </a:p>
        </p:txBody>
      </p:sp>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1000"/>
                                  </p:stCondLst>
                                  <p:childTnLst>
                                    <p:set>
                                      <p:cBhvr>
                                        <p:cTn id="6" dur="1" fill="hold">
                                          <p:stCondLst>
                                            <p:cond delay="0"/>
                                          </p:stCondLst>
                                        </p:cTn>
                                        <p:tgtEl>
                                          <p:spTgt spid="12"/>
                                        </p:tgtEl>
                                        <p:attrNameLst>
                                          <p:attrName>style.visibility</p:attrName>
                                        </p:attrNameLst>
                                      </p:cBhvr>
                                      <p:to>
                                        <p:strVal val="visible"/>
                                      </p:to>
                                    </p:set>
                                    <p:animEffect transition="in" filter="strips(upRight)">
                                      <p:cBhvr>
                                        <p:cTn id="7" dur="1000"/>
                                        <p:tgtEl>
                                          <p:spTgt spid="12"/>
                                        </p:tgtEl>
                                      </p:cBhvr>
                                    </p:animEffect>
                                  </p:childTnLst>
                                </p:cTn>
                              </p:par>
                            </p:childTnLst>
                          </p:cTn>
                        </p:par>
                        <p:par>
                          <p:cTn id="8" fill="hold">
                            <p:stCondLst>
                              <p:cond delay="2000"/>
                            </p:stCondLst>
                            <p:childTnLst>
                              <p:par>
                                <p:cTn id="9" presetID="9" presetClass="entr" presetSubtype="0" fill="hold" nodeType="afterEffect">
                                  <p:stCondLst>
                                    <p:cond delay="100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1000"/>
                                        <p:tgtEl>
                                          <p:spTgt spid="5"/>
                                        </p:tgtEl>
                                      </p:cBhvr>
                                    </p:animEffect>
                                  </p:childTnLst>
                                </p:cTn>
                              </p:par>
                            </p:childTnLst>
                          </p:cTn>
                        </p:par>
                        <p:par>
                          <p:cTn id="12" fill="hold">
                            <p:stCondLst>
                              <p:cond delay="4000"/>
                            </p:stCondLst>
                            <p:childTnLst>
                              <p:par>
                                <p:cTn id="13" presetID="18" presetClass="entr" presetSubtype="6" fill="hold" nodeType="afterEffect">
                                  <p:stCondLst>
                                    <p:cond delay="1000"/>
                                  </p:stCondLst>
                                  <p:childTnLst>
                                    <p:set>
                                      <p:cBhvr>
                                        <p:cTn id="14" dur="1" fill="hold">
                                          <p:stCondLst>
                                            <p:cond delay="0"/>
                                          </p:stCondLst>
                                        </p:cTn>
                                        <p:tgtEl>
                                          <p:spTgt spid="20"/>
                                        </p:tgtEl>
                                        <p:attrNameLst>
                                          <p:attrName>style.visibility</p:attrName>
                                        </p:attrNameLst>
                                      </p:cBhvr>
                                      <p:to>
                                        <p:strVal val="visible"/>
                                      </p:to>
                                    </p:set>
                                    <p:animEffect transition="in" filter="strips(downRight)">
                                      <p:cBhvr>
                                        <p:cTn id="15" dur="1000"/>
                                        <p:tgtEl>
                                          <p:spTgt spid="20"/>
                                        </p:tgtEl>
                                      </p:cBhvr>
                                    </p:animEffect>
                                  </p:childTnLst>
                                </p:cTn>
                              </p:par>
                            </p:childTnLst>
                          </p:cTn>
                        </p:par>
                        <p:par>
                          <p:cTn id="16" fill="hold">
                            <p:stCondLst>
                              <p:cond delay="6000"/>
                            </p:stCondLst>
                            <p:childTnLst>
                              <p:par>
                                <p:cTn id="17" presetID="22" presetClass="entr" presetSubtype="8" fill="hold" grpId="0" nodeType="after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1000"/>
                                        <p:tgtEl>
                                          <p:spTgt spid="9"/>
                                        </p:tgtEl>
                                      </p:cBhvr>
                                    </p:animEffect>
                                  </p:childTnLst>
                                </p:cTn>
                              </p:par>
                              <p:par>
                                <p:cTn id="20" presetID="18" presetClass="entr" presetSubtype="3" fill="hold" grpId="0" nodeType="withEffect">
                                  <p:stCondLst>
                                    <p:cond delay="1000"/>
                                  </p:stCondLst>
                                  <p:childTnLst>
                                    <p:set>
                                      <p:cBhvr>
                                        <p:cTn id="21" dur="1" fill="hold">
                                          <p:stCondLst>
                                            <p:cond delay="0"/>
                                          </p:stCondLst>
                                        </p:cTn>
                                        <p:tgtEl>
                                          <p:spTgt spid="11"/>
                                        </p:tgtEl>
                                        <p:attrNameLst>
                                          <p:attrName>style.visibility</p:attrName>
                                        </p:attrNameLst>
                                      </p:cBhvr>
                                      <p:to>
                                        <p:strVal val="visible"/>
                                      </p:to>
                                    </p:set>
                                    <p:animEffect transition="in" filter="strips(upRight)">
                                      <p:cBhvr>
                                        <p:cTn id="22" dur="1000"/>
                                        <p:tgtEl>
                                          <p:spTgt spid="11"/>
                                        </p:tgtEl>
                                      </p:cBhvr>
                                    </p:animEffect>
                                  </p:childTnLst>
                                </p:cTn>
                              </p:par>
                            </p:childTnLst>
                          </p:cTn>
                        </p:par>
                        <p:par>
                          <p:cTn id="23" fill="hold">
                            <p:stCondLst>
                              <p:cond delay="8000"/>
                            </p:stCondLst>
                            <p:childTnLst>
                              <p:par>
                                <p:cTn id="24" presetID="22" presetClass="entr" presetSubtype="8" fill="hold" grpId="0" nodeType="afterEffect">
                                  <p:stCondLst>
                                    <p:cond delay="100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1000"/>
                                        <p:tgtEl>
                                          <p:spTgt spid="8"/>
                                        </p:tgtEl>
                                      </p:cBhvr>
                                    </p:animEffect>
                                  </p:childTnLst>
                                </p:cTn>
                              </p:par>
                              <p:par>
                                <p:cTn id="27" presetID="18" presetClass="entr" presetSubtype="12" fill="hold" grpId="0" nodeType="withEffect">
                                  <p:stCondLst>
                                    <p:cond delay="1000"/>
                                  </p:stCondLst>
                                  <p:childTnLst>
                                    <p:set>
                                      <p:cBhvr>
                                        <p:cTn id="28" dur="1" fill="hold">
                                          <p:stCondLst>
                                            <p:cond delay="0"/>
                                          </p:stCondLst>
                                        </p:cTn>
                                        <p:tgtEl>
                                          <p:spTgt spid="28"/>
                                        </p:tgtEl>
                                        <p:attrNameLst>
                                          <p:attrName>style.visibility</p:attrName>
                                        </p:attrNameLst>
                                      </p:cBhvr>
                                      <p:to>
                                        <p:strVal val="visible"/>
                                      </p:to>
                                    </p:set>
                                    <p:animEffect transition="in" filter="strips(downLeft)">
                                      <p:cBhvr>
                                        <p:cTn id="29" dur="1000"/>
                                        <p:tgtEl>
                                          <p:spTgt spid="28"/>
                                        </p:tgtEl>
                                      </p:cBhvr>
                                    </p:animEffect>
                                  </p:childTnLst>
                                </p:cTn>
                              </p:par>
                            </p:childTnLst>
                          </p:cTn>
                        </p:par>
                        <p:par>
                          <p:cTn id="30" fill="hold">
                            <p:stCondLst>
                              <p:cond delay="10000"/>
                            </p:stCondLst>
                            <p:childTnLst>
                              <p:par>
                                <p:cTn id="31" presetID="22" presetClass="entr" presetSubtype="8" fill="hold" grpId="0" nodeType="afterEffect">
                                  <p:stCondLst>
                                    <p:cond delay="100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1000"/>
                                        <p:tgtEl>
                                          <p:spTgt spid="19"/>
                                        </p:tgtEl>
                                      </p:cBhvr>
                                    </p:animEffect>
                                  </p:childTnLst>
                                </p:cTn>
                              </p:par>
                            </p:childTnLst>
                          </p:cTn>
                        </p:par>
                        <p:par>
                          <p:cTn id="34" fill="hold">
                            <p:stCondLst>
                              <p:cond delay="12000"/>
                            </p:stCondLst>
                            <p:childTnLst>
                              <p:par>
                                <p:cTn id="35" presetID="18" presetClass="entr" presetSubtype="6" fill="hold" grpId="0" nodeType="afterEffect">
                                  <p:stCondLst>
                                    <p:cond delay="1000"/>
                                  </p:stCondLst>
                                  <p:childTnLst>
                                    <p:set>
                                      <p:cBhvr>
                                        <p:cTn id="36" dur="1" fill="hold">
                                          <p:stCondLst>
                                            <p:cond delay="0"/>
                                          </p:stCondLst>
                                        </p:cTn>
                                        <p:tgtEl>
                                          <p:spTgt spid="26"/>
                                        </p:tgtEl>
                                        <p:attrNameLst>
                                          <p:attrName>style.visibility</p:attrName>
                                        </p:attrNameLst>
                                      </p:cBhvr>
                                      <p:to>
                                        <p:strVal val="visible"/>
                                      </p:to>
                                    </p:set>
                                    <p:animEffect transition="in" filter="strips(downRight)">
                                      <p:cBhvr>
                                        <p:cTn id="37" dur="1000"/>
                                        <p:tgtEl>
                                          <p:spTgt spid="26"/>
                                        </p:tgtEl>
                                      </p:cBhvr>
                                    </p:animEffect>
                                  </p:childTnLst>
                                </p:cTn>
                              </p:par>
                            </p:childTnLst>
                          </p:cTn>
                        </p:par>
                        <p:par>
                          <p:cTn id="38" fill="hold">
                            <p:stCondLst>
                              <p:cond delay="14000"/>
                            </p:stCondLst>
                            <p:childTnLst>
                              <p:par>
                                <p:cTn id="39" presetID="22" presetClass="entr" presetSubtype="8" fill="hold" grpId="0" nodeType="afterEffect">
                                  <p:stCondLst>
                                    <p:cond delay="1000"/>
                                  </p:stCondLst>
                                  <p:childTnLst>
                                    <p:set>
                                      <p:cBhvr>
                                        <p:cTn id="40" dur="1" fill="hold">
                                          <p:stCondLst>
                                            <p:cond delay="0"/>
                                          </p:stCondLst>
                                        </p:cTn>
                                        <p:tgtEl>
                                          <p:spTgt spid="29"/>
                                        </p:tgtEl>
                                        <p:attrNameLst>
                                          <p:attrName>style.visibility</p:attrName>
                                        </p:attrNameLst>
                                      </p:cBhvr>
                                      <p:to>
                                        <p:strVal val="visible"/>
                                      </p:to>
                                    </p:set>
                                    <p:animEffect transition="in" filter="wipe(left)">
                                      <p:cBhvr>
                                        <p:cTn id="41" dur="1000"/>
                                        <p:tgtEl>
                                          <p:spTgt spid="29"/>
                                        </p:tgtEl>
                                      </p:cBhvr>
                                    </p:animEffect>
                                  </p:childTnLst>
                                </p:cTn>
                              </p:par>
                              <p:par>
                                <p:cTn id="42" presetID="18" presetClass="entr" presetSubtype="12" fill="hold" grpId="0" nodeType="withEffect">
                                  <p:stCondLst>
                                    <p:cond delay="1000"/>
                                  </p:stCondLst>
                                  <p:childTnLst>
                                    <p:set>
                                      <p:cBhvr>
                                        <p:cTn id="43" dur="1" fill="hold">
                                          <p:stCondLst>
                                            <p:cond delay="0"/>
                                          </p:stCondLst>
                                        </p:cTn>
                                        <p:tgtEl>
                                          <p:spTgt spid="31"/>
                                        </p:tgtEl>
                                        <p:attrNameLst>
                                          <p:attrName>style.visibility</p:attrName>
                                        </p:attrNameLst>
                                      </p:cBhvr>
                                      <p:to>
                                        <p:strVal val="visible"/>
                                      </p:to>
                                    </p:set>
                                    <p:animEffect transition="in" filter="strips(downLeft)">
                                      <p:cBhvr>
                                        <p:cTn id="44" dur="100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6"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strips(downRight)">
                                      <p:cBhvr>
                                        <p:cTn id="49" dur="1000"/>
                                        <p:tgtEl>
                                          <p:spTgt spid="27"/>
                                        </p:tgtEl>
                                      </p:cBhvr>
                                    </p:animEffect>
                                  </p:childTnLst>
                                </p:cTn>
                              </p:par>
                            </p:childTnLst>
                          </p:cTn>
                        </p:par>
                        <p:par>
                          <p:cTn id="50" fill="hold">
                            <p:stCondLst>
                              <p:cond delay="1000"/>
                            </p:stCondLst>
                            <p:childTnLst>
                              <p:par>
                                <p:cTn id="51" presetID="22" presetClass="entr" presetSubtype="8" fill="hold" grpId="0" nodeType="afterEffect">
                                  <p:stCondLst>
                                    <p:cond delay="1000"/>
                                  </p:stCondLst>
                                  <p:childTnLst>
                                    <p:set>
                                      <p:cBhvr>
                                        <p:cTn id="52" dur="1" fill="hold">
                                          <p:stCondLst>
                                            <p:cond delay="0"/>
                                          </p:stCondLst>
                                        </p:cTn>
                                        <p:tgtEl>
                                          <p:spTgt spid="30"/>
                                        </p:tgtEl>
                                        <p:attrNameLst>
                                          <p:attrName>style.visibility</p:attrName>
                                        </p:attrNameLst>
                                      </p:cBhvr>
                                      <p:to>
                                        <p:strVal val="visible"/>
                                      </p:to>
                                    </p:set>
                                    <p:animEffect transition="in" filter="wipe(left)">
                                      <p:cBhvr>
                                        <p:cTn id="53" dur="1000"/>
                                        <p:tgtEl>
                                          <p:spTgt spid="30"/>
                                        </p:tgtEl>
                                      </p:cBhvr>
                                    </p:animEffect>
                                  </p:childTnLst>
                                </p:cTn>
                              </p:par>
                              <p:par>
                                <p:cTn id="54" presetID="18" presetClass="entr" presetSubtype="12" fill="hold" grpId="0" nodeType="withEffect">
                                  <p:stCondLst>
                                    <p:cond delay="1000"/>
                                  </p:stCondLst>
                                  <p:childTnLst>
                                    <p:set>
                                      <p:cBhvr>
                                        <p:cTn id="55" dur="1" fill="hold">
                                          <p:stCondLst>
                                            <p:cond delay="0"/>
                                          </p:stCondLst>
                                        </p:cTn>
                                        <p:tgtEl>
                                          <p:spTgt spid="32"/>
                                        </p:tgtEl>
                                        <p:attrNameLst>
                                          <p:attrName>style.visibility</p:attrName>
                                        </p:attrNameLst>
                                      </p:cBhvr>
                                      <p:to>
                                        <p:strVal val="visible"/>
                                      </p:to>
                                    </p:set>
                                    <p:animEffect transition="in" filter="strips(downLeft)">
                                      <p:cBhvr>
                                        <p:cTn id="56" dur="1000"/>
                                        <p:tgtEl>
                                          <p:spTgt spid="32"/>
                                        </p:tgtEl>
                                      </p:cBhvr>
                                    </p:animEffect>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strips(downRight)">
                                      <p:cBhvr>
                                        <p:cTn id="61" dur="1000"/>
                                        <p:tgtEl>
                                          <p:spTgt spid="25"/>
                                        </p:tgtEl>
                                      </p:cBhvr>
                                    </p:animEffect>
                                  </p:childTnLst>
                                </p:cTn>
                              </p:par>
                            </p:childTnLst>
                          </p:cTn>
                        </p:par>
                        <p:par>
                          <p:cTn id="62" fill="hold">
                            <p:stCondLst>
                              <p:cond delay="1000"/>
                            </p:stCondLst>
                            <p:childTnLst>
                              <p:par>
                                <p:cTn id="63" presetID="22" presetClass="entr" presetSubtype="8" fill="hold" grpId="0" nodeType="afterEffect">
                                  <p:stCondLst>
                                    <p:cond delay="1000"/>
                                  </p:stCondLst>
                                  <p:childTnLst>
                                    <p:set>
                                      <p:cBhvr>
                                        <p:cTn id="64" dur="1" fill="hold">
                                          <p:stCondLst>
                                            <p:cond delay="0"/>
                                          </p:stCondLst>
                                        </p:cTn>
                                        <p:tgtEl>
                                          <p:spTgt spid="10"/>
                                        </p:tgtEl>
                                        <p:attrNameLst>
                                          <p:attrName>style.visibility</p:attrName>
                                        </p:attrNameLst>
                                      </p:cBhvr>
                                      <p:to>
                                        <p:strVal val="visible"/>
                                      </p:to>
                                    </p:set>
                                    <p:animEffect transition="in" filter="wipe(left)">
                                      <p:cBhvr>
                                        <p:cTn id="65" dur="1000"/>
                                        <p:tgtEl>
                                          <p:spTgt spid="10"/>
                                        </p:tgtEl>
                                      </p:cBhvr>
                                    </p:animEffect>
                                  </p:childTnLst>
                                </p:cTn>
                              </p:par>
                              <p:par>
                                <p:cTn id="66" presetID="18" presetClass="entr" presetSubtype="12" fill="hold" grpId="0" nodeType="withEffect">
                                  <p:stCondLst>
                                    <p:cond delay="1000"/>
                                  </p:stCondLst>
                                  <p:childTnLst>
                                    <p:set>
                                      <p:cBhvr>
                                        <p:cTn id="67" dur="1" fill="hold">
                                          <p:stCondLst>
                                            <p:cond delay="0"/>
                                          </p:stCondLst>
                                        </p:cTn>
                                        <p:tgtEl>
                                          <p:spTgt spid="18"/>
                                        </p:tgtEl>
                                        <p:attrNameLst>
                                          <p:attrName>style.visibility</p:attrName>
                                        </p:attrNameLst>
                                      </p:cBhvr>
                                      <p:to>
                                        <p:strVal val="visible"/>
                                      </p:to>
                                    </p:set>
                                    <p:animEffect transition="in" filter="strips(downLeft)">
                                      <p:cBhvr>
                                        <p:cTn id="68" dur="1000"/>
                                        <p:tgtEl>
                                          <p:spTgt spid="18"/>
                                        </p:tgtEl>
                                      </p:cBhvr>
                                    </p:animEffect>
                                  </p:childTnLst>
                                </p:cTn>
                              </p:par>
                            </p:childTnLst>
                          </p:cTn>
                        </p:par>
                        <p:par>
                          <p:cTn id="69" fill="hold">
                            <p:stCondLst>
                              <p:cond delay="3000"/>
                            </p:stCondLst>
                            <p:childTnLst>
                              <p:par>
                                <p:cTn id="70" presetID="22" presetClass="entr" presetSubtype="8"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8" grpId="0" animBg="1"/>
      <p:bldP spid="19" grpId="0"/>
      <p:bldP spid="24" grpId="0"/>
      <p:bldP spid="25" grpId="0" animBg="1"/>
      <p:bldP spid="26" grpId="0" animBg="1"/>
      <p:bldP spid="27" grpId="0" animBg="1"/>
      <p:bldP spid="28" grpId="0" animBg="1"/>
      <p:bldP spid="29" grpId="0"/>
      <p:bldP spid="30" grpId="0"/>
      <p:bldP spid="31" grpId="0" animBg="1"/>
      <p:bldP spid="3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nvPr>
        </p:nvSpPr>
        <p:spPr/>
        <p:txBody>
          <a:bodyPr/>
          <a:lstStyle/>
          <a:p>
            <a:r>
              <a:rPr lang="en-US">
                <a:latin typeface="Arial" charset="0"/>
                <a:cs typeface="Arial" charset="0"/>
              </a:rPr>
              <a:t>Excel Solver</a:t>
            </a:r>
          </a:p>
        </p:txBody>
      </p:sp>
      <p:sp>
        <p:nvSpPr>
          <p:cNvPr id="4"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7" name="Text Box 5"/>
          <p:cNvSpPr txBox="1">
            <a:spLocks noChangeArrowheads="1"/>
          </p:cNvSpPr>
          <p:nvPr/>
        </p:nvSpPr>
        <p:spPr bwMode="auto">
          <a:xfrm>
            <a:off x="787400" y="1606550"/>
            <a:ext cx="4905375" cy="307975"/>
          </a:xfrm>
          <a:prstGeom prst="rect">
            <a:avLst/>
          </a:prstGeom>
          <a:noFill/>
          <a:ln w="9525">
            <a:noFill/>
            <a:miter lim="800000"/>
            <a:headEnd/>
            <a:tailEnd/>
          </a:ln>
        </p:spPr>
        <p:txBody>
          <a:bodyPr wrap="none">
            <a:spAutoFit/>
          </a:bodyPr>
          <a:lstStyle/>
          <a:p>
            <a:r>
              <a:rPr lang="en-US" sz="1400">
                <a:ea typeface="MS PGothic" pitchFamily="34" charset="-128"/>
              </a:rPr>
              <a:t>PROGRAM 7.7A – Excel Spreadsheet for High Note Sound</a:t>
            </a:r>
          </a:p>
        </p:txBody>
      </p:sp>
      <p:pic>
        <p:nvPicPr>
          <p:cNvPr id="6" name="Picture 5" descr="p 7-7a.pdf"/>
          <p:cNvPicPr>
            <a:picLocks noChangeAspect="1"/>
          </p:cNvPicPr>
          <p:nvPr/>
        </p:nvPicPr>
        <p:blipFill>
          <a:blip r:embed="rId2"/>
          <a:srcRect/>
          <a:stretch>
            <a:fillRect/>
          </a:stretch>
        </p:blipFill>
        <p:spPr bwMode="auto">
          <a:xfrm>
            <a:off x="787400" y="2266950"/>
            <a:ext cx="7404100" cy="3378200"/>
          </a:xfrm>
          <a:prstGeom prst="rect">
            <a:avLst/>
          </a:prstGeom>
          <a:noFill/>
          <a:ln w="9525">
            <a:noFill/>
            <a:miter lim="800000"/>
            <a:headEnd/>
            <a:tailEnd/>
          </a:ln>
        </p:spPr>
      </p:pic>
      <p:sp>
        <p:nvSpPr>
          <p:cNvPr id="8" name="Slide Number Placeholder 9"/>
          <p:cNvSpPr>
            <a:spLocks noGrp="1"/>
          </p:cNvSpPr>
          <p:nvPr>
            <p:ph type="sldNum" sz="quarter" idx="11"/>
          </p:nvPr>
        </p:nvSpPr>
        <p:spPr/>
        <p:txBody>
          <a:bodyPr/>
          <a:lstStyle/>
          <a:p>
            <a:pPr>
              <a:defRPr/>
            </a:pPr>
            <a:r>
              <a:rPr lang="en-US"/>
              <a:t>7 – </a:t>
            </a:r>
            <a:fld id="{ED655DB2-55EE-4E93-A6DE-FB2E256AFB1A}" type="slidenum">
              <a:rPr lang="en-US"/>
              <a:pPr>
                <a:defRPr/>
              </a:pPr>
              <a:t>30</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2/3*#ppt_w"/>
                                          </p:val>
                                        </p:tav>
                                        <p:tav tm="100000">
                                          <p:val>
                                            <p:strVal val="#ppt_w"/>
                                          </p:val>
                                        </p:tav>
                                      </p:tavLst>
                                    </p:anim>
                                    <p:anim calcmode="lin" valueType="num">
                                      <p:cBhvr>
                                        <p:cTn id="8" dur="1000" fill="hold"/>
                                        <p:tgtEl>
                                          <p:spTgt spid="6"/>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p:cNvSpPr>
            <a:spLocks noGrp="1"/>
          </p:cNvSpPr>
          <p:nvPr>
            <p:ph type="title"/>
          </p:nvPr>
        </p:nvSpPr>
        <p:spPr/>
        <p:txBody>
          <a:bodyPr/>
          <a:lstStyle/>
          <a:p>
            <a:r>
              <a:rPr lang="en-US">
                <a:latin typeface="Arial" charset="0"/>
                <a:cs typeface="Arial" charset="0"/>
              </a:rPr>
              <a:t>Excel Solver</a:t>
            </a:r>
          </a:p>
        </p:txBody>
      </p:sp>
      <p:sp>
        <p:nvSpPr>
          <p:cNvPr id="4"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7" name="Text Box 5"/>
          <p:cNvSpPr txBox="1">
            <a:spLocks noChangeArrowheads="1"/>
          </p:cNvSpPr>
          <p:nvPr/>
        </p:nvSpPr>
        <p:spPr bwMode="auto">
          <a:xfrm>
            <a:off x="787400" y="1606550"/>
            <a:ext cx="4994275" cy="307975"/>
          </a:xfrm>
          <a:prstGeom prst="rect">
            <a:avLst/>
          </a:prstGeom>
          <a:noFill/>
          <a:ln w="9525">
            <a:noFill/>
            <a:miter lim="800000"/>
            <a:headEnd/>
            <a:tailEnd/>
          </a:ln>
        </p:spPr>
        <p:txBody>
          <a:bodyPr wrap="none">
            <a:spAutoFit/>
          </a:bodyPr>
          <a:lstStyle/>
          <a:p>
            <a:r>
              <a:rPr lang="en-US" sz="1400">
                <a:ea typeface="MS PGothic" pitchFamily="34" charset="-128"/>
              </a:rPr>
              <a:t>PROGRAM 7.7B – Excel 2013 Solution and Solver Results</a:t>
            </a:r>
          </a:p>
        </p:txBody>
      </p:sp>
      <p:sp>
        <p:nvSpPr>
          <p:cNvPr id="8" name="Slide Number Placeholder 9"/>
          <p:cNvSpPr>
            <a:spLocks noGrp="1"/>
          </p:cNvSpPr>
          <p:nvPr>
            <p:ph type="sldNum" sz="quarter" idx="11"/>
          </p:nvPr>
        </p:nvSpPr>
        <p:spPr/>
        <p:txBody>
          <a:bodyPr/>
          <a:lstStyle/>
          <a:p>
            <a:pPr>
              <a:defRPr/>
            </a:pPr>
            <a:r>
              <a:rPr lang="en-US"/>
              <a:t>7 – </a:t>
            </a:r>
            <a:fld id="{A6E4C2B4-E8A9-4CB8-A2E5-FCA3DB2E1DA8}" type="slidenum">
              <a:rPr lang="en-US"/>
              <a:pPr>
                <a:defRPr/>
              </a:pPr>
              <a:t>31</a:t>
            </a:fld>
            <a:endParaRPr lang="en-US"/>
          </a:p>
        </p:txBody>
      </p:sp>
      <p:pic>
        <p:nvPicPr>
          <p:cNvPr id="108551" name="Picture 7"/>
          <p:cNvPicPr>
            <a:picLocks noChangeAspect="1" noChangeArrowheads="1"/>
          </p:cNvPicPr>
          <p:nvPr/>
        </p:nvPicPr>
        <p:blipFill>
          <a:blip r:embed="rId2"/>
          <a:srcRect/>
          <a:stretch>
            <a:fillRect/>
          </a:stretch>
        </p:blipFill>
        <p:spPr bwMode="auto">
          <a:xfrm>
            <a:off x="457200" y="2147888"/>
            <a:ext cx="7980363" cy="3556000"/>
          </a:xfrm>
          <a:prstGeom prst="rect">
            <a:avLst/>
          </a:prstGeom>
          <a:noFill/>
          <a:ln w="9525">
            <a:noFill/>
            <a:miter lim="800000"/>
            <a:headEnd/>
            <a:tailEnd/>
          </a:ln>
          <a:effectLst/>
        </p:spPr>
      </p:pic>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p:cNvSpPr>
            <a:spLocks noGrp="1"/>
          </p:cNvSpPr>
          <p:nvPr>
            <p:ph type="title"/>
          </p:nvPr>
        </p:nvSpPr>
        <p:spPr/>
        <p:txBody>
          <a:bodyPr/>
          <a:lstStyle/>
          <a:p>
            <a:r>
              <a:rPr lang="en-US">
                <a:latin typeface="Arial" charset="0"/>
                <a:cs typeface="Arial" charset="0"/>
              </a:rPr>
              <a:t>Excel Solver</a:t>
            </a:r>
          </a:p>
        </p:txBody>
      </p:sp>
      <p:sp>
        <p:nvSpPr>
          <p:cNvPr id="4"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7" name="Text Box 5"/>
          <p:cNvSpPr txBox="1">
            <a:spLocks noChangeArrowheads="1"/>
          </p:cNvSpPr>
          <p:nvPr/>
        </p:nvSpPr>
        <p:spPr bwMode="auto">
          <a:xfrm>
            <a:off x="622300" y="1438275"/>
            <a:ext cx="1698625" cy="738188"/>
          </a:xfrm>
          <a:prstGeom prst="rect">
            <a:avLst/>
          </a:prstGeom>
          <a:noFill/>
          <a:ln w="9525">
            <a:noFill/>
            <a:miter lim="800000"/>
            <a:headEnd/>
            <a:tailEnd/>
          </a:ln>
        </p:spPr>
        <p:txBody>
          <a:bodyPr wrap="none">
            <a:spAutoFit/>
          </a:bodyPr>
          <a:lstStyle/>
          <a:p>
            <a:r>
              <a:rPr lang="en-US" sz="1400">
                <a:ea typeface="MS PGothic" pitchFamily="34" charset="-128"/>
              </a:rPr>
              <a:t>PROGRAM 7.7C – </a:t>
            </a:r>
          </a:p>
          <a:p>
            <a:r>
              <a:rPr lang="en-US" sz="1400">
                <a:ea typeface="MS PGothic" pitchFamily="34" charset="-128"/>
              </a:rPr>
              <a:t>Excel 2013 </a:t>
            </a:r>
          </a:p>
          <a:p>
            <a:r>
              <a:rPr lang="en-US" sz="1400">
                <a:ea typeface="MS PGothic" pitchFamily="34" charset="-128"/>
              </a:rPr>
              <a:t>Sensitivity Report</a:t>
            </a:r>
          </a:p>
        </p:txBody>
      </p:sp>
      <p:pic>
        <p:nvPicPr>
          <p:cNvPr id="6" name="Picture 5" descr="p 7-7c.pdf"/>
          <p:cNvPicPr>
            <a:picLocks noChangeAspect="1"/>
          </p:cNvPicPr>
          <p:nvPr/>
        </p:nvPicPr>
        <p:blipFill>
          <a:blip r:embed="rId2"/>
          <a:srcRect/>
          <a:stretch>
            <a:fillRect/>
          </a:stretch>
        </p:blipFill>
        <p:spPr bwMode="auto">
          <a:xfrm>
            <a:off x="2741613" y="1417638"/>
            <a:ext cx="5945187" cy="4616450"/>
          </a:xfrm>
          <a:prstGeom prst="rect">
            <a:avLst/>
          </a:prstGeom>
          <a:noFill/>
          <a:ln w="9525">
            <a:noFill/>
            <a:miter lim="800000"/>
            <a:headEnd/>
            <a:tailEnd/>
          </a:ln>
        </p:spPr>
      </p:pic>
      <p:sp>
        <p:nvSpPr>
          <p:cNvPr id="8" name="Slide Number Placeholder 9"/>
          <p:cNvSpPr>
            <a:spLocks noGrp="1"/>
          </p:cNvSpPr>
          <p:nvPr>
            <p:ph type="sldNum" sz="quarter" idx="11"/>
          </p:nvPr>
        </p:nvSpPr>
        <p:spPr/>
        <p:txBody>
          <a:bodyPr/>
          <a:lstStyle/>
          <a:p>
            <a:pPr>
              <a:defRPr/>
            </a:pPr>
            <a:r>
              <a:rPr lang="en-US"/>
              <a:t>7 – </a:t>
            </a:r>
            <a:fld id="{7DF533DC-8AF6-429A-B6B5-22EDDF6CF921}" type="slidenum">
              <a:rPr lang="en-US"/>
              <a:pPr>
                <a:defRPr/>
              </a:pPr>
              <a:t>32</a:t>
            </a:fld>
            <a:endParaRPr lang="en-US"/>
          </a:p>
        </p:txBody>
      </p:sp>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2/3*#ppt_w"/>
                                          </p:val>
                                        </p:tav>
                                        <p:tav tm="100000">
                                          <p:val>
                                            <p:strVal val="#ppt_w"/>
                                          </p:val>
                                        </p:tav>
                                      </p:tavLst>
                                    </p:anim>
                                    <p:anim calcmode="lin" valueType="num">
                                      <p:cBhvr>
                                        <p:cTn id="8" dur="1000" fill="hold"/>
                                        <p:tgtEl>
                                          <p:spTgt spid="6"/>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dirty="0"/>
              <a:t>Changes in the </a:t>
            </a:r>
            <a:br>
              <a:rPr lang="en-US" dirty="0"/>
            </a:br>
            <a:r>
              <a:rPr lang="en-US" dirty="0"/>
              <a:t>Technological Coefficients</a:t>
            </a:r>
          </a:p>
        </p:txBody>
      </p:sp>
      <p:sp>
        <p:nvSpPr>
          <p:cNvPr id="110594" name="Content Placeholder 2"/>
          <p:cNvSpPr>
            <a:spLocks noGrp="1"/>
          </p:cNvSpPr>
          <p:nvPr>
            <p:ph idx="1"/>
          </p:nvPr>
        </p:nvSpPr>
        <p:spPr/>
        <p:txBody>
          <a:bodyPr/>
          <a:lstStyle/>
          <a:p>
            <a:r>
              <a:rPr lang="en-US">
                <a:latin typeface="Arial" charset="0"/>
                <a:cs typeface="Arial" charset="0"/>
              </a:rPr>
              <a:t>Changes in the </a:t>
            </a:r>
            <a:r>
              <a:rPr lang="en-US" b="1">
                <a:latin typeface="Arial" charset="0"/>
                <a:cs typeface="Arial" charset="0"/>
              </a:rPr>
              <a:t>technological coefficients </a:t>
            </a:r>
            <a:r>
              <a:rPr lang="en-US">
                <a:latin typeface="Arial" charset="0"/>
                <a:cs typeface="Arial" charset="0"/>
              </a:rPr>
              <a:t>often reflect changes in the state of technology</a:t>
            </a:r>
          </a:p>
          <a:p>
            <a:r>
              <a:rPr lang="en-US">
                <a:latin typeface="Arial" charset="0"/>
                <a:cs typeface="Arial" charset="0"/>
              </a:rPr>
              <a:t>If the amount of resources needed to produce a product changes, coefficients in the constraint equations will change</a:t>
            </a:r>
          </a:p>
          <a:p>
            <a:r>
              <a:rPr lang="en-US">
                <a:latin typeface="Arial" charset="0"/>
                <a:cs typeface="Arial" charset="0"/>
              </a:rPr>
              <a:t>Objective function does not change</a:t>
            </a:r>
          </a:p>
          <a:p>
            <a:r>
              <a:rPr lang="en-US">
                <a:latin typeface="Arial" charset="0"/>
                <a:cs typeface="Arial" charset="0"/>
              </a:rPr>
              <a:t>May produce significant change in the shape of the feasible region</a:t>
            </a:r>
          </a:p>
          <a:p>
            <a:r>
              <a:rPr lang="en-US">
                <a:latin typeface="Arial" charset="0"/>
                <a:cs typeface="Arial" charset="0"/>
              </a:rPr>
              <a:t>May cause a change in the optimal solution</a:t>
            </a:r>
          </a:p>
        </p:txBody>
      </p:sp>
      <p:sp>
        <p:nvSpPr>
          <p:cNvPr id="4"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6" name="Slide Number Placeholder 9"/>
          <p:cNvSpPr>
            <a:spLocks noGrp="1"/>
          </p:cNvSpPr>
          <p:nvPr>
            <p:ph type="sldNum" sz="quarter" idx="11"/>
          </p:nvPr>
        </p:nvSpPr>
        <p:spPr/>
        <p:txBody>
          <a:bodyPr/>
          <a:lstStyle/>
          <a:p>
            <a:pPr>
              <a:defRPr/>
            </a:pPr>
            <a:r>
              <a:rPr lang="en-US"/>
              <a:t>7 – </a:t>
            </a:r>
            <a:fld id="{9E8DF594-1927-4486-B9BE-DF40AE68792D}" type="slidenum">
              <a:rPr lang="en-US"/>
              <a:pPr>
                <a:defRPr/>
              </a:pPr>
              <a:t>33</a:t>
            </a:fld>
            <a:endParaRPr lang="en-US"/>
          </a:p>
        </p:txBody>
      </p:sp>
    </p:spTree>
  </p:cSld>
  <p:clrMapOvr>
    <a:masterClrMapping/>
  </p:clrMapOvr>
  <p:transition spd="slow">
    <p:pull dir="l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dirty="0"/>
              <a:t>Changes in the </a:t>
            </a:r>
            <a:br>
              <a:rPr lang="en-US" dirty="0"/>
            </a:br>
            <a:r>
              <a:rPr lang="en-US" dirty="0"/>
              <a:t>Technological Coefficients</a:t>
            </a:r>
          </a:p>
        </p:txBody>
      </p:sp>
      <p:sp>
        <p:nvSpPr>
          <p:cNvPr id="4"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7" name="Freeform 49"/>
          <p:cNvSpPr>
            <a:spLocks/>
          </p:cNvSpPr>
          <p:nvPr/>
        </p:nvSpPr>
        <p:spPr bwMode="auto">
          <a:xfrm>
            <a:off x="6343650" y="4711700"/>
            <a:ext cx="622300" cy="482600"/>
          </a:xfrm>
          <a:custGeom>
            <a:avLst/>
            <a:gdLst>
              <a:gd name="T0" fmla="*/ 0 w 392"/>
              <a:gd name="T1" fmla="*/ 0 h 304"/>
              <a:gd name="T2" fmla="*/ 0 w 392"/>
              <a:gd name="T3" fmla="*/ 2147483647 h 304"/>
              <a:gd name="T4" fmla="*/ 2147483647 w 392"/>
              <a:gd name="T5" fmla="*/ 2147483647 h 304"/>
              <a:gd name="T6" fmla="*/ 2147483647 w 392"/>
              <a:gd name="T7" fmla="*/ 2147483647 h 304"/>
              <a:gd name="T8" fmla="*/ 0 w 392"/>
              <a:gd name="T9" fmla="*/ 0 h 304"/>
              <a:gd name="T10" fmla="*/ 0 60000 65536"/>
              <a:gd name="T11" fmla="*/ 0 60000 65536"/>
              <a:gd name="T12" fmla="*/ 0 60000 65536"/>
              <a:gd name="T13" fmla="*/ 0 60000 65536"/>
              <a:gd name="T14" fmla="*/ 0 60000 65536"/>
              <a:gd name="T15" fmla="*/ 0 w 392"/>
              <a:gd name="T16" fmla="*/ 0 h 304"/>
              <a:gd name="T17" fmla="*/ 392 w 392"/>
              <a:gd name="T18" fmla="*/ 304 h 304"/>
            </a:gdLst>
            <a:ahLst/>
            <a:cxnLst>
              <a:cxn ang="T10">
                <a:pos x="T0" y="T1"/>
              </a:cxn>
              <a:cxn ang="T11">
                <a:pos x="T2" y="T3"/>
              </a:cxn>
              <a:cxn ang="T12">
                <a:pos x="T4" y="T5"/>
              </a:cxn>
              <a:cxn ang="T13">
                <a:pos x="T6" y="T7"/>
              </a:cxn>
              <a:cxn ang="T14">
                <a:pos x="T8" y="T9"/>
              </a:cxn>
            </a:cxnLst>
            <a:rect l="T15" t="T16" r="T17" b="T18"/>
            <a:pathLst>
              <a:path w="392" h="304">
                <a:moveTo>
                  <a:pt x="0" y="0"/>
                </a:moveTo>
                <a:lnTo>
                  <a:pt x="0" y="304"/>
                </a:lnTo>
                <a:lnTo>
                  <a:pt x="392" y="304"/>
                </a:lnTo>
                <a:lnTo>
                  <a:pt x="344" y="132"/>
                </a:lnTo>
                <a:lnTo>
                  <a:pt x="0" y="0"/>
                </a:lnTo>
                <a:close/>
              </a:path>
            </a:pathLst>
          </a:custGeom>
          <a:solidFill>
            <a:srgbClr val="BBE2EE"/>
          </a:solidFill>
          <a:ln w="9525">
            <a:noFill/>
            <a:round/>
            <a:headEnd/>
            <a:tailEnd/>
          </a:ln>
        </p:spPr>
        <p:txBody>
          <a:bodyPr/>
          <a:lstStyle/>
          <a:p>
            <a:endParaRPr lang="en-US"/>
          </a:p>
        </p:txBody>
      </p:sp>
      <p:sp>
        <p:nvSpPr>
          <p:cNvPr id="8" name="Freeform 27"/>
          <p:cNvSpPr>
            <a:spLocks/>
          </p:cNvSpPr>
          <p:nvPr/>
        </p:nvSpPr>
        <p:spPr bwMode="auto">
          <a:xfrm>
            <a:off x="1028700" y="4540250"/>
            <a:ext cx="641350" cy="654050"/>
          </a:xfrm>
          <a:custGeom>
            <a:avLst/>
            <a:gdLst>
              <a:gd name="T0" fmla="*/ 0 w 404"/>
              <a:gd name="T1" fmla="*/ 0 h 412"/>
              <a:gd name="T2" fmla="*/ 0 w 404"/>
              <a:gd name="T3" fmla="*/ 2147483647 h 412"/>
              <a:gd name="T4" fmla="*/ 2147483647 w 404"/>
              <a:gd name="T5" fmla="*/ 2147483647 h 412"/>
              <a:gd name="T6" fmla="*/ 2147483647 w 404"/>
              <a:gd name="T7" fmla="*/ 2147483647 h 412"/>
              <a:gd name="T8" fmla="*/ 0 w 404"/>
              <a:gd name="T9" fmla="*/ 0 h 412"/>
              <a:gd name="T10" fmla="*/ 0 60000 65536"/>
              <a:gd name="T11" fmla="*/ 0 60000 65536"/>
              <a:gd name="T12" fmla="*/ 0 60000 65536"/>
              <a:gd name="T13" fmla="*/ 0 60000 65536"/>
              <a:gd name="T14" fmla="*/ 0 60000 65536"/>
              <a:gd name="T15" fmla="*/ 0 w 404"/>
              <a:gd name="T16" fmla="*/ 0 h 412"/>
              <a:gd name="T17" fmla="*/ 404 w 404"/>
              <a:gd name="T18" fmla="*/ 412 h 412"/>
            </a:gdLst>
            <a:ahLst/>
            <a:cxnLst>
              <a:cxn ang="T10">
                <a:pos x="T0" y="T1"/>
              </a:cxn>
              <a:cxn ang="T11">
                <a:pos x="T2" y="T3"/>
              </a:cxn>
              <a:cxn ang="T12">
                <a:pos x="T4" y="T5"/>
              </a:cxn>
              <a:cxn ang="T13">
                <a:pos x="T6" y="T7"/>
              </a:cxn>
              <a:cxn ang="T14">
                <a:pos x="T8" y="T9"/>
              </a:cxn>
            </a:cxnLst>
            <a:rect l="T15" t="T16" r="T17" b="T18"/>
            <a:pathLst>
              <a:path w="404" h="412">
                <a:moveTo>
                  <a:pt x="0" y="0"/>
                </a:moveTo>
                <a:lnTo>
                  <a:pt x="0" y="412"/>
                </a:lnTo>
                <a:lnTo>
                  <a:pt x="404" y="412"/>
                </a:lnTo>
                <a:lnTo>
                  <a:pt x="324" y="176"/>
                </a:lnTo>
                <a:lnTo>
                  <a:pt x="0" y="0"/>
                </a:lnTo>
                <a:close/>
              </a:path>
            </a:pathLst>
          </a:custGeom>
          <a:solidFill>
            <a:srgbClr val="BBE2EE"/>
          </a:solidFill>
          <a:ln w="9525">
            <a:noFill/>
            <a:round/>
            <a:headEnd/>
            <a:tailEnd/>
          </a:ln>
        </p:spPr>
        <p:txBody>
          <a:bodyPr/>
          <a:lstStyle/>
          <a:p>
            <a:endParaRPr lang="en-US"/>
          </a:p>
        </p:txBody>
      </p:sp>
      <p:sp>
        <p:nvSpPr>
          <p:cNvPr id="9" name="Freeform 28"/>
          <p:cNvSpPr>
            <a:spLocks/>
          </p:cNvSpPr>
          <p:nvPr/>
        </p:nvSpPr>
        <p:spPr bwMode="auto">
          <a:xfrm>
            <a:off x="3606800" y="4540250"/>
            <a:ext cx="939800" cy="654050"/>
          </a:xfrm>
          <a:custGeom>
            <a:avLst/>
            <a:gdLst>
              <a:gd name="T0" fmla="*/ 0 w 592"/>
              <a:gd name="T1" fmla="*/ 0 h 412"/>
              <a:gd name="T2" fmla="*/ 0 w 592"/>
              <a:gd name="T3" fmla="*/ 2147483647 h 412"/>
              <a:gd name="T4" fmla="*/ 2147483647 w 592"/>
              <a:gd name="T5" fmla="*/ 2147483647 h 412"/>
              <a:gd name="T6" fmla="*/ 2147483647 w 592"/>
              <a:gd name="T7" fmla="*/ 2147483647 h 412"/>
              <a:gd name="T8" fmla="*/ 0 w 592"/>
              <a:gd name="T9" fmla="*/ 0 h 412"/>
              <a:gd name="T10" fmla="*/ 0 60000 65536"/>
              <a:gd name="T11" fmla="*/ 0 60000 65536"/>
              <a:gd name="T12" fmla="*/ 0 60000 65536"/>
              <a:gd name="T13" fmla="*/ 0 60000 65536"/>
              <a:gd name="T14" fmla="*/ 0 60000 65536"/>
              <a:gd name="T15" fmla="*/ 0 w 592"/>
              <a:gd name="T16" fmla="*/ 0 h 412"/>
              <a:gd name="T17" fmla="*/ 592 w 592"/>
              <a:gd name="T18" fmla="*/ 412 h 412"/>
            </a:gdLst>
            <a:ahLst/>
            <a:cxnLst>
              <a:cxn ang="T10">
                <a:pos x="T0" y="T1"/>
              </a:cxn>
              <a:cxn ang="T11">
                <a:pos x="T2" y="T3"/>
              </a:cxn>
              <a:cxn ang="T12">
                <a:pos x="T4" y="T5"/>
              </a:cxn>
              <a:cxn ang="T13">
                <a:pos x="T6" y="T7"/>
              </a:cxn>
              <a:cxn ang="T14">
                <a:pos x="T8" y="T9"/>
              </a:cxn>
            </a:cxnLst>
            <a:rect l="T15" t="T16" r="T17" b="T18"/>
            <a:pathLst>
              <a:path w="592" h="412">
                <a:moveTo>
                  <a:pt x="0" y="0"/>
                </a:moveTo>
                <a:lnTo>
                  <a:pt x="0" y="412"/>
                </a:lnTo>
                <a:lnTo>
                  <a:pt x="592" y="412"/>
                </a:lnTo>
                <a:lnTo>
                  <a:pt x="532" y="280"/>
                </a:lnTo>
                <a:lnTo>
                  <a:pt x="0" y="0"/>
                </a:lnTo>
                <a:close/>
              </a:path>
            </a:pathLst>
          </a:custGeom>
          <a:solidFill>
            <a:srgbClr val="BBE2EE"/>
          </a:solidFill>
          <a:ln w="9525">
            <a:noFill/>
            <a:round/>
            <a:headEnd/>
            <a:tailEnd/>
          </a:ln>
        </p:spPr>
        <p:txBody>
          <a:bodyPr/>
          <a:lstStyle/>
          <a:p>
            <a:endParaRPr lang="en-US"/>
          </a:p>
        </p:txBody>
      </p:sp>
      <p:sp>
        <p:nvSpPr>
          <p:cNvPr id="10" name="Line 10"/>
          <p:cNvSpPr>
            <a:spLocks noChangeShapeType="1"/>
          </p:cNvSpPr>
          <p:nvPr/>
        </p:nvSpPr>
        <p:spPr bwMode="auto">
          <a:xfrm>
            <a:off x="1035050" y="3225800"/>
            <a:ext cx="628650" cy="1968500"/>
          </a:xfrm>
          <a:prstGeom prst="line">
            <a:avLst/>
          </a:prstGeom>
          <a:noFill/>
          <a:ln w="38100">
            <a:solidFill>
              <a:schemeClr val="accent1"/>
            </a:solidFill>
            <a:round/>
            <a:headEnd/>
            <a:tailEnd/>
          </a:ln>
        </p:spPr>
        <p:txBody>
          <a:bodyPr/>
          <a:lstStyle/>
          <a:p>
            <a:endParaRPr lang="en-US"/>
          </a:p>
        </p:txBody>
      </p:sp>
      <p:sp>
        <p:nvSpPr>
          <p:cNvPr id="11" name="Line 11"/>
          <p:cNvSpPr>
            <a:spLocks noChangeShapeType="1"/>
          </p:cNvSpPr>
          <p:nvPr/>
        </p:nvSpPr>
        <p:spPr bwMode="auto">
          <a:xfrm>
            <a:off x="1035050" y="4546600"/>
            <a:ext cx="1250950" cy="647700"/>
          </a:xfrm>
          <a:prstGeom prst="line">
            <a:avLst/>
          </a:prstGeom>
          <a:noFill/>
          <a:ln w="38100">
            <a:solidFill>
              <a:schemeClr val="accent1"/>
            </a:solidFill>
            <a:round/>
            <a:headEnd/>
            <a:tailEnd/>
          </a:ln>
        </p:spPr>
        <p:txBody>
          <a:bodyPr/>
          <a:lstStyle/>
          <a:p>
            <a:endParaRPr lang="en-US"/>
          </a:p>
        </p:txBody>
      </p:sp>
      <p:sp>
        <p:nvSpPr>
          <p:cNvPr id="12" name="Text Box 15"/>
          <p:cNvSpPr txBox="1">
            <a:spLocks noChangeArrowheads="1"/>
          </p:cNvSpPr>
          <p:nvPr/>
        </p:nvSpPr>
        <p:spPr bwMode="auto">
          <a:xfrm>
            <a:off x="1158875" y="2430463"/>
            <a:ext cx="1790700" cy="307975"/>
          </a:xfrm>
          <a:prstGeom prst="rect">
            <a:avLst/>
          </a:prstGeom>
          <a:noFill/>
          <a:ln w="9525">
            <a:noFill/>
            <a:miter lim="800000"/>
            <a:headEnd/>
            <a:tailEnd/>
          </a:ln>
        </p:spPr>
        <p:txBody>
          <a:bodyPr wrap="none">
            <a:spAutoFit/>
          </a:bodyPr>
          <a:lstStyle/>
          <a:p>
            <a:r>
              <a:rPr lang="en-US" sz="1400">
                <a:ea typeface="MS PGothic" pitchFamily="34" charset="-128"/>
              </a:rPr>
              <a:t>(a) Original Problem</a:t>
            </a:r>
          </a:p>
        </p:txBody>
      </p:sp>
      <p:grpSp>
        <p:nvGrpSpPr>
          <p:cNvPr id="13" name="Group 87"/>
          <p:cNvGrpSpPr>
            <a:grpSpLocks/>
          </p:cNvGrpSpPr>
          <p:nvPr/>
        </p:nvGrpSpPr>
        <p:grpSpPr bwMode="auto">
          <a:xfrm>
            <a:off x="1225550" y="3663950"/>
            <a:ext cx="1162050" cy="1447800"/>
            <a:chOff x="772" y="2436"/>
            <a:chExt cx="732" cy="912"/>
          </a:xfrm>
        </p:grpSpPr>
        <p:sp>
          <p:nvSpPr>
            <p:cNvPr id="111706" name="Line 18"/>
            <p:cNvSpPr>
              <a:spLocks noChangeShapeType="1"/>
            </p:cNvSpPr>
            <p:nvPr/>
          </p:nvSpPr>
          <p:spPr bwMode="auto">
            <a:xfrm flipH="1">
              <a:off x="772" y="2436"/>
              <a:ext cx="148" cy="64"/>
            </a:xfrm>
            <a:prstGeom prst="line">
              <a:avLst/>
            </a:prstGeom>
            <a:noFill/>
            <a:ln w="38100">
              <a:solidFill>
                <a:schemeClr val="tx1"/>
              </a:solidFill>
              <a:round/>
              <a:headEnd/>
              <a:tailEnd type="triangle" w="sm" len="med"/>
            </a:ln>
          </p:spPr>
          <p:txBody>
            <a:bodyPr/>
            <a:lstStyle/>
            <a:p>
              <a:endParaRPr lang="en-US"/>
            </a:p>
          </p:txBody>
        </p:sp>
        <p:sp>
          <p:nvSpPr>
            <p:cNvPr id="111707" name="Line 19"/>
            <p:cNvSpPr>
              <a:spLocks noChangeShapeType="1"/>
            </p:cNvSpPr>
            <p:nvPr/>
          </p:nvSpPr>
          <p:spPr bwMode="auto">
            <a:xfrm flipH="1">
              <a:off x="776" y="2836"/>
              <a:ext cx="268" cy="96"/>
            </a:xfrm>
            <a:prstGeom prst="line">
              <a:avLst/>
            </a:prstGeom>
            <a:noFill/>
            <a:ln w="38100">
              <a:solidFill>
                <a:schemeClr val="tx1"/>
              </a:solidFill>
              <a:round/>
              <a:headEnd/>
              <a:tailEnd type="triangle" w="sm" len="med"/>
            </a:ln>
          </p:spPr>
          <p:txBody>
            <a:bodyPr/>
            <a:lstStyle/>
            <a:p>
              <a:endParaRPr lang="en-US"/>
            </a:p>
          </p:txBody>
        </p:sp>
        <p:sp>
          <p:nvSpPr>
            <p:cNvPr id="111708" name="Line 20"/>
            <p:cNvSpPr>
              <a:spLocks noChangeShapeType="1"/>
            </p:cNvSpPr>
            <p:nvPr/>
          </p:nvSpPr>
          <p:spPr bwMode="auto">
            <a:xfrm flipH="1">
              <a:off x="1376" y="3236"/>
              <a:ext cx="128" cy="112"/>
            </a:xfrm>
            <a:prstGeom prst="line">
              <a:avLst/>
            </a:prstGeom>
            <a:noFill/>
            <a:ln w="38100">
              <a:solidFill>
                <a:schemeClr val="tx1"/>
              </a:solidFill>
              <a:round/>
              <a:headEnd/>
              <a:tailEnd type="triangle" w="sm" len="med"/>
            </a:ln>
          </p:spPr>
          <p:txBody>
            <a:bodyPr/>
            <a:lstStyle/>
            <a:p>
              <a:endParaRPr lang="en-US"/>
            </a:p>
          </p:txBody>
        </p:sp>
      </p:grpSp>
      <p:grpSp>
        <p:nvGrpSpPr>
          <p:cNvPr id="17" name="Group 86"/>
          <p:cNvGrpSpPr>
            <a:grpSpLocks/>
          </p:cNvGrpSpPr>
          <p:nvPr/>
        </p:nvGrpSpPr>
        <p:grpSpPr bwMode="auto">
          <a:xfrm>
            <a:off x="1444625" y="3490913"/>
            <a:ext cx="1879600" cy="1457325"/>
            <a:chOff x="910" y="2327"/>
            <a:chExt cx="1184" cy="918"/>
          </a:xfrm>
        </p:grpSpPr>
        <p:sp>
          <p:nvSpPr>
            <p:cNvPr id="111703" name="Text Box 16"/>
            <p:cNvSpPr txBox="1">
              <a:spLocks noChangeArrowheads="1"/>
            </p:cNvSpPr>
            <p:nvPr/>
          </p:nvSpPr>
          <p:spPr bwMode="auto">
            <a:xfrm>
              <a:off x="910" y="2327"/>
              <a:ext cx="856" cy="194"/>
            </a:xfrm>
            <a:prstGeom prst="rect">
              <a:avLst/>
            </a:prstGeom>
            <a:noFill/>
            <a:ln w="9525">
              <a:noFill/>
              <a:miter lim="800000"/>
              <a:headEnd/>
              <a:tailEnd/>
            </a:ln>
          </p:spPr>
          <p:txBody>
            <a:bodyPr wrap="none">
              <a:spAutoFit/>
            </a:bodyPr>
            <a:lstStyle/>
            <a:p>
              <a:r>
                <a:rPr lang="en-US" sz="1400">
                  <a:ea typeface="MS PGothic" pitchFamily="34" charset="-128"/>
                </a:rPr>
                <a:t>3</a:t>
              </a:r>
              <a:r>
                <a:rPr lang="en-US" sz="1400" i="1">
                  <a:ea typeface="MS PGothic" pitchFamily="34" charset="-128"/>
                </a:rPr>
                <a:t>X</a:t>
              </a:r>
              <a:r>
                <a:rPr lang="en-US" sz="1400" baseline="-25000">
                  <a:ea typeface="MS PGothic" pitchFamily="34" charset="-128"/>
                </a:rPr>
                <a:t>1</a:t>
              </a:r>
              <a:r>
                <a:rPr lang="en-US" sz="1400">
                  <a:ea typeface="MS PGothic" pitchFamily="34" charset="-128"/>
                </a:rPr>
                <a:t> + 1</a:t>
              </a:r>
              <a:r>
                <a:rPr lang="en-US" sz="1400" i="1">
                  <a:ea typeface="MS PGothic" pitchFamily="34" charset="-128"/>
                </a:rPr>
                <a:t>X</a:t>
              </a:r>
              <a:r>
                <a:rPr lang="en-US" sz="1400" baseline="-25000">
                  <a:ea typeface="MS PGothic" pitchFamily="34" charset="-128"/>
                </a:rPr>
                <a:t>2</a:t>
              </a:r>
              <a:r>
                <a:rPr lang="en-US" sz="1400">
                  <a:ea typeface="MS PGothic" pitchFamily="34" charset="-128"/>
                </a:rPr>
                <a:t> ≤ 60</a:t>
              </a:r>
            </a:p>
          </p:txBody>
        </p:sp>
        <p:sp>
          <p:nvSpPr>
            <p:cNvPr id="111704" name="Text Box 17"/>
            <p:cNvSpPr txBox="1">
              <a:spLocks noChangeArrowheads="1"/>
            </p:cNvSpPr>
            <p:nvPr/>
          </p:nvSpPr>
          <p:spPr bwMode="auto">
            <a:xfrm>
              <a:off x="1238" y="3051"/>
              <a:ext cx="856" cy="194"/>
            </a:xfrm>
            <a:prstGeom prst="rect">
              <a:avLst/>
            </a:prstGeom>
            <a:noFill/>
            <a:ln w="9525">
              <a:noFill/>
              <a:miter lim="800000"/>
              <a:headEnd/>
              <a:tailEnd/>
            </a:ln>
          </p:spPr>
          <p:txBody>
            <a:bodyPr wrap="none">
              <a:spAutoFit/>
            </a:bodyPr>
            <a:lstStyle/>
            <a:p>
              <a:r>
                <a:rPr lang="en-US" sz="1400">
                  <a:ea typeface="MS PGothic" pitchFamily="34" charset="-128"/>
                </a:rPr>
                <a:t>2</a:t>
              </a:r>
              <a:r>
                <a:rPr lang="en-US" sz="1400" i="1">
                  <a:ea typeface="MS PGothic" pitchFamily="34" charset="-128"/>
                </a:rPr>
                <a:t>X</a:t>
              </a:r>
              <a:r>
                <a:rPr lang="en-US" sz="1400" baseline="-25000">
                  <a:ea typeface="MS PGothic" pitchFamily="34" charset="-128"/>
                </a:rPr>
                <a:t>1</a:t>
              </a:r>
              <a:r>
                <a:rPr lang="en-US" sz="1400">
                  <a:ea typeface="MS PGothic" pitchFamily="34" charset="-128"/>
                </a:rPr>
                <a:t> + 4</a:t>
              </a:r>
              <a:r>
                <a:rPr lang="en-US" sz="1400" i="1">
                  <a:ea typeface="MS PGothic" pitchFamily="34" charset="-128"/>
                </a:rPr>
                <a:t>X</a:t>
              </a:r>
              <a:r>
                <a:rPr lang="en-US" sz="1400" baseline="-25000">
                  <a:ea typeface="MS PGothic" pitchFamily="34" charset="-128"/>
                </a:rPr>
                <a:t>2</a:t>
              </a:r>
              <a:r>
                <a:rPr lang="en-US" sz="1400">
                  <a:ea typeface="MS PGothic" pitchFamily="34" charset="-128"/>
                </a:rPr>
                <a:t> ≤ 80</a:t>
              </a:r>
            </a:p>
          </p:txBody>
        </p:sp>
        <p:sp>
          <p:nvSpPr>
            <p:cNvPr id="111705" name="Text Box 21"/>
            <p:cNvSpPr txBox="1">
              <a:spLocks noChangeArrowheads="1"/>
            </p:cNvSpPr>
            <p:nvPr/>
          </p:nvSpPr>
          <p:spPr bwMode="auto">
            <a:xfrm>
              <a:off x="1002" y="2674"/>
              <a:ext cx="581" cy="305"/>
            </a:xfrm>
            <a:prstGeom prst="rect">
              <a:avLst/>
            </a:prstGeom>
            <a:noFill/>
            <a:ln w="9525">
              <a:noFill/>
              <a:miter lim="800000"/>
              <a:headEnd/>
              <a:tailEnd/>
            </a:ln>
          </p:spPr>
          <p:txBody>
            <a:bodyPr>
              <a:spAutoFit/>
            </a:bodyPr>
            <a:lstStyle/>
            <a:p>
              <a:pPr>
                <a:lnSpc>
                  <a:spcPct val="90000"/>
                </a:lnSpc>
              </a:pPr>
              <a:r>
                <a:rPr lang="en-US" sz="1400">
                  <a:ea typeface="MS PGothic" pitchFamily="34" charset="-128"/>
                </a:rPr>
                <a:t>Optimal Solution</a:t>
              </a:r>
            </a:p>
          </p:txBody>
        </p:sp>
      </p:grpSp>
      <p:grpSp>
        <p:nvGrpSpPr>
          <p:cNvPr id="21" name="Group 80"/>
          <p:cNvGrpSpPr>
            <a:grpSpLocks/>
          </p:cNvGrpSpPr>
          <p:nvPr/>
        </p:nvGrpSpPr>
        <p:grpSpPr bwMode="auto">
          <a:xfrm>
            <a:off x="350838" y="2714625"/>
            <a:ext cx="2952750" cy="3087688"/>
            <a:chOff x="221" y="1838"/>
            <a:chExt cx="1860" cy="1945"/>
          </a:xfrm>
        </p:grpSpPr>
        <p:sp>
          <p:nvSpPr>
            <p:cNvPr id="111695" name="Text Box 8"/>
            <p:cNvSpPr txBox="1">
              <a:spLocks noChangeArrowheads="1"/>
            </p:cNvSpPr>
            <p:nvPr/>
          </p:nvSpPr>
          <p:spPr bwMode="auto">
            <a:xfrm>
              <a:off x="422" y="1839"/>
              <a:ext cx="247" cy="194"/>
            </a:xfrm>
            <a:prstGeom prst="rect">
              <a:avLst/>
            </a:prstGeom>
            <a:noFill/>
            <a:ln w="9525">
              <a:noFill/>
              <a:miter lim="800000"/>
              <a:headEnd/>
              <a:tailEnd/>
            </a:ln>
          </p:spPr>
          <p:txBody>
            <a:bodyPr wrap="none">
              <a:spAutoFit/>
            </a:bodyPr>
            <a:lstStyle/>
            <a:p>
              <a:r>
                <a:rPr lang="en-US" sz="1400" i="1">
                  <a:ea typeface="MS PGothic" pitchFamily="34" charset="-128"/>
                </a:rPr>
                <a:t>X</a:t>
              </a:r>
              <a:r>
                <a:rPr lang="en-US" sz="1400" baseline="-25000">
                  <a:ea typeface="MS PGothic" pitchFamily="34" charset="-128"/>
                </a:rPr>
                <a:t>2</a:t>
              </a:r>
              <a:endParaRPr lang="en-US" sz="1400">
                <a:ea typeface="MS PGothic" pitchFamily="34" charset="-128"/>
              </a:endParaRPr>
            </a:p>
          </p:txBody>
        </p:sp>
        <p:grpSp>
          <p:nvGrpSpPr>
            <p:cNvPr id="111696" name="Group 77"/>
            <p:cNvGrpSpPr>
              <a:grpSpLocks/>
            </p:cNvGrpSpPr>
            <p:nvPr/>
          </p:nvGrpSpPr>
          <p:grpSpPr bwMode="auto">
            <a:xfrm>
              <a:off x="221" y="1838"/>
              <a:ext cx="1860" cy="1945"/>
              <a:chOff x="221" y="1838"/>
              <a:chExt cx="1860" cy="1945"/>
            </a:xfrm>
          </p:grpSpPr>
          <p:sp>
            <p:nvSpPr>
              <p:cNvPr id="111697" name="Freeform 5"/>
              <p:cNvSpPr>
                <a:spLocks/>
              </p:cNvSpPr>
              <p:nvPr/>
            </p:nvSpPr>
            <p:spPr bwMode="auto">
              <a:xfrm>
                <a:off x="652" y="1896"/>
                <a:ext cx="1376" cy="1508"/>
              </a:xfrm>
              <a:custGeom>
                <a:avLst/>
                <a:gdLst>
                  <a:gd name="T0" fmla="*/ 0 w 1452"/>
                  <a:gd name="T1" fmla="*/ 0 h 1508"/>
                  <a:gd name="T2" fmla="*/ 0 w 1452"/>
                  <a:gd name="T3" fmla="*/ 1508 h 1508"/>
                  <a:gd name="T4" fmla="*/ 1110 w 1452"/>
                  <a:gd name="T5" fmla="*/ 1508 h 1508"/>
                  <a:gd name="T6" fmla="*/ 0 60000 65536"/>
                  <a:gd name="T7" fmla="*/ 0 60000 65536"/>
                  <a:gd name="T8" fmla="*/ 0 60000 65536"/>
                  <a:gd name="T9" fmla="*/ 0 w 1452"/>
                  <a:gd name="T10" fmla="*/ 0 h 1508"/>
                  <a:gd name="T11" fmla="*/ 1452 w 1452"/>
                  <a:gd name="T12" fmla="*/ 1508 h 1508"/>
                </a:gdLst>
                <a:ahLst/>
                <a:cxnLst>
                  <a:cxn ang="T6">
                    <a:pos x="T0" y="T1"/>
                  </a:cxn>
                  <a:cxn ang="T7">
                    <a:pos x="T2" y="T3"/>
                  </a:cxn>
                  <a:cxn ang="T8">
                    <a:pos x="T4" y="T5"/>
                  </a:cxn>
                </a:cxnLst>
                <a:rect l="T9" t="T10" r="T11" b="T12"/>
                <a:pathLst>
                  <a:path w="1452" h="1508">
                    <a:moveTo>
                      <a:pt x="0" y="0"/>
                    </a:moveTo>
                    <a:lnTo>
                      <a:pt x="0" y="1508"/>
                    </a:lnTo>
                    <a:lnTo>
                      <a:pt x="1452" y="1508"/>
                    </a:lnTo>
                  </a:path>
                </a:pathLst>
              </a:custGeom>
              <a:noFill/>
              <a:ln w="38100" cmpd="sng">
                <a:solidFill>
                  <a:schemeClr val="tx1"/>
                </a:solidFill>
                <a:round/>
                <a:headEnd type="triangle" w="sm" len="med"/>
                <a:tailEnd type="triangle" w="sm" len="med"/>
              </a:ln>
            </p:spPr>
            <p:txBody>
              <a:bodyPr/>
              <a:lstStyle/>
              <a:p>
                <a:endParaRPr lang="en-US"/>
              </a:p>
            </p:txBody>
          </p:sp>
          <p:sp>
            <p:nvSpPr>
              <p:cNvPr id="111698" name="Text Box 6"/>
              <p:cNvSpPr txBox="1">
                <a:spLocks noChangeArrowheads="1"/>
              </p:cNvSpPr>
              <p:nvPr/>
            </p:nvSpPr>
            <p:spPr bwMode="auto">
              <a:xfrm>
                <a:off x="401" y="1838"/>
                <a:ext cx="366" cy="1667"/>
              </a:xfrm>
              <a:prstGeom prst="rect">
                <a:avLst/>
              </a:prstGeom>
              <a:noFill/>
              <a:ln w="9525">
                <a:noFill/>
                <a:miter lim="800000"/>
                <a:headEnd/>
                <a:tailEnd/>
              </a:ln>
            </p:spPr>
            <p:txBody>
              <a:bodyPr wrap="none">
                <a:spAutoFit/>
              </a:bodyPr>
              <a:lstStyle/>
              <a:p>
                <a:pPr algn="r">
                  <a:lnSpc>
                    <a:spcPct val="305000"/>
                  </a:lnSpc>
                </a:pPr>
                <a:r>
                  <a:rPr lang="en-US" sz="1400">
                    <a:ea typeface="MS PGothic" pitchFamily="34" charset="-128"/>
                  </a:rPr>
                  <a:t>60 –</a:t>
                </a:r>
              </a:p>
              <a:p>
                <a:pPr algn="r">
                  <a:lnSpc>
                    <a:spcPct val="305000"/>
                  </a:lnSpc>
                </a:pPr>
                <a:r>
                  <a:rPr lang="en-US" sz="1400">
                    <a:ea typeface="MS PGothic" pitchFamily="34" charset="-128"/>
                  </a:rPr>
                  <a:t>40 –</a:t>
                </a:r>
              </a:p>
              <a:p>
                <a:pPr algn="r">
                  <a:lnSpc>
                    <a:spcPct val="305000"/>
                  </a:lnSpc>
                </a:pPr>
                <a:r>
                  <a:rPr lang="en-US" sz="1400">
                    <a:ea typeface="MS PGothic" pitchFamily="34" charset="-128"/>
                  </a:rPr>
                  <a:t>20 –</a:t>
                </a:r>
              </a:p>
              <a:p>
                <a:pPr algn="r">
                  <a:lnSpc>
                    <a:spcPct val="305000"/>
                  </a:lnSpc>
                </a:pPr>
                <a:r>
                  <a:rPr lang="en-US" sz="1400">
                    <a:ea typeface="MS PGothic" pitchFamily="34" charset="-128"/>
                  </a:rPr>
                  <a:t> </a:t>
                </a:r>
              </a:p>
            </p:txBody>
          </p:sp>
          <p:sp>
            <p:nvSpPr>
              <p:cNvPr id="111699" name="Text Box 7"/>
              <p:cNvSpPr txBox="1">
                <a:spLocks noChangeArrowheads="1"/>
              </p:cNvSpPr>
              <p:nvPr/>
            </p:nvSpPr>
            <p:spPr bwMode="auto">
              <a:xfrm>
                <a:off x="370" y="3287"/>
                <a:ext cx="1711" cy="288"/>
              </a:xfrm>
              <a:prstGeom prst="rect">
                <a:avLst/>
              </a:prstGeom>
              <a:noFill/>
              <a:ln w="9525">
                <a:noFill/>
                <a:miter lim="800000"/>
                <a:headEnd/>
                <a:tailEnd/>
              </a:ln>
            </p:spPr>
            <p:txBody>
              <a:bodyPr>
                <a:spAutoFit/>
              </a:bodyPr>
              <a:lstStyle/>
              <a:p>
                <a:pPr>
                  <a:tabLst>
                    <a:tab pos="361950" algn="ctr"/>
                    <a:tab pos="984250" algn="ctr"/>
                    <a:tab pos="1612900" algn="ctr"/>
                    <a:tab pos="2241550" algn="ctr"/>
                  </a:tabLst>
                </a:pPr>
                <a:r>
                  <a:rPr lang="en-US" sz="1000">
                    <a:ea typeface="MS PGothic" pitchFamily="34" charset="-128"/>
                  </a:rPr>
                  <a:t>		|	|	|</a:t>
                </a:r>
              </a:p>
              <a:p>
                <a:pPr>
                  <a:tabLst>
                    <a:tab pos="361950" algn="ctr"/>
                    <a:tab pos="984250" algn="ctr"/>
                    <a:tab pos="1612900" algn="ctr"/>
                    <a:tab pos="2241550" algn="ctr"/>
                  </a:tabLst>
                </a:pPr>
                <a:r>
                  <a:rPr lang="en-US" sz="1400">
                    <a:ea typeface="MS PGothic" pitchFamily="34" charset="-128"/>
                  </a:rPr>
                  <a:t>	0	20	40</a:t>
                </a:r>
              </a:p>
            </p:txBody>
          </p:sp>
          <p:sp>
            <p:nvSpPr>
              <p:cNvPr id="111700" name="Text Box 9"/>
              <p:cNvSpPr txBox="1">
                <a:spLocks noChangeArrowheads="1"/>
              </p:cNvSpPr>
              <p:nvPr/>
            </p:nvSpPr>
            <p:spPr bwMode="auto">
              <a:xfrm>
                <a:off x="1834" y="3415"/>
                <a:ext cx="247" cy="194"/>
              </a:xfrm>
              <a:prstGeom prst="rect">
                <a:avLst/>
              </a:prstGeom>
              <a:noFill/>
              <a:ln w="9525">
                <a:noFill/>
                <a:miter lim="800000"/>
                <a:headEnd/>
                <a:tailEnd/>
              </a:ln>
            </p:spPr>
            <p:txBody>
              <a:bodyPr wrap="none">
                <a:spAutoFit/>
              </a:bodyPr>
              <a:lstStyle/>
              <a:p>
                <a:r>
                  <a:rPr lang="en-US" sz="1400" i="1">
                    <a:ea typeface="MS PGothic" pitchFamily="34" charset="-128"/>
                  </a:rPr>
                  <a:t>X</a:t>
                </a:r>
                <a:r>
                  <a:rPr lang="en-US" sz="1400" baseline="-25000">
                    <a:ea typeface="MS PGothic" pitchFamily="34" charset="-128"/>
                  </a:rPr>
                  <a:t>1</a:t>
                </a:r>
                <a:endParaRPr lang="en-US" sz="1400">
                  <a:ea typeface="MS PGothic" pitchFamily="34" charset="-128"/>
                </a:endParaRPr>
              </a:p>
            </p:txBody>
          </p:sp>
          <p:sp>
            <p:nvSpPr>
              <p:cNvPr id="111701" name="Text Box 22"/>
              <p:cNvSpPr txBox="1">
                <a:spLocks noChangeArrowheads="1"/>
              </p:cNvSpPr>
              <p:nvPr/>
            </p:nvSpPr>
            <p:spPr bwMode="auto">
              <a:xfrm rot="-5400000">
                <a:off x="-174" y="2575"/>
                <a:ext cx="984" cy="194"/>
              </a:xfrm>
              <a:prstGeom prst="rect">
                <a:avLst/>
              </a:prstGeom>
              <a:noFill/>
              <a:ln w="9525">
                <a:noFill/>
                <a:miter lim="800000"/>
                <a:headEnd/>
                <a:tailEnd/>
              </a:ln>
            </p:spPr>
            <p:txBody>
              <a:bodyPr wrap="none">
                <a:spAutoFit/>
              </a:bodyPr>
              <a:lstStyle/>
              <a:p>
                <a:r>
                  <a:rPr lang="en-US" sz="1400">
                    <a:ea typeface="MS PGothic" pitchFamily="34" charset="-128"/>
                  </a:rPr>
                  <a:t>Stereo Receivers</a:t>
                </a:r>
              </a:p>
            </p:txBody>
          </p:sp>
          <p:sp>
            <p:nvSpPr>
              <p:cNvPr id="111702" name="Text Box 23"/>
              <p:cNvSpPr txBox="1">
                <a:spLocks noChangeArrowheads="1"/>
              </p:cNvSpPr>
              <p:nvPr/>
            </p:nvSpPr>
            <p:spPr bwMode="auto">
              <a:xfrm>
                <a:off x="930" y="3591"/>
                <a:ext cx="707" cy="192"/>
              </a:xfrm>
              <a:prstGeom prst="rect">
                <a:avLst/>
              </a:prstGeom>
              <a:noFill/>
              <a:ln w="9525">
                <a:noFill/>
                <a:miter lim="800000"/>
                <a:headEnd/>
                <a:tailEnd/>
              </a:ln>
            </p:spPr>
            <p:txBody>
              <a:bodyPr wrap="none">
                <a:spAutoFit/>
              </a:bodyPr>
              <a:lstStyle/>
              <a:p>
                <a:r>
                  <a:rPr lang="en-US" sz="1400">
                    <a:ea typeface="MS PGothic" pitchFamily="34" charset="-128"/>
                  </a:rPr>
                  <a:t>CD Players</a:t>
                </a:r>
              </a:p>
            </p:txBody>
          </p:sp>
        </p:grpSp>
      </p:grpSp>
      <p:sp>
        <p:nvSpPr>
          <p:cNvPr id="30" name="Line 34"/>
          <p:cNvSpPr>
            <a:spLocks noChangeShapeType="1"/>
          </p:cNvSpPr>
          <p:nvPr/>
        </p:nvSpPr>
        <p:spPr bwMode="auto">
          <a:xfrm>
            <a:off x="3613150" y="3225800"/>
            <a:ext cx="946150" cy="1981200"/>
          </a:xfrm>
          <a:prstGeom prst="line">
            <a:avLst/>
          </a:prstGeom>
          <a:noFill/>
          <a:ln w="38100">
            <a:solidFill>
              <a:schemeClr val="accent1"/>
            </a:solidFill>
            <a:round/>
            <a:headEnd/>
            <a:tailEnd/>
          </a:ln>
        </p:spPr>
        <p:txBody>
          <a:bodyPr/>
          <a:lstStyle/>
          <a:p>
            <a:endParaRPr lang="en-US"/>
          </a:p>
        </p:txBody>
      </p:sp>
      <p:sp>
        <p:nvSpPr>
          <p:cNvPr id="31" name="Line 35"/>
          <p:cNvSpPr>
            <a:spLocks noChangeShapeType="1"/>
          </p:cNvSpPr>
          <p:nvPr/>
        </p:nvSpPr>
        <p:spPr bwMode="auto">
          <a:xfrm>
            <a:off x="3613150" y="4546600"/>
            <a:ext cx="1250950" cy="647700"/>
          </a:xfrm>
          <a:prstGeom prst="line">
            <a:avLst/>
          </a:prstGeom>
          <a:noFill/>
          <a:ln w="38100">
            <a:solidFill>
              <a:schemeClr val="accent1"/>
            </a:solidFill>
            <a:round/>
            <a:headEnd/>
            <a:tailEnd/>
          </a:ln>
        </p:spPr>
        <p:txBody>
          <a:bodyPr/>
          <a:lstStyle/>
          <a:p>
            <a:endParaRPr lang="en-US"/>
          </a:p>
        </p:txBody>
      </p:sp>
      <p:sp>
        <p:nvSpPr>
          <p:cNvPr id="32" name="Text Box 39"/>
          <p:cNvSpPr txBox="1">
            <a:spLocks noChangeArrowheads="1"/>
          </p:cNvSpPr>
          <p:nvPr/>
        </p:nvSpPr>
        <p:spPr bwMode="auto">
          <a:xfrm>
            <a:off x="3736975" y="2430463"/>
            <a:ext cx="2005013" cy="484187"/>
          </a:xfrm>
          <a:prstGeom prst="rect">
            <a:avLst/>
          </a:prstGeom>
          <a:noFill/>
          <a:ln w="9525">
            <a:noFill/>
            <a:miter lim="800000"/>
            <a:headEnd/>
            <a:tailEnd/>
          </a:ln>
        </p:spPr>
        <p:txBody>
          <a:bodyPr>
            <a:spAutoFit/>
          </a:bodyPr>
          <a:lstStyle/>
          <a:p>
            <a:pPr marL="266700" indent="-266700">
              <a:lnSpc>
                <a:spcPct val="90000"/>
              </a:lnSpc>
            </a:pPr>
            <a:r>
              <a:rPr lang="en-US" sz="1400">
                <a:ea typeface="MS PGothic" pitchFamily="34" charset="-128"/>
              </a:rPr>
              <a:t>(b)	Change in Circled Coefficient</a:t>
            </a:r>
          </a:p>
        </p:txBody>
      </p:sp>
      <p:grpSp>
        <p:nvGrpSpPr>
          <p:cNvPr id="33" name="Group 88"/>
          <p:cNvGrpSpPr>
            <a:grpSpLocks/>
          </p:cNvGrpSpPr>
          <p:nvPr/>
        </p:nvGrpSpPr>
        <p:grpSpPr bwMode="auto">
          <a:xfrm>
            <a:off x="4162425" y="3465513"/>
            <a:ext cx="1739900" cy="1482725"/>
            <a:chOff x="2598" y="2311"/>
            <a:chExt cx="1096" cy="934"/>
          </a:xfrm>
        </p:grpSpPr>
        <p:grpSp>
          <p:nvGrpSpPr>
            <p:cNvPr id="111690" name="Group 85"/>
            <p:cNvGrpSpPr>
              <a:grpSpLocks/>
            </p:cNvGrpSpPr>
            <p:nvPr/>
          </p:nvGrpSpPr>
          <p:grpSpPr bwMode="auto">
            <a:xfrm>
              <a:off x="2598" y="2311"/>
              <a:ext cx="919" cy="194"/>
              <a:chOff x="2598" y="2311"/>
              <a:chExt cx="919" cy="194"/>
            </a:xfrm>
          </p:grpSpPr>
          <p:sp>
            <p:nvSpPr>
              <p:cNvPr id="111693" name="Text Box 40"/>
              <p:cNvSpPr txBox="1">
                <a:spLocks noChangeArrowheads="1"/>
              </p:cNvSpPr>
              <p:nvPr/>
            </p:nvSpPr>
            <p:spPr bwMode="auto">
              <a:xfrm>
                <a:off x="2598" y="2311"/>
                <a:ext cx="919" cy="194"/>
              </a:xfrm>
              <a:prstGeom prst="rect">
                <a:avLst/>
              </a:prstGeom>
              <a:noFill/>
              <a:ln w="9525">
                <a:noFill/>
                <a:miter lim="800000"/>
                <a:headEnd/>
                <a:tailEnd/>
              </a:ln>
            </p:spPr>
            <p:txBody>
              <a:bodyPr wrap="none">
                <a:spAutoFit/>
              </a:bodyPr>
              <a:lstStyle/>
              <a:p>
                <a:r>
                  <a:rPr lang="en-US" sz="1400">
                    <a:ea typeface="MS PGothic" pitchFamily="34" charset="-128"/>
                  </a:rPr>
                  <a:t>2  </a:t>
                </a:r>
                <a:r>
                  <a:rPr lang="en-US" sz="1400" i="1">
                    <a:ea typeface="MS PGothic" pitchFamily="34" charset="-128"/>
                  </a:rPr>
                  <a:t>X</a:t>
                </a:r>
                <a:r>
                  <a:rPr lang="en-US" sz="1400" baseline="-25000">
                    <a:ea typeface="MS PGothic" pitchFamily="34" charset="-128"/>
                  </a:rPr>
                  <a:t>1</a:t>
                </a:r>
                <a:r>
                  <a:rPr lang="en-US" sz="1400">
                    <a:ea typeface="MS PGothic" pitchFamily="34" charset="-128"/>
                  </a:rPr>
                  <a:t> + 1</a:t>
                </a:r>
                <a:r>
                  <a:rPr lang="en-US" sz="1400" i="1">
                    <a:ea typeface="MS PGothic" pitchFamily="34" charset="-128"/>
                  </a:rPr>
                  <a:t>X</a:t>
                </a:r>
                <a:r>
                  <a:rPr lang="en-US" sz="1400" baseline="-25000">
                    <a:ea typeface="MS PGothic" pitchFamily="34" charset="-128"/>
                  </a:rPr>
                  <a:t>2</a:t>
                </a:r>
                <a:r>
                  <a:rPr lang="en-US" sz="1400">
                    <a:ea typeface="MS PGothic" pitchFamily="34" charset="-128"/>
                  </a:rPr>
                  <a:t> ≤ 60</a:t>
                </a:r>
              </a:p>
            </p:txBody>
          </p:sp>
          <p:sp>
            <p:nvSpPr>
              <p:cNvPr id="111694" name="Oval 71"/>
              <p:cNvSpPr>
                <a:spLocks noChangeArrowheads="1"/>
              </p:cNvSpPr>
              <p:nvPr/>
            </p:nvSpPr>
            <p:spPr bwMode="auto">
              <a:xfrm>
                <a:off x="2609" y="2335"/>
                <a:ext cx="152" cy="152"/>
              </a:xfrm>
              <a:prstGeom prst="ellipse">
                <a:avLst/>
              </a:prstGeom>
              <a:noFill/>
              <a:ln w="38100">
                <a:solidFill>
                  <a:schemeClr val="tx1"/>
                </a:solidFill>
                <a:prstDash val="sysDot"/>
                <a:round/>
                <a:headEnd/>
                <a:tailEnd/>
              </a:ln>
            </p:spPr>
            <p:txBody>
              <a:bodyPr wrap="none" anchor="ctr"/>
              <a:lstStyle/>
              <a:p>
                <a:endParaRPr lang="en-US"/>
              </a:p>
            </p:txBody>
          </p:sp>
        </p:grpSp>
        <p:sp>
          <p:nvSpPr>
            <p:cNvPr id="111691" name="Text Box 41"/>
            <p:cNvSpPr txBox="1">
              <a:spLocks noChangeArrowheads="1"/>
            </p:cNvSpPr>
            <p:nvPr/>
          </p:nvSpPr>
          <p:spPr bwMode="auto">
            <a:xfrm>
              <a:off x="2838" y="3051"/>
              <a:ext cx="856" cy="194"/>
            </a:xfrm>
            <a:prstGeom prst="rect">
              <a:avLst/>
            </a:prstGeom>
            <a:noFill/>
            <a:ln w="9525">
              <a:noFill/>
              <a:miter lim="800000"/>
              <a:headEnd/>
              <a:tailEnd/>
            </a:ln>
          </p:spPr>
          <p:txBody>
            <a:bodyPr wrap="none">
              <a:spAutoFit/>
            </a:bodyPr>
            <a:lstStyle/>
            <a:p>
              <a:r>
                <a:rPr lang="en-US" sz="1400">
                  <a:ea typeface="MS PGothic" pitchFamily="34" charset="-128"/>
                </a:rPr>
                <a:t>2</a:t>
              </a:r>
              <a:r>
                <a:rPr lang="en-US" sz="1400" i="1">
                  <a:ea typeface="MS PGothic" pitchFamily="34" charset="-128"/>
                </a:rPr>
                <a:t>X</a:t>
              </a:r>
              <a:r>
                <a:rPr lang="en-US" sz="1400" baseline="-25000">
                  <a:ea typeface="MS PGothic" pitchFamily="34" charset="-128"/>
                </a:rPr>
                <a:t>1</a:t>
              </a:r>
              <a:r>
                <a:rPr lang="en-US" sz="1400">
                  <a:ea typeface="MS PGothic" pitchFamily="34" charset="-128"/>
                </a:rPr>
                <a:t> + 4</a:t>
              </a:r>
              <a:r>
                <a:rPr lang="en-US" sz="1400" i="1">
                  <a:ea typeface="MS PGothic" pitchFamily="34" charset="-128"/>
                </a:rPr>
                <a:t>X</a:t>
              </a:r>
              <a:r>
                <a:rPr lang="en-US" sz="1400" baseline="-25000">
                  <a:ea typeface="MS PGothic" pitchFamily="34" charset="-128"/>
                </a:rPr>
                <a:t>2</a:t>
              </a:r>
              <a:r>
                <a:rPr lang="en-US" sz="1400">
                  <a:ea typeface="MS PGothic" pitchFamily="34" charset="-128"/>
                </a:rPr>
                <a:t> ≤ 80</a:t>
              </a:r>
            </a:p>
          </p:txBody>
        </p:sp>
        <p:sp>
          <p:nvSpPr>
            <p:cNvPr id="111692" name="Text Box 45"/>
            <p:cNvSpPr txBox="1">
              <a:spLocks noChangeArrowheads="1"/>
            </p:cNvSpPr>
            <p:nvPr/>
          </p:nvSpPr>
          <p:spPr bwMode="auto">
            <a:xfrm>
              <a:off x="2602" y="2674"/>
              <a:ext cx="581" cy="305"/>
            </a:xfrm>
            <a:prstGeom prst="rect">
              <a:avLst/>
            </a:prstGeom>
            <a:noFill/>
            <a:ln w="9525">
              <a:noFill/>
              <a:miter lim="800000"/>
              <a:headEnd/>
              <a:tailEnd/>
            </a:ln>
          </p:spPr>
          <p:txBody>
            <a:bodyPr>
              <a:spAutoFit/>
            </a:bodyPr>
            <a:lstStyle/>
            <a:p>
              <a:pPr>
                <a:lnSpc>
                  <a:spcPct val="90000"/>
                </a:lnSpc>
              </a:pPr>
              <a:r>
                <a:rPr lang="en-US" sz="1400">
                  <a:ea typeface="MS PGothic" pitchFamily="34" charset="-128"/>
                </a:rPr>
                <a:t>Still Optimal</a:t>
              </a:r>
            </a:p>
          </p:txBody>
        </p:sp>
      </p:grpSp>
      <p:sp>
        <p:nvSpPr>
          <p:cNvPr id="39" name="Line 55"/>
          <p:cNvSpPr>
            <a:spLocks noChangeShapeType="1"/>
          </p:cNvSpPr>
          <p:nvPr/>
        </p:nvSpPr>
        <p:spPr bwMode="auto">
          <a:xfrm>
            <a:off x="6343650" y="3225800"/>
            <a:ext cx="628650" cy="1968500"/>
          </a:xfrm>
          <a:prstGeom prst="line">
            <a:avLst/>
          </a:prstGeom>
          <a:noFill/>
          <a:ln w="38100">
            <a:solidFill>
              <a:schemeClr val="accent1"/>
            </a:solidFill>
            <a:round/>
            <a:headEnd/>
            <a:tailEnd/>
          </a:ln>
        </p:spPr>
        <p:txBody>
          <a:bodyPr/>
          <a:lstStyle/>
          <a:p>
            <a:endParaRPr lang="en-US"/>
          </a:p>
        </p:txBody>
      </p:sp>
      <p:sp>
        <p:nvSpPr>
          <p:cNvPr id="40" name="Line 56"/>
          <p:cNvSpPr>
            <a:spLocks noChangeShapeType="1"/>
          </p:cNvSpPr>
          <p:nvPr/>
        </p:nvSpPr>
        <p:spPr bwMode="auto">
          <a:xfrm>
            <a:off x="6343650" y="4705350"/>
            <a:ext cx="1250950" cy="488950"/>
          </a:xfrm>
          <a:prstGeom prst="line">
            <a:avLst/>
          </a:prstGeom>
          <a:noFill/>
          <a:ln w="38100">
            <a:solidFill>
              <a:schemeClr val="accent1"/>
            </a:solidFill>
            <a:round/>
            <a:headEnd/>
            <a:tailEnd/>
          </a:ln>
        </p:spPr>
        <p:txBody>
          <a:bodyPr/>
          <a:lstStyle/>
          <a:p>
            <a:endParaRPr lang="en-US"/>
          </a:p>
        </p:txBody>
      </p:sp>
      <p:grpSp>
        <p:nvGrpSpPr>
          <p:cNvPr id="41" name="Group 90"/>
          <p:cNvGrpSpPr>
            <a:grpSpLocks/>
          </p:cNvGrpSpPr>
          <p:nvPr/>
        </p:nvGrpSpPr>
        <p:grpSpPr bwMode="auto">
          <a:xfrm>
            <a:off x="6534150" y="3663950"/>
            <a:ext cx="1162050" cy="1371600"/>
            <a:chOff x="3956" y="2436"/>
            <a:chExt cx="732" cy="864"/>
          </a:xfrm>
        </p:grpSpPr>
        <p:sp>
          <p:nvSpPr>
            <p:cNvPr id="111687" name="Line 63"/>
            <p:cNvSpPr>
              <a:spLocks noChangeShapeType="1"/>
            </p:cNvSpPr>
            <p:nvPr/>
          </p:nvSpPr>
          <p:spPr bwMode="auto">
            <a:xfrm flipH="1">
              <a:off x="3956" y="2436"/>
              <a:ext cx="148" cy="64"/>
            </a:xfrm>
            <a:prstGeom prst="line">
              <a:avLst/>
            </a:prstGeom>
            <a:noFill/>
            <a:ln w="38100">
              <a:solidFill>
                <a:schemeClr val="tx1"/>
              </a:solidFill>
              <a:round/>
              <a:headEnd/>
              <a:tailEnd type="triangle" w="sm" len="med"/>
            </a:ln>
          </p:spPr>
          <p:txBody>
            <a:bodyPr/>
            <a:lstStyle/>
            <a:p>
              <a:endParaRPr lang="en-US"/>
            </a:p>
          </p:txBody>
        </p:sp>
        <p:sp>
          <p:nvSpPr>
            <p:cNvPr id="111688" name="Line 64"/>
            <p:cNvSpPr>
              <a:spLocks noChangeShapeType="1"/>
            </p:cNvSpPr>
            <p:nvPr/>
          </p:nvSpPr>
          <p:spPr bwMode="auto">
            <a:xfrm flipH="1">
              <a:off x="4276" y="2936"/>
              <a:ext cx="192" cy="156"/>
            </a:xfrm>
            <a:prstGeom prst="line">
              <a:avLst/>
            </a:prstGeom>
            <a:noFill/>
            <a:ln w="38100">
              <a:solidFill>
                <a:schemeClr val="tx1"/>
              </a:solidFill>
              <a:round/>
              <a:headEnd/>
              <a:tailEnd type="triangle" w="sm" len="med"/>
            </a:ln>
          </p:spPr>
          <p:txBody>
            <a:bodyPr/>
            <a:lstStyle/>
            <a:p>
              <a:endParaRPr lang="en-US"/>
            </a:p>
          </p:txBody>
        </p:sp>
        <p:sp>
          <p:nvSpPr>
            <p:cNvPr id="111689" name="Line 65"/>
            <p:cNvSpPr>
              <a:spLocks noChangeShapeType="1"/>
            </p:cNvSpPr>
            <p:nvPr/>
          </p:nvSpPr>
          <p:spPr bwMode="auto">
            <a:xfrm flipH="1">
              <a:off x="4472" y="3236"/>
              <a:ext cx="216" cy="64"/>
            </a:xfrm>
            <a:prstGeom prst="line">
              <a:avLst/>
            </a:prstGeom>
            <a:noFill/>
            <a:ln w="38100">
              <a:solidFill>
                <a:schemeClr val="tx1"/>
              </a:solidFill>
              <a:round/>
              <a:headEnd/>
              <a:tailEnd type="triangle" w="sm" len="med"/>
            </a:ln>
          </p:spPr>
          <p:txBody>
            <a:bodyPr/>
            <a:lstStyle/>
            <a:p>
              <a:endParaRPr lang="en-US"/>
            </a:p>
          </p:txBody>
        </p:sp>
      </p:grpSp>
      <p:grpSp>
        <p:nvGrpSpPr>
          <p:cNvPr id="45" name="Group 91"/>
          <p:cNvGrpSpPr>
            <a:grpSpLocks/>
          </p:cNvGrpSpPr>
          <p:nvPr/>
        </p:nvGrpSpPr>
        <p:grpSpPr bwMode="auto">
          <a:xfrm>
            <a:off x="6753225" y="3490913"/>
            <a:ext cx="2030413" cy="1457325"/>
            <a:chOff x="4094" y="2327"/>
            <a:chExt cx="1279" cy="918"/>
          </a:xfrm>
        </p:grpSpPr>
        <p:sp>
          <p:nvSpPr>
            <p:cNvPr id="111682" name="Text Box 61"/>
            <p:cNvSpPr txBox="1">
              <a:spLocks noChangeArrowheads="1"/>
            </p:cNvSpPr>
            <p:nvPr/>
          </p:nvSpPr>
          <p:spPr bwMode="auto">
            <a:xfrm>
              <a:off x="4094" y="2327"/>
              <a:ext cx="856" cy="194"/>
            </a:xfrm>
            <a:prstGeom prst="rect">
              <a:avLst/>
            </a:prstGeom>
            <a:noFill/>
            <a:ln w="9525">
              <a:noFill/>
              <a:miter lim="800000"/>
              <a:headEnd/>
              <a:tailEnd/>
            </a:ln>
          </p:spPr>
          <p:txBody>
            <a:bodyPr wrap="none">
              <a:spAutoFit/>
            </a:bodyPr>
            <a:lstStyle/>
            <a:p>
              <a:r>
                <a:rPr lang="en-US" sz="1400">
                  <a:ea typeface="MS PGothic" pitchFamily="34" charset="-128"/>
                </a:rPr>
                <a:t>3</a:t>
              </a:r>
              <a:r>
                <a:rPr lang="en-US" sz="1400" i="1">
                  <a:ea typeface="MS PGothic" pitchFamily="34" charset="-128"/>
                </a:rPr>
                <a:t>X</a:t>
              </a:r>
              <a:r>
                <a:rPr lang="en-US" sz="1400" baseline="-25000">
                  <a:ea typeface="MS PGothic" pitchFamily="34" charset="-128"/>
                </a:rPr>
                <a:t>1</a:t>
              </a:r>
              <a:r>
                <a:rPr lang="en-US" sz="1400">
                  <a:ea typeface="MS PGothic" pitchFamily="34" charset="-128"/>
                </a:rPr>
                <a:t> + 1</a:t>
              </a:r>
              <a:r>
                <a:rPr lang="en-US" sz="1400" i="1">
                  <a:ea typeface="MS PGothic" pitchFamily="34" charset="-128"/>
                </a:rPr>
                <a:t>X</a:t>
              </a:r>
              <a:r>
                <a:rPr lang="en-US" sz="1400" baseline="-25000">
                  <a:ea typeface="MS PGothic" pitchFamily="34" charset="-128"/>
                </a:rPr>
                <a:t>2</a:t>
              </a:r>
              <a:r>
                <a:rPr lang="en-US" sz="1400">
                  <a:ea typeface="MS PGothic" pitchFamily="34" charset="-128"/>
                </a:rPr>
                <a:t> ≤ 60</a:t>
              </a:r>
            </a:p>
          </p:txBody>
        </p:sp>
        <p:grpSp>
          <p:nvGrpSpPr>
            <p:cNvPr id="111683" name="Group 84"/>
            <p:cNvGrpSpPr>
              <a:grpSpLocks/>
            </p:cNvGrpSpPr>
            <p:nvPr/>
          </p:nvGrpSpPr>
          <p:grpSpPr bwMode="auto">
            <a:xfrm>
              <a:off x="4422" y="3051"/>
              <a:ext cx="951" cy="194"/>
              <a:chOff x="4422" y="3051"/>
              <a:chExt cx="951" cy="194"/>
            </a:xfrm>
          </p:grpSpPr>
          <p:sp>
            <p:nvSpPr>
              <p:cNvPr id="111685" name="Text Box 62"/>
              <p:cNvSpPr txBox="1">
                <a:spLocks noChangeArrowheads="1"/>
              </p:cNvSpPr>
              <p:nvPr/>
            </p:nvSpPr>
            <p:spPr bwMode="auto">
              <a:xfrm>
                <a:off x="4422" y="3051"/>
                <a:ext cx="951" cy="194"/>
              </a:xfrm>
              <a:prstGeom prst="rect">
                <a:avLst/>
              </a:prstGeom>
              <a:noFill/>
              <a:ln w="9525">
                <a:noFill/>
                <a:miter lim="800000"/>
                <a:headEnd/>
                <a:tailEnd/>
              </a:ln>
            </p:spPr>
            <p:txBody>
              <a:bodyPr wrap="none">
                <a:spAutoFit/>
              </a:bodyPr>
              <a:lstStyle/>
              <a:p>
                <a:r>
                  <a:rPr lang="en-US" sz="1400">
                    <a:ea typeface="MS PGothic" pitchFamily="34" charset="-128"/>
                  </a:rPr>
                  <a:t>2</a:t>
                </a:r>
                <a:r>
                  <a:rPr lang="en-US" sz="1400" i="1">
                    <a:ea typeface="MS PGothic" pitchFamily="34" charset="-128"/>
                  </a:rPr>
                  <a:t>X</a:t>
                </a:r>
                <a:r>
                  <a:rPr lang="en-US" sz="1400" baseline="-25000">
                    <a:ea typeface="MS PGothic" pitchFamily="34" charset="-128"/>
                  </a:rPr>
                  <a:t>1</a:t>
                </a:r>
                <a:r>
                  <a:rPr lang="en-US" sz="1400">
                    <a:ea typeface="MS PGothic" pitchFamily="34" charset="-128"/>
                  </a:rPr>
                  <a:t> +  5  </a:t>
                </a:r>
                <a:r>
                  <a:rPr lang="en-US" sz="1400" i="1">
                    <a:ea typeface="MS PGothic" pitchFamily="34" charset="-128"/>
                  </a:rPr>
                  <a:t>X</a:t>
                </a:r>
                <a:r>
                  <a:rPr lang="en-US" sz="1400" baseline="-25000">
                    <a:ea typeface="MS PGothic" pitchFamily="34" charset="-128"/>
                  </a:rPr>
                  <a:t>2</a:t>
                </a:r>
                <a:r>
                  <a:rPr lang="en-US" sz="1400">
                    <a:ea typeface="MS PGothic" pitchFamily="34" charset="-128"/>
                  </a:rPr>
                  <a:t> ≤ 80</a:t>
                </a:r>
              </a:p>
            </p:txBody>
          </p:sp>
          <p:sp>
            <p:nvSpPr>
              <p:cNvPr id="111686" name="Oval 75"/>
              <p:cNvSpPr>
                <a:spLocks noChangeArrowheads="1"/>
              </p:cNvSpPr>
              <p:nvPr/>
            </p:nvSpPr>
            <p:spPr bwMode="auto">
              <a:xfrm>
                <a:off x="4771" y="3077"/>
                <a:ext cx="152" cy="152"/>
              </a:xfrm>
              <a:prstGeom prst="ellipse">
                <a:avLst/>
              </a:prstGeom>
              <a:noFill/>
              <a:ln w="38100">
                <a:solidFill>
                  <a:schemeClr val="tx1"/>
                </a:solidFill>
                <a:prstDash val="sysDot"/>
                <a:round/>
                <a:headEnd/>
                <a:tailEnd/>
              </a:ln>
            </p:spPr>
            <p:txBody>
              <a:bodyPr wrap="none" anchor="ctr"/>
              <a:lstStyle/>
              <a:p>
                <a:endParaRPr lang="en-US"/>
              </a:p>
            </p:txBody>
          </p:sp>
        </p:grpSp>
        <p:sp>
          <p:nvSpPr>
            <p:cNvPr id="111684" name="Text Box 66"/>
            <p:cNvSpPr txBox="1">
              <a:spLocks noChangeArrowheads="1"/>
            </p:cNvSpPr>
            <p:nvPr/>
          </p:nvSpPr>
          <p:spPr bwMode="auto">
            <a:xfrm>
              <a:off x="4186" y="2674"/>
              <a:ext cx="581" cy="305"/>
            </a:xfrm>
            <a:prstGeom prst="rect">
              <a:avLst/>
            </a:prstGeom>
            <a:noFill/>
            <a:ln w="9525">
              <a:noFill/>
              <a:miter lim="800000"/>
              <a:headEnd/>
              <a:tailEnd/>
            </a:ln>
          </p:spPr>
          <p:txBody>
            <a:bodyPr>
              <a:spAutoFit/>
            </a:bodyPr>
            <a:lstStyle/>
            <a:p>
              <a:pPr>
                <a:lnSpc>
                  <a:spcPct val="90000"/>
                </a:lnSpc>
              </a:pPr>
              <a:r>
                <a:rPr lang="en-US" sz="1400">
                  <a:ea typeface="MS PGothic" pitchFamily="34" charset="-128"/>
                </a:rPr>
                <a:t>Optimal Solution</a:t>
              </a:r>
            </a:p>
          </p:txBody>
        </p:sp>
      </p:grpSp>
      <p:grpSp>
        <p:nvGrpSpPr>
          <p:cNvPr id="51" name="Group 97"/>
          <p:cNvGrpSpPr>
            <a:grpSpLocks/>
          </p:cNvGrpSpPr>
          <p:nvPr/>
        </p:nvGrpSpPr>
        <p:grpSpPr bwMode="auto">
          <a:xfrm>
            <a:off x="3810000" y="3676650"/>
            <a:ext cx="1155700" cy="1435100"/>
            <a:chOff x="2376" y="2444"/>
            <a:chExt cx="728" cy="904"/>
          </a:xfrm>
        </p:grpSpPr>
        <p:grpSp>
          <p:nvGrpSpPr>
            <p:cNvPr id="111678" name="Group 89"/>
            <p:cNvGrpSpPr>
              <a:grpSpLocks/>
            </p:cNvGrpSpPr>
            <p:nvPr/>
          </p:nvGrpSpPr>
          <p:grpSpPr bwMode="auto">
            <a:xfrm>
              <a:off x="2436" y="2444"/>
              <a:ext cx="668" cy="904"/>
              <a:chOff x="2436" y="2444"/>
              <a:chExt cx="668" cy="904"/>
            </a:xfrm>
          </p:grpSpPr>
          <p:sp>
            <p:nvSpPr>
              <p:cNvPr id="111680" name="Line 42"/>
              <p:cNvSpPr>
                <a:spLocks noChangeShapeType="1"/>
              </p:cNvSpPr>
              <p:nvPr/>
            </p:nvSpPr>
            <p:spPr bwMode="auto">
              <a:xfrm flipH="1">
                <a:off x="2436" y="2444"/>
                <a:ext cx="148" cy="64"/>
              </a:xfrm>
              <a:prstGeom prst="line">
                <a:avLst/>
              </a:prstGeom>
              <a:noFill/>
              <a:ln w="38100">
                <a:solidFill>
                  <a:schemeClr val="tx1"/>
                </a:solidFill>
                <a:round/>
                <a:headEnd/>
                <a:tailEnd type="triangle" w="sm" len="med"/>
              </a:ln>
            </p:spPr>
            <p:txBody>
              <a:bodyPr/>
              <a:lstStyle/>
              <a:p>
                <a:endParaRPr lang="en-US"/>
              </a:p>
            </p:txBody>
          </p:sp>
          <p:sp>
            <p:nvSpPr>
              <p:cNvPr id="111681" name="Line 44"/>
              <p:cNvSpPr>
                <a:spLocks noChangeShapeType="1"/>
              </p:cNvSpPr>
              <p:nvPr/>
            </p:nvSpPr>
            <p:spPr bwMode="auto">
              <a:xfrm flipH="1">
                <a:off x="2976" y="3236"/>
                <a:ext cx="128" cy="112"/>
              </a:xfrm>
              <a:prstGeom prst="line">
                <a:avLst/>
              </a:prstGeom>
              <a:noFill/>
              <a:ln w="38100">
                <a:solidFill>
                  <a:schemeClr val="tx1"/>
                </a:solidFill>
                <a:round/>
                <a:headEnd/>
                <a:tailEnd type="triangle" w="sm" len="med"/>
              </a:ln>
            </p:spPr>
            <p:txBody>
              <a:bodyPr/>
              <a:lstStyle/>
              <a:p>
                <a:endParaRPr lang="en-US"/>
              </a:p>
            </p:txBody>
          </p:sp>
        </p:grpSp>
        <p:sp>
          <p:nvSpPr>
            <p:cNvPr id="111679" name="Line 43"/>
            <p:cNvSpPr>
              <a:spLocks noChangeShapeType="1"/>
            </p:cNvSpPr>
            <p:nvPr/>
          </p:nvSpPr>
          <p:spPr bwMode="auto">
            <a:xfrm flipH="1">
              <a:off x="2376" y="2836"/>
              <a:ext cx="268" cy="96"/>
            </a:xfrm>
            <a:prstGeom prst="line">
              <a:avLst/>
            </a:prstGeom>
            <a:noFill/>
            <a:ln w="38100">
              <a:solidFill>
                <a:schemeClr val="tx1"/>
              </a:solidFill>
              <a:round/>
              <a:headEnd/>
              <a:tailEnd type="triangle" w="sm" len="med"/>
            </a:ln>
          </p:spPr>
          <p:txBody>
            <a:bodyPr/>
            <a:lstStyle/>
            <a:p>
              <a:endParaRPr lang="en-US"/>
            </a:p>
          </p:txBody>
        </p:sp>
      </p:grpSp>
      <p:grpSp>
        <p:nvGrpSpPr>
          <p:cNvPr id="56" name="Group 100"/>
          <p:cNvGrpSpPr>
            <a:grpSpLocks/>
          </p:cNvGrpSpPr>
          <p:nvPr/>
        </p:nvGrpSpPr>
        <p:grpSpPr bwMode="auto">
          <a:xfrm>
            <a:off x="3562350" y="4278313"/>
            <a:ext cx="1047750" cy="979487"/>
            <a:chOff x="2244" y="2823"/>
            <a:chExt cx="660" cy="617"/>
          </a:xfrm>
        </p:grpSpPr>
        <p:sp>
          <p:nvSpPr>
            <p:cNvPr id="111670" name="Text Box 46"/>
            <p:cNvSpPr txBox="1">
              <a:spLocks noChangeArrowheads="1"/>
            </p:cNvSpPr>
            <p:nvPr/>
          </p:nvSpPr>
          <p:spPr bwMode="auto">
            <a:xfrm>
              <a:off x="2258" y="2823"/>
              <a:ext cx="207" cy="194"/>
            </a:xfrm>
            <a:prstGeom prst="rect">
              <a:avLst/>
            </a:prstGeom>
            <a:noFill/>
            <a:ln w="9525">
              <a:noFill/>
              <a:miter lim="800000"/>
              <a:headEnd/>
              <a:tailEnd/>
            </a:ln>
          </p:spPr>
          <p:txBody>
            <a:bodyPr wrap="none">
              <a:spAutoFit/>
            </a:bodyPr>
            <a:lstStyle/>
            <a:p>
              <a:r>
                <a:rPr lang="en-US" sz="1400" i="1">
                  <a:ea typeface="MS PGothic" pitchFamily="34" charset="-128"/>
                </a:rPr>
                <a:t>a</a:t>
              </a:r>
            </a:p>
          </p:txBody>
        </p:sp>
        <p:grpSp>
          <p:nvGrpSpPr>
            <p:cNvPr id="111671" name="Group 96"/>
            <p:cNvGrpSpPr>
              <a:grpSpLocks/>
            </p:cNvGrpSpPr>
            <p:nvPr/>
          </p:nvGrpSpPr>
          <p:grpSpPr bwMode="auto">
            <a:xfrm>
              <a:off x="2244" y="2939"/>
              <a:ext cx="660" cy="501"/>
              <a:chOff x="2220" y="2939"/>
              <a:chExt cx="660" cy="501"/>
            </a:xfrm>
          </p:grpSpPr>
          <p:sp>
            <p:nvSpPr>
              <p:cNvPr id="111672" name="Oval 36"/>
              <p:cNvSpPr>
                <a:spLocks noChangeArrowheads="1"/>
              </p:cNvSpPr>
              <p:nvPr/>
            </p:nvSpPr>
            <p:spPr bwMode="auto">
              <a:xfrm>
                <a:off x="2220" y="2960"/>
                <a:ext cx="64" cy="64"/>
              </a:xfrm>
              <a:prstGeom prst="ellipse">
                <a:avLst/>
              </a:prstGeom>
              <a:solidFill>
                <a:schemeClr val="tx1"/>
              </a:solidFill>
              <a:ln w="9525">
                <a:solidFill>
                  <a:schemeClr val="tx1"/>
                </a:solidFill>
                <a:round/>
                <a:headEnd/>
                <a:tailEnd/>
              </a:ln>
            </p:spPr>
            <p:txBody>
              <a:bodyPr wrap="none" anchor="ctr"/>
              <a:lstStyle/>
              <a:p>
                <a:endParaRPr lang="en-US"/>
              </a:p>
            </p:txBody>
          </p:sp>
          <p:sp>
            <p:nvSpPr>
              <p:cNvPr id="111673" name="Oval 37"/>
              <p:cNvSpPr>
                <a:spLocks noChangeArrowheads="1"/>
              </p:cNvSpPr>
              <p:nvPr/>
            </p:nvSpPr>
            <p:spPr bwMode="auto">
              <a:xfrm>
                <a:off x="2756" y="3240"/>
                <a:ext cx="64" cy="64"/>
              </a:xfrm>
              <a:prstGeom prst="ellipse">
                <a:avLst/>
              </a:prstGeom>
              <a:solidFill>
                <a:schemeClr val="tx1"/>
              </a:solidFill>
              <a:ln w="9525">
                <a:solidFill>
                  <a:schemeClr val="tx1"/>
                </a:solidFill>
                <a:round/>
                <a:headEnd/>
                <a:tailEnd/>
              </a:ln>
            </p:spPr>
            <p:txBody>
              <a:bodyPr wrap="none" anchor="ctr"/>
              <a:lstStyle/>
              <a:p>
                <a:endParaRPr lang="en-US"/>
              </a:p>
            </p:txBody>
          </p:sp>
          <p:sp>
            <p:nvSpPr>
              <p:cNvPr id="111674" name="Oval 38"/>
              <p:cNvSpPr>
                <a:spLocks noChangeArrowheads="1"/>
              </p:cNvSpPr>
              <p:nvPr/>
            </p:nvSpPr>
            <p:spPr bwMode="auto">
              <a:xfrm>
                <a:off x="2816" y="3376"/>
                <a:ext cx="64" cy="64"/>
              </a:xfrm>
              <a:prstGeom prst="ellipse">
                <a:avLst/>
              </a:prstGeom>
              <a:solidFill>
                <a:schemeClr val="tx1"/>
              </a:solidFill>
              <a:ln w="9525">
                <a:solidFill>
                  <a:schemeClr val="tx1"/>
                </a:solidFill>
                <a:round/>
                <a:headEnd/>
                <a:tailEnd/>
              </a:ln>
            </p:spPr>
            <p:txBody>
              <a:bodyPr wrap="none" anchor="ctr"/>
              <a:lstStyle/>
              <a:p>
                <a:endParaRPr lang="en-US"/>
              </a:p>
            </p:txBody>
          </p:sp>
          <p:sp>
            <p:nvSpPr>
              <p:cNvPr id="111675" name="Text Box 47"/>
              <p:cNvSpPr txBox="1">
                <a:spLocks noChangeArrowheads="1"/>
              </p:cNvSpPr>
              <p:nvPr/>
            </p:nvSpPr>
            <p:spPr bwMode="auto">
              <a:xfrm>
                <a:off x="2446" y="2939"/>
                <a:ext cx="213" cy="194"/>
              </a:xfrm>
              <a:prstGeom prst="rect">
                <a:avLst/>
              </a:prstGeom>
              <a:noFill/>
              <a:ln w="9525">
                <a:noFill/>
                <a:miter lim="800000"/>
                <a:headEnd/>
                <a:tailEnd/>
              </a:ln>
            </p:spPr>
            <p:txBody>
              <a:bodyPr wrap="none">
                <a:spAutoFit/>
              </a:bodyPr>
              <a:lstStyle/>
              <a:p>
                <a:r>
                  <a:rPr lang="en-US" sz="1400" i="1">
                    <a:ea typeface="MS PGothic" pitchFamily="34" charset="-128"/>
                  </a:rPr>
                  <a:t>d</a:t>
                </a:r>
              </a:p>
            </p:txBody>
          </p:sp>
          <p:sp>
            <p:nvSpPr>
              <p:cNvPr id="111676" name="Text Box 48"/>
              <p:cNvSpPr txBox="1">
                <a:spLocks noChangeArrowheads="1"/>
              </p:cNvSpPr>
              <p:nvPr/>
            </p:nvSpPr>
            <p:spPr bwMode="auto">
              <a:xfrm>
                <a:off x="2634" y="3235"/>
                <a:ext cx="207" cy="194"/>
              </a:xfrm>
              <a:prstGeom prst="rect">
                <a:avLst/>
              </a:prstGeom>
              <a:noFill/>
              <a:ln w="9525">
                <a:noFill/>
                <a:miter lim="800000"/>
                <a:headEnd/>
                <a:tailEnd/>
              </a:ln>
            </p:spPr>
            <p:txBody>
              <a:bodyPr wrap="none">
                <a:spAutoFit/>
              </a:bodyPr>
              <a:lstStyle/>
              <a:p>
                <a:r>
                  <a:rPr lang="en-US" sz="1400" i="1">
                    <a:ea typeface="MS PGothic" pitchFamily="34" charset="-128"/>
                  </a:rPr>
                  <a:t>e</a:t>
                </a:r>
              </a:p>
            </p:txBody>
          </p:sp>
          <p:sp>
            <p:nvSpPr>
              <p:cNvPr id="111677" name="Line 70"/>
              <p:cNvSpPr>
                <a:spLocks noChangeShapeType="1"/>
              </p:cNvSpPr>
              <p:nvPr/>
            </p:nvSpPr>
            <p:spPr bwMode="auto">
              <a:xfrm>
                <a:off x="2588" y="3072"/>
                <a:ext cx="112" cy="128"/>
              </a:xfrm>
              <a:prstGeom prst="line">
                <a:avLst/>
              </a:prstGeom>
              <a:noFill/>
              <a:ln w="38100">
                <a:solidFill>
                  <a:schemeClr val="tx1"/>
                </a:solidFill>
                <a:round/>
                <a:headEnd/>
                <a:tailEnd type="triangle" w="sm" len="med"/>
              </a:ln>
            </p:spPr>
            <p:txBody>
              <a:bodyPr/>
              <a:lstStyle/>
              <a:p>
                <a:endParaRPr lang="en-US"/>
              </a:p>
            </p:txBody>
          </p:sp>
        </p:grpSp>
      </p:grpSp>
      <p:grpSp>
        <p:nvGrpSpPr>
          <p:cNvPr id="65" name="Group 83"/>
          <p:cNvGrpSpPr>
            <a:grpSpLocks/>
          </p:cNvGrpSpPr>
          <p:nvPr/>
        </p:nvGrpSpPr>
        <p:grpSpPr bwMode="auto">
          <a:xfrm>
            <a:off x="5895975" y="2714625"/>
            <a:ext cx="2716213" cy="2811463"/>
            <a:chOff x="3554" y="1838"/>
            <a:chExt cx="1711" cy="1771"/>
          </a:xfrm>
        </p:grpSpPr>
        <p:sp>
          <p:nvSpPr>
            <p:cNvPr id="111664" name="Freeform 50"/>
            <p:cNvSpPr>
              <a:spLocks/>
            </p:cNvSpPr>
            <p:nvPr/>
          </p:nvSpPr>
          <p:spPr bwMode="auto">
            <a:xfrm>
              <a:off x="3836" y="1896"/>
              <a:ext cx="1376" cy="1508"/>
            </a:xfrm>
            <a:custGeom>
              <a:avLst/>
              <a:gdLst>
                <a:gd name="T0" fmla="*/ 0 w 1452"/>
                <a:gd name="T1" fmla="*/ 0 h 1508"/>
                <a:gd name="T2" fmla="*/ 0 w 1452"/>
                <a:gd name="T3" fmla="*/ 1508 h 1508"/>
                <a:gd name="T4" fmla="*/ 1110 w 1452"/>
                <a:gd name="T5" fmla="*/ 1508 h 1508"/>
                <a:gd name="T6" fmla="*/ 0 60000 65536"/>
                <a:gd name="T7" fmla="*/ 0 60000 65536"/>
                <a:gd name="T8" fmla="*/ 0 60000 65536"/>
                <a:gd name="T9" fmla="*/ 0 w 1452"/>
                <a:gd name="T10" fmla="*/ 0 h 1508"/>
                <a:gd name="T11" fmla="*/ 1452 w 1452"/>
                <a:gd name="T12" fmla="*/ 1508 h 1508"/>
              </a:gdLst>
              <a:ahLst/>
              <a:cxnLst>
                <a:cxn ang="T6">
                  <a:pos x="T0" y="T1"/>
                </a:cxn>
                <a:cxn ang="T7">
                  <a:pos x="T2" y="T3"/>
                </a:cxn>
                <a:cxn ang="T8">
                  <a:pos x="T4" y="T5"/>
                </a:cxn>
              </a:cxnLst>
              <a:rect l="T9" t="T10" r="T11" b="T12"/>
              <a:pathLst>
                <a:path w="1452" h="1508">
                  <a:moveTo>
                    <a:pt x="0" y="0"/>
                  </a:moveTo>
                  <a:lnTo>
                    <a:pt x="0" y="1508"/>
                  </a:lnTo>
                  <a:lnTo>
                    <a:pt x="1452" y="1508"/>
                  </a:lnTo>
                </a:path>
              </a:pathLst>
            </a:custGeom>
            <a:noFill/>
            <a:ln w="38100" cmpd="sng">
              <a:solidFill>
                <a:schemeClr val="tx1"/>
              </a:solidFill>
              <a:round/>
              <a:headEnd type="triangle" w="sm" len="med"/>
              <a:tailEnd type="triangle" w="sm" len="med"/>
            </a:ln>
          </p:spPr>
          <p:txBody>
            <a:bodyPr/>
            <a:lstStyle/>
            <a:p>
              <a:endParaRPr lang="en-US"/>
            </a:p>
          </p:txBody>
        </p:sp>
        <p:sp>
          <p:nvSpPr>
            <p:cNvPr id="111665" name="Text Box 51"/>
            <p:cNvSpPr txBox="1">
              <a:spLocks noChangeArrowheads="1"/>
            </p:cNvSpPr>
            <p:nvPr/>
          </p:nvSpPr>
          <p:spPr bwMode="auto">
            <a:xfrm>
              <a:off x="3585" y="1838"/>
              <a:ext cx="366" cy="1667"/>
            </a:xfrm>
            <a:prstGeom prst="rect">
              <a:avLst/>
            </a:prstGeom>
            <a:noFill/>
            <a:ln w="9525">
              <a:noFill/>
              <a:miter lim="800000"/>
              <a:headEnd/>
              <a:tailEnd/>
            </a:ln>
          </p:spPr>
          <p:txBody>
            <a:bodyPr wrap="none">
              <a:spAutoFit/>
            </a:bodyPr>
            <a:lstStyle/>
            <a:p>
              <a:pPr algn="r">
                <a:lnSpc>
                  <a:spcPct val="305000"/>
                </a:lnSpc>
              </a:pPr>
              <a:r>
                <a:rPr lang="en-US" sz="1400">
                  <a:ea typeface="MS PGothic" pitchFamily="34" charset="-128"/>
                </a:rPr>
                <a:t>60 –</a:t>
              </a:r>
            </a:p>
            <a:p>
              <a:pPr algn="r">
                <a:lnSpc>
                  <a:spcPct val="305000"/>
                </a:lnSpc>
              </a:pPr>
              <a:r>
                <a:rPr lang="en-US" sz="1400">
                  <a:ea typeface="MS PGothic" pitchFamily="34" charset="-128"/>
                </a:rPr>
                <a:t>40 –</a:t>
              </a:r>
            </a:p>
            <a:p>
              <a:pPr algn="r">
                <a:lnSpc>
                  <a:spcPct val="305000"/>
                </a:lnSpc>
              </a:pPr>
              <a:r>
                <a:rPr lang="en-US" sz="1400">
                  <a:ea typeface="MS PGothic" pitchFamily="34" charset="-128"/>
                </a:rPr>
                <a:t>20 –</a:t>
              </a:r>
            </a:p>
            <a:p>
              <a:pPr algn="r">
                <a:lnSpc>
                  <a:spcPct val="305000"/>
                </a:lnSpc>
              </a:pPr>
              <a:r>
                <a:rPr lang="en-US" sz="1400">
                  <a:ea typeface="MS PGothic" pitchFamily="34" charset="-128"/>
                </a:rPr>
                <a:t> </a:t>
              </a:r>
            </a:p>
          </p:txBody>
        </p:sp>
        <p:sp>
          <p:nvSpPr>
            <p:cNvPr id="111666" name="Text Box 52"/>
            <p:cNvSpPr txBox="1">
              <a:spLocks noChangeArrowheads="1"/>
            </p:cNvSpPr>
            <p:nvPr/>
          </p:nvSpPr>
          <p:spPr bwMode="auto">
            <a:xfrm>
              <a:off x="3554" y="3287"/>
              <a:ext cx="1711" cy="288"/>
            </a:xfrm>
            <a:prstGeom prst="rect">
              <a:avLst/>
            </a:prstGeom>
            <a:noFill/>
            <a:ln w="9525">
              <a:noFill/>
              <a:miter lim="800000"/>
              <a:headEnd/>
              <a:tailEnd/>
            </a:ln>
          </p:spPr>
          <p:txBody>
            <a:bodyPr>
              <a:spAutoFit/>
            </a:bodyPr>
            <a:lstStyle/>
            <a:p>
              <a:pPr>
                <a:tabLst>
                  <a:tab pos="361950" algn="ctr"/>
                  <a:tab pos="984250" algn="ctr"/>
                  <a:tab pos="1612900" algn="ctr"/>
                  <a:tab pos="2241550" algn="ctr"/>
                </a:tabLst>
              </a:pPr>
              <a:r>
                <a:rPr lang="en-US" sz="1000">
                  <a:ea typeface="MS PGothic" pitchFamily="34" charset="-128"/>
                </a:rPr>
                <a:t>		|	|	|</a:t>
              </a:r>
            </a:p>
            <a:p>
              <a:pPr>
                <a:tabLst>
                  <a:tab pos="361950" algn="ctr"/>
                  <a:tab pos="984250" algn="ctr"/>
                  <a:tab pos="1612900" algn="ctr"/>
                  <a:tab pos="2241550" algn="ctr"/>
                </a:tabLst>
              </a:pPr>
              <a:r>
                <a:rPr lang="en-US" sz="1400">
                  <a:ea typeface="MS PGothic" pitchFamily="34" charset="-128"/>
                </a:rPr>
                <a:t>	0	20	40</a:t>
              </a:r>
            </a:p>
          </p:txBody>
        </p:sp>
        <p:sp>
          <p:nvSpPr>
            <p:cNvPr id="111667" name="Text Box 53"/>
            <p:cNvSpPr txBox="1">
              <a:spLocks noChangeArrowheads="1"/>
            </p:cNvSpPr>
            <p:nvPr/>
          </p:nvSpPr>
          <p:spPr bwMode="auto">
            <a:xfrm>
              <a:off x="3606" y="1839"/>
              <a:ext cx="247" cy="194"/>
            </a:xfrm>
            <a:prstGeom prst="rect">
              <a:avLst/>
            </a:prstGeom>
            <a:noFill/>
            <a:ln w="9525">
              <a:noFill/>
              <a:miter lim="800000"/>
              <a:headEnd/>
              <a:tailEnd/>
            </a:ln>
          </p:spPr>
          <p:txBody>
            <a:bodyPr wrap="none">
              <a:spAutoFit/>
            </a:bodyPr>
            <a:lstStyle/>
            <a:p>
              <a:r>
                <a:rPr lang="en-US" sz="1400" i="1">
                  <a:ea typeface="MS PGothic" pitchFamily="34" charset="-128"/>
                </a:rPr>
                <a:t>X</a:t>
              </a:r>
              <a:r>
                <a:rPr lang="en-US" sz="1400" baseline="-25000">
                  <a:ea typeface="MS PGothic" pitchFamily="34" charset="-128"/>
                </a:rPr>
                <a:t>2</a:t>
              </a:r>
              <a:endParaRPr lang="en-US" sz="1400">
                <a:ea typeface="MS PGothic" pitchFamily="34" charset="-128"/>
              </a:endParaRPr>
            </a:p>
          </p:txBody>
        </p:sp>
        <p:sp>
          <p:nvSpPr>
            <p:cNvPr id="111668" name="Text Box 54"/>
            <p:cNvSpPr txBox="1">
              <a:spLocks noChangeArrowheads="1"/>
            </p:cNvSpPr>
            <p:nvPr/>
          </p:nvSpPr>
          <p:spPr bwMode="auto">
            <a:xfrm>
              <a:off x="5018" y="3415"/>
              <a:ext cx="247" cy="194"/>
            </a:xfrm>
            <a:prstGeom prst="rect">
              <a:avLst/>
            </a:prstGeom>
            <a:noFill/>
            <a:ln w="9525">
              <a:noFill/>
              <a:miter lim="800000"/>
              <a:headEnd/>
              <a:tailEnd/>
            </a:ln>
          </p:spPr>
          <p:txBody>
            <a:bodyPr wrap="none">
              <a:spAutoFit/>
            </a:bodyPr>
            <a:lstStyle/>
            <a:p>
              <a:r>
                <a:rPr lang="en-US" sz="1400" i="1">
                  <a:ea typeface="MS PGothic" pitchFamily="34" charset="-128"/>
                </a:rPr>
                <a:t>X</a:t>
              </a:r>
              <a:r>
                <a:rPr lang="en-US" sz="1400" baseline="-25000">
                  <a:ea typeface="MS PGothic" pitchFamily="34" charset="-128"/>
                </a:rPr>
                <a:t>1</a:t>
              </a:r>
              <a:endParaRPr lang="en-US" sz="1400">
                <a:ea typeface="MS PGothic" pitchFamily="34" charset="-128"/>
              </a:endParaRPr>
            </a:p>
          </p:txBody>
        </p:sp>
        <p:sp>
          <p:nvSpPr>
            <p:cNvPr id="111669" name="Text Box 72"/>
            <p:cNvSpPr txBox="1">
              <a:spLocks noChangeArrowheads="1"/>
            </p:cNvSpPr>
            <p:nvPr/>
          </p:nvSpPr>
          <p:spPr bwMode="auto">
            <a:xfrm>
              <a:off x="3606" y="2999"/>
              <a:ext cx="240" cy="192"/>
            </a:xfrm>
            <a:prstGeom prst="rect">
              <a:avLst/>
            </a:prstGeom>
            <a:noFill/>
            <a:ln w="9525">
              <a:noFill/>
              <a:miter lim="800000"/>
              <a:headEnd/>
              <a:tailEnd/>
            </a:ln>
          </p:spPr>
          <p:txBody>
            <a:bodyPr wrap="none">
              <a:spAutoFit/>
            </a:bodyPr>
            <a:lstStyle/>
            <a:p>
              <a:r>
                <a:rPr lang="en-US" sz="1400">
                  <a:ea typeface="MS PGothic" pitchFamily="34" charset="-128"/>
                </a:rPr>
                <a:t>16</a:t>
              </a:r>
            </a:p>
          </p:txBody>
        </p:sp>
      </p:grpSp>
      <p:grpSp>
        <p:nvGrpSpPr>
          <p:cNvPr id="72" name="Group 79"/>
          <p:cNvGrpSpPr>
            <a:grpSpLocks/>
          </p:cNvGrpSpPr>
          <p:nvPr/>
        </p:nvGrpSpPr>
        <p:grpSpPr bwMode="auto">
          <a:xfrm>
            <a:off x="3165475" y="2714625"/>
            <a:ext cx="2716213" cy="2811463"/>
            <a:chOff x="1970" y="1838"/>
            <a:chExt cx="1711" cy="1771"/>
          </a:xfrm>
        </p:grpSpPr>
        <p:sp>
          <p:nvSpPr>
            <p:cNvPr id="111658" name="Freeform 29"/>
            <p:cNvSpPr>
              <a:spLocks/>
            </p:cNvSpPr>
            <p:nvPr/>
          </p:nvSpPr>
          <p:spPr bwMode="auto">
            <a:xfrm>
              <a:off x="2252" y="1896"/>
              <a:ext cx="1376" cy="1508"/>
            </a:xfrm>
            <a:custGeom>
              <a:avLst/>
              <a:gdLst>
                <a:gd name="T0" fmla="*/ 0 w 1452"/>
                <a:gd name="T1" fmla="*/ 0 h 1508"/>
                <a:gd name="T2" fmla="*/ 0 w 1452"/>
                <a:gd name="T3" fmla="*/ 1508 h 1508"/>
                <a:gd name="T4" fmla="*/ 1110 w 1452"/>
                <a:gd name="T5" fmla="*/ 1508 h 1508"/>
                <a:gd name="T6" fmla="*/ 0 60000 65536"/>
                <a:gd name="T7" fmla="*/ 0 60000 65536"/>
                <a:gd name="T8" fmla="*/ 0 60000 65536"/>
                <a:gd name="T9" fmla="*/ 0 w 1452"/>
                <a:gd name="T10" fmla="*/ 0 h 1508"/>
                <a:gd name="T11" fmla="*/ 1452 w 1452"/>
                <a:gd name="T12" fmla="*/ 1508 h 1508"/>
              </a:gdLst>
              <a:ahLst/>
              <a:cxnLst>
                <a:cxn ang="T6">
                  <a:pos x="T0" y="T1"/>
                </a:cxn>
                <a:cxn ang="T7">
                  <a:pos x="T2" y="T3"/>
                </a:cxn>
                <a:cxn ang="T8">
                  <a:pos x="T4" y="T5"/>
                </a:cxn>
              </a:cxnLst>
              <a:rect l="T9" t="T10" r="T11" b="T12"/>
              <a:pathLst>
                <a:path w="1452" h="1508">
                  <a:moveTo>
                    <a:pt x="0" y="0"/>
                  </a:moveTo>
                  <a:lnTo>
                    <a:pt x="0" y="1508"/>
                  </a:lnTo>
                  <a:lnTo>
                    <a:pt x="1452" y="1508"/>
                  </a:lnTo>
                </a:path>
              </a:pathLst>
            </a:custGeom>
            <a:noFill/>
            <a:ln w="38100" cmpd="sng">
              <a:solidFill>
                <a:schemeClr val="tx1"/>
              </a:solidFill>
              <a:round/>
              <a:headEnd type="triangle" w="sm" len="med"/>
              <a:tailEnd type="triangle" w="sm" len="med"/>
            </a:ln>
          </p:spPr>
          <p:txBody>
            <a:bodyPr/>
            <a:lstStyle/>
            <a:p>
              <a:endParaRPr lang="en-US"/>
            </a:p>
          </p:txBody>
        </p:sp>
        <p:sp>
          <p:nvSpPr>
            <p:cNvPr id="111659" name="Text Box 30"/>
            <p:cNvSpPr txBox="1">
              <a:spLocks noChangeArrowheads="1"/>
            </p:cNvSpPr>
            <p:nvPr/>
          </p:nvSpPr>
          <p:spPr bwMode="auto">
            <a:xfrm>
              <a:off x="2022" y="1838"/>
              <a:ext cx="345" cy="1254"/>
            </a:xfrm>
            <a:prstGeom prst="rect">
              <a:avLst/>
            </a:prstGeom>
            <a:noFill/>
            <a:ln w="9525">
              <a:noFill/>
              <a:miter lim="800000"/>
              <a:headEnd/>
              <a:tailEnd/>
            </a:ln>
          </p:spPr>
          <p:txBody>
            <a:bodyPr wrap="none">
              <a:spAutoFit/>
            </a:bodyPr>
            <a:lstStyle/>
            <a:p>
              <a:pPr algn="r">
                <a:lnSpc>
                  <a:spcPct val="305000"/>
                </a:lnSpc>
              </a:pPr>
              <a:r>
                <a:rPr lang="en-US" sz="1400">
                  <a:ea typeface="MS PGothic" pitchFamily="34" charset="-128"/>
                </a:rPr>
                <a:t>60 –</a:t>
              </a:r>
            </a:p>
            <a:p>
              <a:pPr algn="r">
                <a:lnSpc>
                  <a:spcPct val="305000"/>
                </a:lnSpc>
              </a:pPr>
              <a:r>
                <a:rPr lang="en-US" sz="1400">
                  <a:ea typeface="MS PGothic" pitchFamily="34" charset="-128"/>
                </a:rPr>
                <a:t>40 –</a:t>
              </a:r>
            </a:p>
            <a:p>
              <a:pPr algn="r">
                <a:lnSpc>
                  <a:spcPct val="305000"/>
                </a:lnSpc>
              </a:pPr>
              <a:r>
                <a:rPr lang="en-US" sz="1400">
                  <a:ea typeface="MS PGothic" pitchFamily="34" charset="-128"/>
                </a:rPr>
                <a:t>20 –</a:t>
              </a:r>
            </a:p>
          </p:txBody>
        </p:sp>
        <p:sp>
          <p:nvSpPr>
            <p:cNvPr id="111660" name="Text Box 31"/>
            <p:cNvSpPr txBox="1">
              <a:spLocks noChangeArrowheads="1"/>
            </p:cNvSpPr>
            <p:nvPr/>
          </p:nvSpPr>
          <p:spPr bwMode="auto">
            <a:xfrm>
              <a:off x="1970" y="3287"/>
              <a:ext cx="1711" cy="288"/>
            </a:xfrm>
            <a:prstGeom prst="rect">
              <a:avLst/>
            </a:prstGeom>
            <a:noFill/>
            <a:ln w="9525">
              <a:noFill/>
              <a:miter lim="800000"/>
              <a:headEnd/>
              <a:tailEnd/>
            </a:ln>
          </p:spPr>
          <p:txBody>
            <a:bodyPr>
              <a:spAutoFit/>
            </a:bodyPr>
            <a:lstStyle/>
            <a:p>
              <a:pPr>
                <a:tabLst>
                  <a:tab pos="361950" algn="ctr"/>
                  <a:tab pos="984250" algn="ctr"/>
                  <a:tab pos="1612900" algn="ctr"/>
                  <a:tab pos="2241550" algn="ctr"/>
                </a:tabLst>
              </a:pPr>
              <a:r>
                <a:rPr lang="en-US" sz="1000">
                  <a:ea typeface="MS PGothic" pitchFamily="34" charset="-128"/>
                </a:rPr>
                <a:t>		|	|	|</a:t>
              </a:r>
            </a:p>
            <a:p>
              <a:pPr>
                <a:tabLst>
                  <a:tab pos="361950" algn="ctr"/>
                  <a:tab pos="984250" algn="ctr"/>
                  <a:tab pos="1612900" algn="ctr"/>
                  <a:tab pos="2241550" algn="ctr"/>
                </a:tabLst>
              </a:pPr>
              <a:r>
                <a:rPr lang="en-US" sz="1400">
                  <a:ea typeface="MS PGothic" pitchFamily="34" charset="-128"/>
                </a:rPr>
                <a:t>	0	20	40</a:t>
              </a:r>
            </a:p>
          </p:txBody>
        </p:sp>
        <p:sp>
          <p:nvSpPr>
            <p:cNvPr id="111661" name="Text Box 32"/>
            <p:cNvSpPr txBox="1">
              <a:spLocks noChangeArrowheads="1"/>
            </p:cNvSpPr>
            <p:nvPr/>
          </p:nvSpPr>
          <p:spPr bwMode="auto">
            <a:xfrm>
              <a:off x="2022" y="1839"/>
              <a:ext cx="247" cy="194"/>
            </a:xfrm>
            <a:prstGeom prst="rect">
              <a:avLst/>
            </a:prstGeom>
            <a:noFill/>
            <a:ln w="9525">
              <a:noFill/>
              <a:miter lim="800000"/>
              <a:headEnd/>
              <a:tailEnd/>
            </a:ln>
          </p:spPr>
          <p:txBody>
            <a:bodyPr wrap="none">
              <a:spAutoFit/>
            </a:bodyPr>
            <a:lstStyle/>
            <a:p>
              <a:r>
                <a:rPr lang="en-US" sz="1400" i="1">
                  <a:ea typeface="MS PGothic" pitchFamily="34" charset="-128"/>
                </a:rPr>
                <a:t>X</a:t>
              </a:r>
              <a:r>
                <a:rPr lang="en-US" sz="1400" baseline="-25000">
                  <a:ea typeface="MS PGothic" pitchFamily="34" charset="-128"/>
                </a:rPr>
                <a:t>2</a:t>
              </a:r>
              <a:endParaRPr lang="en-US" sz="1400">
                <a:ea typeface="MS PGothic" pitchFamily="34" charset="-128"/>
              </a:endParaRPr>
            </a:p>
          </p:txBody>
        </p:sp>
        <p:sp>
          <p:nvSpPr>
            <p:cNvPr id="111662" name="Text Box 33"/>
            <p:cNvSpPr txBox="1">
              <a:spLocks noChangeArrowheads="1"/>
            </p:cNvSpPr>
            <p:nvPr/>
          </p:nvSpPr>
          <p:spPr bwMode="auto">
            <a:xfrm>
              <a:off x="3434" y="3415"/>
              <a:ext cx="247" cy="194"/>
            </a:xfrm>
            <a:prstGeom prst="rect">
              <a:avLst/>
            </a:prstGeom>
            <a:noFill/>
            <a:ln w="9525">
              <a:noFill/>
              <a:miter lim="800000"/>
              <a:headEnd/>
              <a:tailEnd/>
            </a:ln>
          </p:spPr>
          <p:txBody>
            <a:bodyPr wrap="none">
              <a:spAutoFit/>
            </a:bodyPr>
            <a:lstStyle/>
            <a:p>
              <a:r>
                <a:rPr lang="en-US" sz="1400" i="1">
                  <a:ea typeface="MS PGothic" pitchFamily="34" charset="-128"/>
                </a:rPr>
                <a:t>X</a:t>
              </a:r>
              <a:r>
                <a:rPr lang="en-US" sz="1400" baseline="-25000">
                  <a:ea typeface="MS PGothic" pitchFamily="34" charset="-128"/>
                </a:rPr>
                <a:t>1</a:t>
              </a:r>
              <a:endParaRPr lang="en-US" sz="1400">
                <a:ea typeface="MS PGothic" pitchFamily="34" charset="-128"/>
              </a:endParaRPr>
            </a:p>
          </p:txBody>
        </p:sp>
        <p:sp>
          <p:nvSpPr>
            <p:cNvPr id="111663" name="Text Box 73"/>
            <p:cNvSpPr txBox="1">
              <a:spLocks noChangeArrowheads="1"/>
            </p:cNvSpPr>
            <p:nvPr/>
          </p:nvSpPr>
          <p:spPr bwMode="auto">
            <a:xfrm>
              <a:off x="2726" y="3293"/>
              <a:ext cx="240" cy="288"/>
            </a:xfrm>
            <a:prstGeom prst="rect">
              <a:avLst/>
            </a:prstGeom>
            <a:noFill/>
            <a:ln w="9525">
              <a:noFill/>
              <a:miter lim="800000"/>
              <a:headEnd/>
              <a:tailEnd/>
            </a:ln>
          </p:spPr>
          <p:txBody>
            <a:bodyPr wrap="none">
              <a:spAutoFit/>
            </a:bodyPr>
            <a:lstStyle/>
            <a:p>
              <a:pPr algn="ctr"/>
              <a:r>
                <a:rPr lang="en-US" sz="1000">
                  <a:ea typeface="MS PGothic" pitchFamily="34" charset="-128"/>
                </a:rPr>
                <a:t>|</a:t>
              </a:r>
            </a:p>
            <a:p>
              <a:pPr algn="ctr"/>
              <a:r>
                <a:rPr lang="en-US" sz="1400">
                  <a:ea typeface="MS PGothic" pitchFamily="34" charset="-128"/>
                </a:rPr>
                <a:t>30</a:t>
              </a:r>
            </a:p>
          </p:txBody>
        </p:sp>
      </p:grpSp>
      <p:sp>
        <p:nvSpPr>
          <p:cNvPr id="79" name="Text Box 76"/>
          <p:cNvSpPr txBox="1">
            <a:spLocks noChangeArrowheads="1"/>
          </p:cNvSpPr>
          <p:nvPr/>
        </p:nvSpPr>
        <p:spPr bwMode="auto">
          <a:xfrm>
            <a:off x="6454775" y="2430463"/>
            <a:ext cx="2005013" cy="484187"/>
          </a:xfrm>
          <a:prstGeom prst="rect">
            <a:avLst/>
          </a:prstGeom>
          <a:noFill/>
          <a:ln w="9525">
            <a:noFill/>
            <a:miter lim="800000"/>
            <a:headEnd/>
            <a:tailEnd/>
          </a:ln>
        </p:spPr>
        <p:txBody>
          <a:bodyPr>
            <a:spAutoFit/>
          </a:bodyPr>
          <a:lstStyle/>
          <a:p>
            <a:pPr marL="266700" indent="-266700">
              <a:lnSpc>
                <a:spcPct val="90000"/>
              </a:lnSpc>
            </a:pPr>
            <a:r>
              <a:rPr lang="en-US" sz="1400">
                <a:ea typeface="MS PGothic" pitchFamily="34" charset="-128"/>
              </a:rPr>
              <a:t>(c)	Change in Circled Coefficient</a:t>
            </a:r>
          </a:p>
        </p:txBody>
      </p:sp>
      <p:grpSp>
        <p:nvGrpSpPr>
          <p:cNvPr id="80" name="Group 94"/>
          <p:cNvGrpSpPr>
            <a:grpSpLocks/>
          </p:cNvGrpSpPr>
          <p:nvPr/>
        </p:nvGrpSpPr>
        <p:grpSpPr bwMode="auto">
          <a:xfrm>
            <a:off x="984250" y="4278313"/>
            <a:ext cx="985838" cy="979487"/>
            <a:chOff x="620" y="2823"/>
            <a:chExt cx="621" cy="617"/>
          </a:xfrm>
        </p:grpSpPr>
        <p:sp>
          <p:nvSpPr>
            <p:cNvPr id="111652" name="Oval 12"/>
            <p:cNvSpPr>
              <a:spLocks noChangeArrowheads="1"/>
            </p:cNvSpPr>
            <p:nvPr/>
          </p:nvSpPr>
          <p:spPr bwMode="auto">
            <a:xfrm>
              <a:off x="620" y="2960"/>
              <a:ext cx="64" cy="64"/>
            </a:xfrm>
            <a:prstGeom prst="ellipse">
              <a:avLst/>
            </a:prstGeom>
            <a:solidFill>
              <a:schemeClr val="tx1"/>
            </a:solidFill>
            <a:ln w="9525">
              <a:solidFill>
                <a:schemeClr val="tx1"/>
              </a:solidFill>
              <a:round/>
              <a:headEnd/>
              <a:tailEnd/>
            </a:ln>
          </p:spPr>
          <p:txBody>
            <a:bodyPr wrap="none" anchor="ctr"/>
            <a:lstStyle/>
            <a:p>
              <a:endParaRPr lang="en-US"/>
            </a:p>
          </p:txBody>
        </p:sp>
        <p:sp>
          <p:nvSpPr>
            <p:cNvPr id="111653" name="Oval 13"/>
            <p:cNvSpPr>
              <a:spLocks noChangeArrowheads="1"/>
            </p:cNvSpPr>
            <p:nvPr/>
          </p:nvSpPr>
          <p:spPr bwMode="auto">
            <a:xfrm>
              <a:off x="944" y="3136"/>
              <a:ext cx="64" cy="64"/>
            </a:xfrm>
            <a:prstGeom prst="ellipse">
              <a:avLst/>
            </a:prstGeom>
            <a:solidFill>
              <a:schemeClr val="tx1"/>
            </a:solidFill>
            <a:ln w="9525">
              <a:solidFill>
                <a:schemeClr val="tx1"/>
              </a:solidFill>
              <a:round/>
              <a:headEnd/>
              <a:tailEnd/>
            </a:ln>
          </p:spPr>
          <p:txBody>
            <a:bodyPr wrap="none" anchor="ctr"/>
            <a:lstStyle/>
            <a:p>
              <a:endParaRPr lang="en-US"/>
            </a:p>
          </p:txBody>
        </p:sp>
        <p:sp>
          <p:nvSpPr>
            <p:cNvPr id="111654" name="Oval 14"/>
            <p:cNvSpPr>
              <a:spLocks noChangeArrowheads="1"/>
            </p:cNvSpPr>
            <p:nvPr/>
          </p:nvSpPr>
          <p:spPr bwMode="auto">
            <a:xfrm>
              <a:off x="1020" y="3376"/>
              <a:ext cx="64" cy="64"/>
            </a:xfrm>
            <a:prstGeom prst="ellipse">
              <a:avLst/>
            </a:prstGeom>
            <a:solidFill>
              <a:schemeClr val="tx1"/>
            </a:solidFill>
            <a:ln w="9525">
              <a:solidFill>
                <a:schemeClr val="tx1"/>
              </a:solidFill>
              <a:round/>
              <a:headEnd/>
              <a:tailEnd/>
            </a:ln>
          </p:spPr>
          <p:txBody>
            <a:bodyPr wrap="none" anchor="ctr"/>
            <a:lstStyle/>
            <a:p>
              <a:endParaRPr lang="en-US"/>
            </a:p>
          </p:txBody>
        </p:sp>
        <p:sp>
          <p:nvSpPr>
            <p:cNvPr id="111655" name="Text Box 24"/>
            <p:cNvSpPr txBox="1">
              <a:spLocks noChangeArrowheads="1"/>
            </p:cNvSpPr>
            <p:nvPr/>
          </p:nvSpPr>
          <p:spPr bwMode="auto">
            <a:xfrm>
              <a:off x="634" y="2823"/>
              <a:ext cx="207" cy="194"/>
            </a:xfrm>
            <a:prstGeom prst="rect">
              <a:avLst/>
            </a:prstGeom>
            <a:noFill/>
            <a:ln w="9525">
              <a:noFill/>
              <a:miter lim="800000"/>
              <a:headEnd/>
              <a:tailEnd/>
            </a:ln>
          </p:spPr>
          <p:txBody>
            <a:bodyPr wrap="none">
              <a:spAutoFit/>
            </a:bodyPr>
            <a:lstStyle/>
            <a:p>
              <a:r>
                <a:rPr lang="en-US" sz="1400" i="1">
                  <a:ea typeface="MS PGothic" pitchFamily="34" charset="-128"/>
                </a:rPr>
                <a:t>a</a:t>
              </a:r>
            </a:p>
          </p:txBody>
        </p:sp>
        <p:sp>
          <p:nvSpPr>
            <p:cNvPr id="111656" name="Text Box 25"/>
            <p:cNvSpPr txBox="1">
              <a:spLocks noChangeArrowheads="1"/>
            </p:cNvSpPr>
            <p:nvPr/>
          </p:nvSpPr>
          <p:spPr bwMode="auto">
            <a:xfrm>
              <a:off x="978" y="2995"/>
              <a:ext cx="213" cy="194"/>
            </a:xfrm>
            <a:prstGeom prst="rect">
              <a:avLst/>
            </a:prstGeom>
            <a:noFill/>
            <a:ln w="9525">
              <a:noFill/>
              <a:miter lim="800000"/>
              <a:headEnd/>
              <a:tailEnd/>
            </a:ln>
          </p:spPr>
          <p:txBody>
            <a:bodyPr wrap="none">
              <a:spAutoFit/>
            </a:bodyPr>
            <a:lstStyle/>
            <a:p>
              <a:r>
                <a:rPr lang="en-US" sz="1400" i="1">
                  <a:ea typeface="MS PGothic" pitchFamily="34" charset="-128"/>
                </a:rPr>
                <a:t>b</a:t>
              </a:r>
            </a:p>
          </p:txBody>
        </p:sp>
        <p:sp>
          <p:nvSpPr>
            <p:cNvPr id="111657" name="Text Box 26"/>
            <p:cNvSpPr txBox="1">
              <a:spLocks noChangeArrowheads="1"/>
            </p:cNvSpPr>
            <p:nvPr/>
          </p:nvSpPr>
          <p:spPr bwMode="auto">
            <a:xfrm>
              <a:off x="1034" y="3235"/>
              <a:ext cx="207" cy="194"/>
            </a:xfrm>
            <a:prstGeom prst="rect">
              <a:avLst/>
            </a:prstGeom>
            <a:noFill/>
            <a:ln w="9525">
              <a:noFill/>
              <a:miter lim="800000"/>
              <a:headEnd/>
              <a:tailEnd/>
            </a:ln>
          </p:spPr>
          <p:txBody>
            <a:bodyPr wrap="none">
              <a:spAutoFit/>
            </a:bodyPr>
            <a:lstStyle/>
            <a:p>
              <a:r>
                <a:rPr lang="en-US" sz="1400" i="1">
                  <a:ea typeface="MS PGothic" pitchFamily="34" charset="-128"/>
                </a:rPr>
                <a:t>c</a:t>
              </a:r>
            </a:p>
          </p:txBody>
        </p:sp>
      </p:grpSp>
      <p:grpSp>
        <p:nvGrpSpPr>
          <p:cNvPr id="87" name="Group 101"/>
          <p:cNvGrpSpPr>
            <a:grpSpLocks/>
          </p:cNvGrpSpPr>
          <p:nvPr/>
        </p:nvGrpSpPr>
        <p:grpSpPr bwMode="auto">
          <a:xfrm>
            <a:off x="6292850" y="4475163"/>
            <a:ext cx="985838" cy="782637"/>
            <a:chOff x="3964" y="2947"/>
            <a:chExt cx="621" cy="493"/>
          </a:xfrm>
        </p:grpSpPr>
        <p:sp>
          <p:nvSpPr>
            <p:cNvPr id="111645" name="Text Box 67"/>
            <p:cNvSpPr txBox="1">
              <a:spLocks noChangeArrowheads="1"/>
            </p:cNvSpPr>
            <p:nvPr/>
          </p:nvSpPr>
          <p:spPr bwMode="auto">
            <a:xfrm>
              <a:off x="4006" y="2947"/>
              <a:ext cx="181" cy="194"/>
            </a:xfrm>
            <a:prstGeom prst="rect">
              <a:avLst/>
            </a:prstGeom>
            <a:noFill/>
            <a:ln w="9525">
              <a:noFill/>
              <a:miter lim="800000"/>
              <a:headEnd/>
              <a:tailEnd/>
            </a:ln>
          </p:spPr>
          <p:txBody>
            <a:bodyPr wrap="none">
              <a:spAutoFit/>
            </a:bodyPr>
            <a:lstStyle/>
            <a:p>
              <a:r>
                <a:rPr lang="en-US" sz="1400" i="1">
                  <a:ea typeface="MS PGothic" pitchFamily="34" charset="-128"/>
                </a:rPr>
                <a:t>f</a:t>
              </a:r>
            </a:p>
          </p:txBody>
        </p:sp>
        <p:grpSp>
          <p:nvGrpSpPr>
            <p:cNvPr id="111646" name="Group 99"/>
            <p:cNvGrpSpPr>
              <a:grpSpLocks/>
            </p:cNvGrpSpPr>
            <p:nvPr/>
          </p:nvGrpSpPr>
          <p:grpSpPr bwMode="auto">
            <a:xfrm>
              <a:off x="3964" y="3027"/>
              <a:ext cx="621" cy="413"/>
              <a:chOff x="3964" y="3027"/>
              <a:chExt cx="621" cy="413"/>
            </a:xfrm>
          </p:grpSpPr>
          <p:sp>
            <p:nvSpPr>
              <p:cNvPr id="111647" name="Oval 57"/>
              <p:cNvSpPr>
                <a:spLocks noChangeArrowheads="1"/>
              </p:cNvSpPr>
              <p:nvPr/>
            </p:nvSpPr>
            <p:spPr bwMode="auto">
              <a:xfrm>
                <a:off x="3964" y="3064"/>
                <a:ext cx="64" cy="64"/>
              </a:xfrm>
              <a:prstGeom prst="ellipse">
                <a:avLst/>
              </a:prstGeom>
              <a:solidFill>
                <a:schemeClr val="tx1"/>
              </a:solidFill>
              <a:ln w="9525">
                <a:solidFill>
                  <a:schemeClr val="tx1"/>
                </a:solidFill>
                <a:round/>
                <a:headEnd/>
                <a:tailEnd/>
              </a:ln>
            </p:spPr>
            <p:txBody>
              <a:bodyPr wrap="none" anchor="ctr"/>
              <a:lstStyle/>
              <a:p>
                <a:endParaRPr lang="en-US"/>
              </a:p>
            </p:txBody>
          </p:sp>
          <p:sp>
            <p:nvSpPr>
              <p:cNvPr id="111648" name="Oval 58"/>
              <p:cNvSpPr>
                <a:spLocks noChangeArrowheads="1"/>
              </p:cNvSpPr>
              <p:nvPr/>
            </p:nvSpPr>
            <p:spPr bwMode="auto">
              <a:xfrm>
                <a:off x="4308" y="3196"/>
                <a:ext cx="64" cy="64"/>
              </a:xfrm>
              <a:prstGeom prst="ellipse">
                <a:avLst/>
              </a:prstGeom>
              <a:solidFill>
                <a:schemeClr val="tx1"/>
              </a:solidFill>
              <a:ln w="9525">
                <a:solidFill>
                  <a:schemeClr val="tx1"/>
                </a:solidFill>
                <a:round/>
                <a:headEnd/>
                <a:tailEnd/>
              </a:ln>
            </p:spPr>
            <p:txBody>
              <a:bodyPr wrap="none" anchor="ctr"/>
              <a:lstStyle/>
              <a:p>
                <a:endParaRPr lang="en-US"/>
              </a:p>
            </p:txBody>
          </p:sp>
          <p:sp>
            <p:nvSpPr>
              <p:cNvPr id="111649" name="Oval 59"/>
              <p:cNvSpPr>
                <a:spLocks noChangeArrowheads="1"/>
              </p:cNvSpPr>
              <p:nvPr/>
            </p:nvSpPr>
            <p:spPr bwMode="auto">
              <a:xfrm>
                <a:off x="4364" y="3376"/>
                <a:ext cx="64" cy="64"/>
              </a:xfrm>
              <a:prstGeom prst="ellipse">
                <a:avLst/>
              </a:prstGeom>
              <a:solidFill>
                <a:schemeClr val="tx1"/>
              </a:solidFill>
              <a:ln w="9525">
                <a:solidFill>
                  <a:schemeClr val="tx1"/>
                </a:solidFill>
                <a:round/>
                <a:headEnd/>
                <a:tailEnd/>
              </a:ln>
            </p:spPr>
            <p:txBody>
              <a:bodyPr wrap="none" anchor="ctr"/>
              <a:lstStyle/>
              <a:p>
                <a:endParaRPr lang="en-US"/>
              </a:p>
            </p:txBody>
          </p:sp>
          <p:sp>
            <p:nvSpPr>
              <p:cNvPr id="111650" name="Text Box 68"/>
              <p:cNvSpPr txBox="1">
                <a:spLocks noChangeArrowheads="1"/>
              </p:cNvSpPr>
              <p:nvPr/>
            </p:nvSpPr>
            <p:spPr bwMode="auto">
              <a:xfrm>
                <a:off x="4286" y="3027"/>
                <a:ext cx="213" cy="194"/>
              </a:xfrm>
              <a:prstGeom prst="rect">
                <a:avLst/>
              </a:prstGeom>
              <a:noFill/>
              <a:ln w="9525">
                <a:noFill/>
                <a:miter lim="800000"/>
                <a:headEnd/>
                <a:tailEnd/>
              </a:ln>
            </p:spPr>
            <p:txBody>
              <a:bodyPr wrap="none">
                <a:spAutoFit/>
              </a:bodyPr>
              <a:lstStyle/>
              <a:p>
                <a:r>
                  <a:rPr lang="en-US" sz="1400" i="1">
                    <a:ea typeface="MS PGothic" pitchFamily="34" charset="-128"/>
                  </a:rPr>
                  <a:t>g</a:t>
                </a:r>
              </a:p>
            </p:txBody>
          </p:sp>
          <p:sp>
            <p:nvSpPr>
              <p:cNvPr id="111651" name="Text Box 69"/>
              <p:cNvSpPr txBox="1">
                <a:spLocks noChangeArrowheads="1"/>
              </p:cNvSpPr>
              <p:nvPr/>
            </p:nvSpPr>
            <p:spPr bwMode="auto">
              <a:xfrm>
                <a:off x="4378" y="3235"/>
                <a:ext cx="207" cy="194"/>
              </a:xfrm>
              <a:prstGeom prst="rect">
                <a:avLst/>
              </a:prstGeom>
              <a:noFill/>
              <a:ln w="9525">
                <a:noFill/>
                <a:miter lim="800000"/>
                <a:headEnd/>
                <a:tailEnd/>
              </a:ln>
            </p:spPr>
            <p:txBody>
              <a:bodyPr wrap="none">
                <a:spAutoFit/>
              </a:bodyPr>
              <a:lstStyle/>
              <a:p>
                <a:r>
                  <a:rPr lang="en-US" sz="1400" i="1">
                    <a:ea typeface="MS PGothic" pitchFamily="34" charset="-128"/>
                  </a:rPr>
                  <a:t>c</a:t>
                </a:r>
              </a:p>
            </p:txBody>
          </p:sp>
        </p:grpSp>
      </p:grpSp>
      <p:sp>
        <p:nvSpPr>
          <p:cNvPr id="95" name="Text Box 102"/>
          <p:cNvSpPr txBox="1">
            <a:spLocks noChangeArrowheads="1"/>
          </p:cNvSpPr>
          <p:nvPr/>
        </p:nvSpPr>
        <p:spPr bwMode="auto">
          <a:xfrm>
            <a:off x="574675" y="1754188"/>
            <a:ext cx="4749800" cy="307975"/>
          </a:xfrm>
          <a:prstGeom prst="rect">
            <a:avLst/>
          </a:prstGeom>
          <a:noFill/>
          <a:ln w="9525">
            <a:noFill/>
            <a:miter lim="800000"/>
            <a:headEnd/>
            <a:tailEnd/>
          </a:ln>
        </p:spPr>
        <p:txBody>
          <a:bodyPr wrap="none">
            <a:spAutoFit/>
          </a:bodyPr>
          <a:lstStyle/>
          <a:p>
            <a:r>
              <a:rPr lang="en-US" sz="1400">
                <a:ea typeface="MS PGothic" pitchFamily="34" charset="-128"/>
              </a:rPr>
              <a:t>FIGURE 7.18 – Change in the Technological Coefficients </a:t>
            </a:r>
          </a:p>
        </p:txBody>
      </p:sp>
      <p:sp>
        <p:nvSpPr>
          <p:cNvPr id="96" name="Slide Number Placeholder 9"/>
          <p:cNvSpPr>
            <a:spLocks noGrp="1"/>
          </p:cNvSpPr>
          <p:nvPr>
            <p:ph type="sldNum" sz="quarter" idx="11"/>
          </p:nvPr>
        </p:nvSpPr>
        <p:spPr/>
        <p:txBody>
          <a:bodyPr/>
          <a:lstStyle/>
          <a:p>
            <a:pPr>
              <a:defRPr/>
            </a:pPr>
            <a:r>
              <a:rPr lang="en-US"/>
              <a:t>7 – </a:t>
            </a:r>
            <a:fld id="{8A2968E3-1927-471F-8B65-9E10E400080B}" type="slidenum">
              <a:rPr lang="en-US"/>
              <a:pPr>
                <a:defRPr/>
              </a:pPr>
              <a:t>34</a:t>
            </a:fld>
            <a:endParaRPr lang="en-US"/>
          </a:p>
        </p:txBody>
      </p:sp>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000"/>
                                        <p:tgtEl>
                                          <p:spTgt spid="12"/>
                                        </p:tgtEl>
                                      </p:cBhvr>
                                    </p:animEffect>
                                  </p:childTnLst>
                                </p:cTn>
                              </p:par>
                            </p:childTnLst>
                          </p:cTn>
                        </p:par>
                        <p:par>
                          <p:cTn id="8" fill="hold">
                            <p:stCondLst>
                              <p:cond delay="1500"/>
                            </p:stCondLst>
                            <p:childTnLst>
                              <p:par>
                                <p:cTn id="9" presetID="18" presetClass="entr" presetSubtype="3" fill="hold" nodeType="afterEffect">
                                  <p:stCondLst>
                                    <p:cond delay="500"/>
                                  </p:stCondLst>
                                  <p:childTnLst>
                                    <p:set>
                                      <p:cBhvr>
                                        <p:cTn id="10" dur="1" fill="hold">
                                          <p:stCondLst>
                                            <p:cond delay="0"/>
                                          </p:stCondLst>
                                        </p:cTn>
                                        <p:tgtEl>
                                          <p:spTgt spid="21"/>
                                        </p:tgtEl>
                                        <p:attrNameLst>
                                          <p:attrName>style.visibility</p:attrName>
                                        </p:attrNameLst>
                                      </p:cBhvr>
                                      <p:to>
                                        <p:strVal val="visible"/>
                                      </p:to>
                                    </p:set>
                                    <p:animEffect transition="in" filter="strips(upRight)">
                                      <p:cBhvr>
                                        <p:cTn id="11" dur="1000"/>
                                        <p:tgtEl>
                                          <p:spTgt spid="21"/>
                                        </p:tgtEl>
                                      </p:cBhvr>
                                    </p:animEffect>
                                  </p:childTnLst>
                                </p:cTn>
                              </p:par>
                            </p:childTnLst>
                          </p:cTn>
                        </p:par>
                        <p:par>
                          <p:cTn id="12" fill="hold">
                            <p:stCondLst>
                              <p:cond delay="3000"/>
                            </p:stCondLst>
                            <p:childTnLst>
                              <p:par>
                                <p:cTn id="13" presetID="18" presetClass="entr" presetSubtype="6" fill="hold" grpId="0" nodeType="afterEffect">
                                  <p:stCondLst>
                                    <p:cond delay="500"/>
                                  </p:stCondLst>
                                  <p:childTnLst>
                                    <p:set>
                                      <p:cBhvr>
                                        <p:cTn id="14" dur="1" fill="hold">
                                          <p:stCondLst>
                                            <p:cond delay="0"/>
                                          </p:stCondLst>
                                        </p:cTn>
                                        <p:tgtEl>
                                          <p:spTgt spid="11"/>
                                        </p:tgtEl>
                                        <p:attrNameLst>
                                          <p:attrName>style.visibility</p:attrName>
                                        </p:attrNameLst>
                                      </p:cBhvr>
                                      <p:to>
                                        <p:strVal val="visible"/>
                                      </p:to>
                                    </p:set>
                                    <p:animEffect transition="in" filter="strips(downRight)">
                                      <p:cBhvr>
                                        <p:cTn id="15" dur="1000"/>
                                        <p:tgtEl>
                                          <p:spTgt spid="11"/>
                                        </p:tgtEl>
                                      </p:cBhvr>
                                    </p:animEffect>
                                  </p:childTnLst>
                                </p:cTn>
                              </p:par>
                            </p:childTnLst>
                          </p:cTn>
                        </p:par>
                        <p:par>
                          <p:cTn id="16" fill="hold">
                            <p:stCondLst>
                              <p:cond delay="4500"/>
                            </p:stCondLst>
                            <p:childTnLst>
                              <p:par>
                                <p:cTn id="17" presetID="18" presetClass="entr" presetSubtype="6" fill="hold" grpId="0" nodeType="afterEffect">
                                  <p:stCondLst>
                                    <p:cond delay="500"/>
                                  </p:stCondLst>
                                  <p:childTnLst>
                                    <p:set>
                                      <p:cBhvr>
                                        <p:cTn id="18" dur="1" fill="hold">
                                          <p:stCondLst>
                                            <p:cond delay="0"/>
                                          </p:stCondLst>
                                        </p:cTn>
                                        <p:tgtEl>
                                          <p:spTgt spid="10"/>
                                        </p:tgtEl>
                                        <p:attrNameLst>
                                          <p:attrName>style.visibility</p:attrName>
                                        </p:attrNameLst>
                                      </p:cBhvr>
                                      <p:to>
                                        <p:strVal val="visible"/>
                                      </p:to>
                                    </p:set>
                                    <p:animEffect transition="in" filter="strips(downRight)">
                                      <p:cBhvr>
                                        <p:cTn id="19" dur="1000"/>
                                        <p:tgtEl>
                                          <p:spTgt spid="10"/>
                                        </p:tgtEl>
                                      </p:cBhvr>
                                    </p:animEffect>
                                  </p:childTnLst>
                                </p:cTn>
                              </p:par>
                            </p:childTnLst>
                          </p:cTn>
                        </p:par>
                        <p:par>
                          <p:cTn id="20" fill="hold">
                            <p:stCondLst>
                              <p:cond delay="6000"/>
                            </p:stCondLst>
                            <p:childTnLst>
                              <p:par>
                                <p:cTn id="21" presetID="18" presetClass="entr" presetSubtype="6" fill="hold" nodeType="afterEffect">
                                  <p:stCondLst>
                                    <p:cond delay="500"/>
                                  </p:stCondLst>
                                  <p:childTnLst>
                                    <p:set>
                                      <p:cBhvr>
                                        <p:cTn id="22" dur="1" fill="hold">
                                          <p:stCondLst>
                                            <p:cond delay="0"/>
                                          </p:stCondLst>
                                        </p:cTn>
                                        <p:tgtEl>
                                          <p:spTgt spid="80"/>
                                        </p:tgtEl>
                                        <p:attrNameLst>
                                          <p:attrName>style.visibility</p:attrName>
                                        </p:attrNameLst>
                                      </p:cBhvr>
                                      <p:to>
                                        <p:strVal val="visible"/>
                                      </p:to>
                                    </p:set>
                                    <p:animEffect transition="in" filter="strips(downRight)">
                                      <p:cBhvr>
                                        <p:cTn id="23" dur="1000"/>
                                        <p:tgtEl>
                                          <p:spTgt spid="80"/>
                                        </p:tgtEl>
                                      </p:cBhvr>
                                    </p:animEffect>
                                  </p:childTnLst>
                                </p:cTn>
                              </p:par>
                            </p:childTnLst>
                          </p:cTn>
                        </p:par>
                        <p:par>
                          <p:cTn id="24" fill="hold">
                            <p:stCondLst>
                              <p:cond delay="7500"/>
                            </p:stCondLst>
                            <p:childTnLst>
                              <p:par>
                                <p:cTn id="25" presetID="9" presetClass="entr" presetSubtype="0" fill="hold" grpId="0" nodeType="afterEffect">
                                  <p:stCondLst>
                                    <p:cond delay="50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1000"/>
                                        <p:tgtEl>
                                          <p:spTgt spid="8"/>
                                        </p:tgtEl>
                                      </p:cBhvr>
                                    </p:animEffect>
                                  </p:childTnLst>
                                </p:cTn>
                              </p:par>
                            </p:childTnLst>
                          </p:cTn>
                        </p:par>
                        <p:par>
                          <p:cTn id="28" fill="hold">
                            <p:stCondLst>
                              <p:cond delay="9000"/>
                            </p:stCondLst>
                            <p:childTnLst>
                              <p:par>
                                <p:cTn id="29" presetID="22" presetClass="entr" presetSubtype="8" fill="hold" nodeType="afterEffect">
                                  <p:stCondLst>
                                    <p:cond delay="50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1000"/>
                                        <p:tgtEl>
                                          <p:spTgt spid="17"/>
                                        </p:tgtEl>
                                      </p:cBhvr>
                                    </p:animEffect>
                                  </p:childTnLst>
                                </p:cTn>
                              </p:par>
                              <p:par>
                                <p:cTn id="32" presetID="18" presetClass="entr" presetSubtype="12" fill="hold" nodeType="with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strips(downLeft)">
                                      <p:cBhvr>
                                        <p:cTn id="34" dur="10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wipe(left)">
                                      <p:cBhvr>
                                        <p:cTn id="39" dur="1000"/>
                                        <p:tgtEl>
                                          <p:spTgt spid="32"/>
                                        </p:tgtEl>
                                      </p:cBhvr>
                                    </p:animEffect>
                                  </p:childTnLst>
                                </p:cTn>
                              </p:par>
                            </p:childTnLst>
                          </p:cTn>
                        </p:par>
                        <p:par>
                          <p:cTn id="40" fill="hold">
                            <p:stCondLst>
                              <p:cond delay="1000"/>
                            </p:stCondLst>
                            <p:childTnLst>
                              <p:par>
                                <p:cTn id="41" presetID="18" presetClass="entr" presetSubtype="3" fill="hold" nodeType="afterEffect">
                                  <p:stCondLst>
                                    <p:cond delay="500"/>
                                  </p:stCondLst>
                                  <p:childTnLst>
                                    <p:set>
                                      <p:cBhvr>
                                        <p:cTn id="42" dur="1" fill="hold">
                                          <p:stCondLst>
                                            <p:cond delay="0"/>
                                          </p:stCondLst>
                                        </p:cTn>
                                        <p:tgtEl>
                                          <p:spTgt spid="72"/>
                                        </p:tgtEl>
                                        <p:attrNameLst>
                                          <p:attrName>style.visibility</p:attrName>
                                        </p:attrNameLst>
                                      </p:cBhvr>
                                      <p:to>
                                        <p:strVal val="visible"/>
                                      </p:to>
                                    </p:set>
                                    <p:animEffect transition="in" filter="strips(upRight)">
                                      <p:cBhvr>
                                        <p:cTn id="43" dur="1000"/>
                                        <p:tgtEl>
                                          <p:spTgt spid="72"/>
                                        </p:tgtEl>
                                      </p:cBhvr>
                                    </p:animEffect>
                                  </p:childTnLst>
                                </p:cTn>
                              </p:par>
                            </p:childTnLst>
                          </p:cTn>
                        </p:par>
                        <p:par>
                          <p:cTn id="44" fill="hold">
                            <p:stCondLst>
                              <p:cond delay="2500"/>
                            </p:stCondLst>
                            <p:childTnLst>
                              <p:par>
                                <p:cTn id="45" presetID="18" presetClass="entr" presetSubtype="6" fill="hold" grpId="0" nodeType="afterEffect">
                                  <p:stCondLst>
                                    <p:cond delay="500"/>
                                  </p:stCondLst>
                                  <p:childTnLst>
                                    <p:set>
                                      <p:cBhvr>
                                        <p:cTn id="46" dur="1" fill="hold">
                                          <p:stCondLst>
                                            <p:cond delay="0"/>
                                          </p:stCondLst>
                                        </p:cTn>
                                        <p:tgtEl>
                                          <p:spTgt spid="31"/>
                                        </p:tgtEl>
                                        <p:attrNameLst>
                                          <p:attrName>style.visibility</p:attrName>
                                        </p:attrNameLst>
                                      </p:cBhvr>
                                      <p:to>
                                        <p:strVal val="visible"/>
                                      </p:to>
                                    </p:set>
                                    <p:animEffect transition="in" filter="strips(downRight)">
                                      <p:cBhvr>
                                        <p:cTn id="47" dur="1000"/>
                                        <p:tgtEl>
                                          <p:spTgt spid="31"/>
                                        </p:tgtEl>
                                      </p:cBhvr>
                                    </p:animEffect>
                                  </p:childTnLst>
                                </p:cTn>
                              </p:par>
                            </p:childTnLst>
                          </p:cTn>
                        </p:par>
                        <p:par>
                          <p:cTn id="48" fill="hold">
                            <p:stCondLst>
                              <p:cond delay="4000"/>
                            </p:stCondLst>
                            <p:childTnLst>
                              <p:par>
                                <p:cTn id="49" presetID="18" presetClass="entr" presetSubtype="6" fill="hold" grpId="0" nodeType="afterEffect">
                                  <p:stCondLst>
                                    <p:cond delay="500"/>
                                  </p:stCondLst>
                                  <p:childTnLst>
                                    <p:set>
                                      <p:cBhvr>
                                        <p:cTn id="50" dur="1" fill="hold">
                                          <p:stCondLst>
                                            <p:cond delay="0"/>
                                          </p:stCondLst>
                                        </p:cTn>
                                        <p:tgtEl>
                                          <p:spTgt spid="30"/>
                                        </p:tgtEl>
                                        <p:attrNameLst>
                                          <p:attrName>style.visibility</p:attrName>
                                        </p:attrNameLst>
                                      </p:cBhvr>
                                      <p:to>
                                        <p:strVal val="visible"/>
                                      </p:to>
                                    </p:set>
                                    <p:animEffect transition="in" filter="strips(downRight)">
                                      <p:cBhvr>
                                        <p:cTn id="51" dur="1000"/>
                                        <p:tgtEl>
                                          <p:spTgt spid="30"/>
                                        </p:tgtEl>
                                      </p:cBhvr>
                                    </p:animEffect>
                                  </p:childTnLst>
                                </p:cTn>
                              </p:par>
                            </p:childTnLst>
                          </p:cTn>
                        </p:par>
                        <p:par>
                          <p:cTn id="52" fill="hold">
                            <p:stCondLst>
                              <p:cond delay="5500"/>
                            </p:stCondLst>
                            <p:childTnLst>
                              <p:par>
                                <p:cTn id="53" presetID="18" presetClass="entr" presetSubtype="6" fill="hold" nodeType="afterEffect">
                                  <p:stCondLst>
                                    <p:cond delay="500"/>
                                  </p:stCondLst>
                                  <p:childTnLst>
                                    <p:set>
                                      <p:cBhvr>
                                        <p:cTn id="54" dur="1" fill="hold">
                                          <p:stCondLst>
                                            <p:cond delay="0"/>
                                          </p:stCondLst>
                                        </p:cTn>
                                        <p:tgtEl>
                                          <p:spTgt spid="56"/>
                                        </p:tgtEl>
                                        <p:attrNameLst>
                                          <p:attrName>style.visibility</p:attrName>
                                        </p:attrNameLst>
                                      </p:cBhvr>
                                      <p:to>
                                        <p:strVal val="visible"/>
                                      </p:to>
                                    </p:set>
                                    <p:animEffect transition="in" filter="strips(downRight)">
                                      <p:cBhvr>
                                        <p:cTn id="55" dur="1000"/>
                                        <p:tgtEl>
                                          <p:spTgt spid="56"/>
                                        </p:tgtEl>
                                      </p:cBhvr>
                                    </p:animEffect>
                                  </p:childTnLst>
                                </p:cTn>
                              </p:par>
                            </p:childTnLst>
                          </p:cTn>
                        </p:par>
                        <p:par>
                          <p:cTn id="56" fill="hold">
                            <p:stCondLst>
                              <p:cond delay="7000"/>
                            </p:stCondLst>
                            <p:childTnLst>
                              <p:par>
                                <p:cTn id="57" presetID="9" presetClass="entr" presetSubtype="0" fill="hold" grpId="0" nodeType="afterEffect">
                                  <p:stCondLst>
                                    <p:cond delay="500"/>
                                  </p:stCondLst>
                                  <p:childTnLst>
                                    <p:set>
                                      <p:cBhvr>
                                        <p:cTn id="58" dur="1" fill="hold">
                                          <p:stCondLst>
                                            <p:cond delay="0"/>
                                          </p:stCondLst>
                                        </p:cTn>
                                        <p:tgtEl>
                                          <p:spTgt spid="9"/>
                                        </p:tgtEl>
                                        <p:attrNameLst>
                                          <p:attrName>style.visibility</p:attrName>
                                        </p:attrNameLst>
                                      </p:cBhvr>
                                      <p:to>
                                        <p:strVal val="visible"/>
                                      </p:to>
                                    </p:set>
                                    <p:animEffect transition="in" filter="dissolve">
                                      <p:cBhvr>
                                        <p:cTn id="59" dur="1000"/>
                                        <p:tgtEl>
                                          <p:spTgt spid="9"/>
                                        </p:tgtEl>
                                      </p:cBhvr>
                                    </p:animEffect>
                                  </p:childTnLst>
                                </p:cTn>
                              </p:par>
                            </p:childTnLst>
                          </p:cTn>
                        </p:par>
                        <p:par>
                          <p:cTn id="60" fill="hold">
                            <p:stCondLst>
                              <p:cond delay="8500"/>
                            </p:stCondLst>
                            <p:childTnLst>
                              <p:par>
                                <p:cTn id="61" presetID="22" presetClass="entr" presetSubtype="8" fill="hold" nodeType="afterEffect">
                                  <p:stCondLst>
                                    <p:cond delay="500"/>
                                  </p:stCondLst>
                                  <p:childTnLst>
                                    <p:set>
                                      <p:cBhvr>
                                        <p:cTn id="62" dur="1" fill="hold">
                                          <p:stCondLst>
                                            <p:cond delay="0"/>
                                          </p:stCondLst>
                                        </p:cTn>
                                        <p:tgtEl>
                                          <p:spTgt spid="33"/>
                                        </p:tgtEl>
                                        <p:attrNameLst>
                                          <p:attrName>style.visibility</p:attrName>
                                        </p:attrNameLst>
                                      </p:cBhvr>
                                      <p:to>
                                        <p:strVal val="visible"/>
                                      </p:to>
                                    </p:set>
                                    <p:animEffect transition="in" filter="wipe(left)">
                                      <p:cBhvr>
                                        <p:cTn id="63" dur="1000"/>
                                        <p:tgtEl>
                                          <p:spTgt spid="33"/>
                                        </p:tgtEl>
                                      </p:cBhvr>
                                    </p:animEffect>
                                  </p:childTnLst>
                                </p:cTn>
                              </p:par>
                              <p:par>
                                <p:cTn id="64" presetID="18" presetClass="entr" presetSubtype="12" fill="hold" nodeType="withEffect">
                                  <p:stCondLst>
                                    <p:cond delay="500"/>
                                  </p:stCondLst>
                                  <p:childTnLst>
                                    <p:set>
                                      <p:cBhvr>
                                        <p:cTn id="65" dur="1" fill="hold">
                                          <p:stCondLst>
                                            <p:cond delay="0"/>
                                          </p:stCondLst>
                                        </p:cTn>
                                        <p:tgtEl>
                                          <p:spTgt spid="51"/>
                                        </p:tgtEl>
                                        <p:attrNameLst>
                                          <p:attrName>style.visibility</p:attrName>
                                        </p:attrNameLst>
                                      </p:cBhvr>
                                      <p:to>
                                        <p:strVal val="visible"/>
                                      </p:to>
                                    </p:set>
                                    <p:animEffect transition="in" filter="strips(downLeft)">
                                      <p:cBhvr>
                                        <p:cTn id="66" dur="1000"/>
                                        <p:tgtEl>
                                          <p:spTgt spid="5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79"/>
                                        </p:tgtEl>
                                        <p:attrNameLst>
                                          <p:attrName>style.visibility</p:attrName>
                                        </p:attrNameLst>
                                      </p:cBhvr>
                                      <p:to>
                                        <p:strVal val="visible"/>
                                      </p:to>
                                    </p:set>
                                    <p:animEffect transition="in" filter="wipe(left)">
                                      <p:cBhvr>
                                        <p:cTn id="71" dur="1000"/>
                                        <p:tgtEl>
                                          <p:spTgt spid="79"/>
                                        </p:tgtEl>
                                      </p:cBhvr>
                                    </p:animEffect>
                                  </p:childTnLst>
                                </p:cTn>
                              </p:par>
                            </p:childTnLst>
                          </p:cTn>
                        </p:par>
                        <p:par>
                          <p:cTn id="72" fill="hold">
                            <p:stCondLst>
                              <p:cond delay="1000"/>
                            </p:stCondLst>
                            <p:childTnLst>
                              <p:par>
                                <p:cTn id="73" presetID="18" presetClass="entr" presetSubtype="3" fill="hold" nodeType="afterEffect">
                                  <p:stCondLst>
                                    <p:cond delay="500"/>
                                  </p:stCondLst>
                                  <p:childTnLst>
                                    <p:set>
                                      <p:cBhvr>
                                        <p:cTn id="74" dur="1" fill="hold">
                                          <p:stCondLst>
                                            <p:cond delay="0"/>
                                          </p:stCondLst>
                                        </p:cTn>
                                        <p:tgtEl>
                                          <p:spTgt spid="65"/>
                                        </p:tgtEl>
                                        <p:attrNameLst>
                                          <p:attrName>style.visibility</p:attrName>
                                        </p:attrNameLst>
                                      </p:cBhvr>
                                      <p:to>
                                        <p:strVal val="visible"/>
                                      </p:to>
                                    </p:set>
                                    <p:animEffect transition="in" filter="strips(upRight)">
                                      <p:cBhvr>
                                        <p:cTn id="75" dur="1000"/>
                                        <p:tgtEl>
                                          <p:spTgt spid="65"/>
                                        </p:tgtEl>
                                      </p:cBhvr>
                                    </p:animEffect>
                                  </p:childTnLst>
                                </p:cTn>
                              </p:par>
                            </p:childTnLst>
                          </p:cTn>
                        </p:par>
                        <p:par>
                          <p:cTn id="76" fill="hold">
                            <p:stCondLst>
                              <p:cond delay="2500"/>
                            </p:stCondLst>
                            <p:childTnLst>
                              <p:par>
                                <p:cTn id="77" presetID="18" presetClass="entr" presetSubtype="6" fill="hold" grpId="0" nodeType="afterEffect">
                                  <p:stCondLst>
                                    <p:cond delay="500"/>
                                  </p:stCondLst>
                                  <p:childTnLst>
                                    <p:set>
                                      <p:cBhvr>
                                        <p:cTn id="78" dur="1" fill="hold">
                                          <p:stCondLst>
                                            <p:cond delay="0"/>
                                          </p:stCondLst>
                                        </p:cTn>
                                        <p:tgtEl>
                                          <p:spTgt spid="40"/>
                                        </p:tgtEl>
                                        <p:attrNameLst>
                                          <p:attrName>style.visibility</p:attrName>
                                        </p:attrNameLst>
                                      </p:cBhvr>
                                      <p:to>
                                        <p:strVal val="visible"/>
                                      </p:to>
                                    </p:set>
                                    <p:animEffect transition="in" filter="strips(downRight)">
                                      <p:cBhvr>
                                        <p:cTn id="79" dur="1000"/>
                                        <p:tgtEl>
                                          <p:spTgt spid="40"/>
                                        </p:tgtEl>
                                      </p:cBhvr>
                                    </p:animEffect>
                                  </p:childTnLst>
                                </p:cTn>
                              </p:par>
                            </p:childTnLst>
                          </p:cTn>
                        </p:par>
                        <p:par>
                          <p:cTn id="80" fill="hold">
                            <p:stCondLst>
                              <p:cond delay="4000"/>
                            </p:stCondLst>
                            <p:childTnLst>
                              <p:par>
                                <p:cTn id="81" presetID="18" presetClass="entr" presetSubtype="6" fill="hold" grpId="0" nodeType="afterEffect">
                                  <p:stCondLst>
                                    <p:cond delay="500"/>
                                  </p:stCondLst>
                                  <p:childTnLst>
                                    <p:set>
                                      <p:cBhvr>
                                        <p:cTn id="82" dur="1" fill="hold">
                                          <p:stCondLst>
                                            <p:cond delay="0"/>
                                          </p:stCondLst>
                                        </p:cTn>
                                        <p:tgtEl>
                                          <p:spTgt spid="39"/>
                                        </p:tgtEl>
                                        <p:attrNameLst>
                                          <p:attrName>style.visibility</p:attrName>
                                        </p:attrNameLst>
                                      </p:cBhvr>
                                      <p:to>
                                        <p:strVal val="visible"/>
                                      </p:to>
                                    </p:set>
                                    <p:animEffect transition="in" filter="strips(downRight)">
                                      <p:cBhvr>
                                        <p:cTn id="83" dur="1000"/>
                                        <p:tgtEl>
                                          <p:spTgt spid="39"/>
                                        </p:tgtEl>
                                      </p:cBhvr>
                                    </p:animEffect>
                                  </p:childTnLst>
                                </p:cTn>
                              </p:par>
                            </p:childTnLst>
                          </p:cTn>
                        </p:par>
                        <p:par>
                          <p:cTn id="84" fill="hold">
                            <p:stCondLst>
                              <p:cond delay="5500"/>
                            </p:stCondLst>
                            <p:childTnLst>
                              <p:par>
                                <p:cTn id="85" presetID="18" presetClass="entr" presetSubtype="6" fill="hold" nodeType="afterEffect">
                                  <p:stCondLst>
                                    <p:cond delay="500"/>
                                  </p:stCondLst>
                                  <p:childTnLst>
                                    <p:set>
                                      <p:cBhvr>
                                        <p:cTn id="86" dur="1" fill="hold">
                                          <p:stCondLst>
                                            <p:cond delay="0"/>
                                          </p:stCondLst>
                                        </p:cTn>
                                        <p:tgtEl>
                                          <p:spTgt spid="87"/>
                                        </p:tgtEl>
                                        <p:attrNameLst>
                                          <p:attrName>style.visibility</p:attrName>
                                        </p:attrNameLst>
                                      </p:cBhvr>
                                      <p:to>
                                        <p:strVal val="visible"/>
                                      </p:to>
                                    </p:set>
                                    <p:animEffect transition="in" filter="strips(downRight)">
                                      <p:cBhvr>
                                        <p:cTn id="87" dur="1000"/>
                                        <p:tgtEl>
                                          <p:spTgt spid="87"/>
                                        </p:tgtEl>
                                      </p:cBhvr>
                                    </p:animEffect>
                                  </p:childTnLst>
                                </p:cTn>
                              </p:par>
                            </p:childTnLst>
                          </p:cTn>
                        </p:par>
                        <p:par>
                          <p:cTn id="88" fill="hold">
                            <p:stCondLst>
                              <p:cond delay="7000"/>
                            </p:stCondLst>
                            <p:childTnLst>
                              <p:par>
                                <p:cTn id="89" presetID="9" presetClass="entr" presetSubtype="0" fill="hold" grpId="0" nodeType="afterEffect">
                                  <p:stCondLst>
                                    <p:cond delay="500"/>
                                  </p:stCondLst>
                                  <p:childTnLst>
                                    <p:set>
                                      <p:cBhvr>
                                        <p:cTn id="90" dur="1" fill="hold">
                                          <p:stCondLst>
                                            <p:cond delay="0"/>
                                          </p:stCondLst>
                                        </p:cTn>
                                        <p:tgtEl>
                                          <p:spTgt spid="7"/>
                                        </p:tgtEl>
                                        <p:attrNameLst>
                                          <p:attrName>style.visibility</p:attrName>
                                        </p:attrNameLst>
                                      </p:cBhvr>
                                      <p:to>
                                        <p:strVal val="visible"/>
                                      </p:to>
                                    </p:set>
                                    <p:animEffect transition="in" filter="dissolve">
                                      <p:cBhvr>
                                        <p:cTn id="91" dur="1000"/>
                                        <p:tgtEl>
                                          <p:spTgt spid="7"/>
                                        </p:tgtEl>
                                      </p:cBhvr>
                                    </p:animEffect>
                                  </p:childTnLst>
                                </p:cTn>
                              </p:par>
                            </p:childTnLst>
                          </p:cTn>
                        </p:par>
                        <p:par>
                          <p:cTn id="92" fill="hold">
                            <p:stCondLst>
                              <p:cond delay="8500"/>
                            </p:stCondLst>
                            <p:childTnLst>
                              <p:par>
                                <p:cTn id="93" presetID="22" presetClass="entr" presetSubtype="8" fill="hold" nodeType="afterEffect">
                                  <p:stCondLst>
                                    <p:cond delay="500"/>
                                  </p:stCondLst>
                                  <p:childTnLst>
                                    <p:set>
                                      <p:cBhvr>
                                        <p:cTn id="94" dur="1" fill="hold">
                                          <p:stCondLst>
                                            <p:cond delay="0"/>
                                          </p:stCondLst>
                                        </p:cTn>
                                        <p:tgtEl>
                                          <p:spTgt spid="45"/>
                                        </p:tgtEl>
                                        <p:attrNameLst>
                                          <p:attrName>style.visibility</p:attrName>
                                        </p:attrNameLst>
                                      </p:cBhvr>
                                      <p:to>
                                        <p:strVal val="visible"/>
                                      </p:to>
                                    </p:set>
                                    <p:animEffect transition="in" filter="wipe(left)">
                                      <p:cBhvr>
                                        <p:cTn id="95" dur="1000"/>
                                        <p:tgtEl>
                                          <p:spTgt spid="45"/>
                                        </p:tgtEl>
                                      </p:cBhvr>
                                    </p:animEffect>
                                  </p:childTnLst>
                                </p:cTn>
                              </p:par>
                              <p:par>
                                <p:cTn id="96" presetID="18" presetClass="entr" presetSubtype="12" fill="hold" nodeType="withEffect">
                                  <p:stCondLst>
                                    <p:cond delay="500"/>
                                  </p:stCondLst>
                                  <p:childTnLst>
                                    <p:set>
                                      <p:cBhvr>
                                        <p:cTn id="97" dur="1" fill="hold">
                                          <p:stCondLst>
                                            <p:cond delay="0"/>
                                          </p:stCondLst>
                                        </p:cTn>
                                        <p:tgtEl>
                                          <p:spTgt spid="41"/>
                                        </p:tgtEl>
                                        <p:attrNameLst>
                                          <p:attrName>style.visibility</p:attrName>
                                        </p:attrNameLst>
                                      </p:cBhvr>
                                      <p:to>
                                        <p:strVal val="visible"/>
                                      </p:to>
                                    </p:set>
                                    <p:animEffect transition="in" filter="strips(downLeft)">
                                      <p:cBhvr>
                                        <p:cTn id="98" dur="1000"/>
                                        <p:tgtEl>
                                          <p:spTgt spid="41"/>
                                        </p:tgtEl>
                                      </p:cBhvr>
                                    </p:animEffect>
                                  </p:childTnLst>
                                </p:cTn>
                              </p:par>
                            </p:childTnLst>
                          </p:cTn>
                        </p:par>
                        <p:par>
                          <p:cTn id="99" fill="hold">
                            <p:stCondLst>
                              <p:cond delay="10000"/>
                            </p:stCondLst>
                            <p:childTnLst>
                              <p:par>
                                <p:cTn id="100" presetID="22" presetClass="entr" presetSubtype="8" fill="hold" grpId="0" nodeType="afterEffect">
                                  <p:stCondLst>
                                    <p:cond delay="0"/>
                                  </p:stCondLst>
                                  <p:childTnLst>
                                    <p:set>
                                      <p:cBhvr>
                                        <p:cTn id="101" dur="1" fill="hold">
                                          <p:stCondLst>
                                            <p:cond delay="0"/>
                                          </p:stCondLst>
                                        </p:cTn>
                                        <p:tgtEl>
                                          <p:spTgt spid="95"/>
                                        </p:tgtEl>
                                        <p:attrNameLst>
                                          <p:attrName>style.visibility</p:attrName>
                                        </p:attrNameLst>
                                      </p:cBhvr>
                                      <p:to>
                                        <p:strVal val="visible"/>
                                      </p:to>
                                    </p:set>
                                    <p:animEffect transition="in" filter="wipe(left)">
                                      <p:cBhvr>
                                        <p:cTn id="102" dur="10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p:bldP spid="30" grpId="0" animBg="1"/>
      <p:bldP spid="31" grpId="0" animBg="1"/>
      <p:bldP spid="32" grpId="0"/>
      <p:bldP spid="39" grpId="0" animBg="1"/>
      <p:bldP spid="40" grpId="0" animBg="1"/>
      <p:bldP spid="79" grpId="0"/>
      <p:bldP spid="9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title"/>
          </p:nvPr>
        </p:nvSpPr>
        <p:spPr>
          <a:xfrm>
            <a:off x="457200" y="274638"/>
            <a:ext cx="8229600" cy="1325562"/>
          </a:xfrm>
        </p:spPr>
        <p:txBody>
          <a:bodyPr lIns="90488" tIns="44450" rIns="90488" bIns="44450" anchor="b"/>
          <a:lstStyle/>
          <a:p>
            <a:r>
              <a:rPr lang="en-US" sz="4000">
                <a:latin typeface="Arial" charset="0"/>
                <a:ea typeface="MS PGothic" pitchFamily="34" charset="-128"/>
                <a:cs typeface="Arial" charset="0"/>
              </a:rPr>
              <a:t>Changes in Resources or </a:t>
            </a:r>
            <a:br>
              <a:rPr lang="en-US" sz="4000">
                <a:latin typeface="Arial" charset="0"/>
                <a:ea typeface="MS PGothic" pitchFamily="34" charset="-128"/>
                <a:cs typeface="Arial" charset="0"/>
              </a:rPr>
            </a:br>
            <a:r>
              <a:rPr lang="en-US" sz="4000">
                <a:latin typeface="Arial" charset="0"/>
                <a:ea typeface="MS PGothic" pitchFamily="34" charset="-128"/>
                <a:cs typeface="Arial" charset="0"/>
              </a:rPr>
              <a:t>Right-Hand-Side Values</a:t>
            </a:r>
            <a:endParaRPr lang="en-US" sz="4000" b="0">
              <a:latin typeface="Arial" charset="0"/>
              <a:ea typeface="MS PGothic" pitchFamily="34" charset="-128"/>
              <a:cs typeface="Arial" charset="0"/>
            </a:endParaRPr>
          </a:p>
        </p:txBody>
      </p:sp>
      <p:sp>
        <p:nvSpPr>
          <p:cNvPr id="112642" name="Content Placeholder 1"/>
          <p:cNvSpPr>
            <a:spLocks noGrp="1"/>
          </p:cNvSpPr>
          <p:nvPr>
            <p:ph idx="1"/>
          </p:nvPr>
        </p:nvSpPr>
        <p:spPr>
          <a:xfrm>
            <a:off x="673100" y="1828800"/>
            <a:ext cx="7823200" cy="4140200"/>
          </a:xfrm>
        </p:spPr>
        <p:txBody>
          <a:bodyPr/>
          <a:lstStyle/>
          <a:p>
            <a:r>
              <a:rPr lang="en-US">
                <a:latin typeface="Arial" charset="0"/>
                <a:cs typeface="Arial" charset="0"/>
              </a:rPr>
              <a:t>Right-hand-side values of the constraints often represent resources available to the firm</a:t>
            </a:r>
          </a:p>
          <a:p>
            <a:r>
              <a:rPr lang="en-US">
                <a:latin typeface="Arial" charset="0"/>
                <a:cs typeface="Arial" charset="0"/>
              </a:rPr>
              <a:t>Additional resources may lead to higher total profit</a:t>
            </a:r>
          </a:p>
          <a:p>
            <a:r>
              <a:rPr lang="en-US">
                <a:latin typeface="Arial" charset="0"/>
                <a:cs typeface="Arial" charset="0"/>
              </a:rPr>
              <a:t>Sensitivity analysis about resources helps answer questions about</a:t>
            </a:r>
          </a:p>
          <a:p>
            <a:pPr lvl="1"/>
            <a:r>
              <a:rPr lang="en-US">
                <a:latin typeface="Arial" charset="0"/>
                <a:cs typeface="Arial" charset="0"/>
              </a:rPr>
              <a:t>How much should be paid for additional resources</a:t>
            </a:r>
          </a:p>
          <a:p>
            <a:pPr lvl="1"/>
            <a:r>
              <a:rPr lang="en-US">
                <a:latin typeface="Arial" charset="0"/>
                <a:cs typeface="Arial" charset="0"/>
              </a:rPr>
              <a:t>How much more of a resource would be useful</a:t>
            </a:r>
          </a:p>
        </p:txBody>
      </p:sp>
      <p:sp>
        <p:nvSpPr>
          <p:cNvPr id="4" name="Slide Number Placeholder 9"/>
          <p:cNvSpPr>
            <a:spLocks noGrp="1"/>
          </p:cNvSpPr>
          <p:nvPr>
            <p:ph type="sldNum" sz="quarter" idx="11"/>
          </p:nvPr>
        </p:nvSpPr>
        <p:spPr/>
        <p:txBody>
          <a:bodyPr/>
          <a:lstStyle/>
          <a:p>
            <a:pPr>
              <a:defRPr/>
            </a:pPr>
            <a:r>
              <a:rPr lang="en-US"/>
              <a:t>7 – </a:t>
            </a:r>
            <a:fld id="{FB767371-BFE1-4ABC-AAF5-001D7145A377}" type="slidenum">
              <a:rPr lang="en-US"/>
              <a:pPr>
                <a:defRPr/>
              </a:pPr>
              <a:t>35</a:t>
            </a:fld>
            <a:endParaRPr lang="en-US"/>
          </a:p>
        </p:txBody>
      </p:sp>
      <p:sp>
        <p:nvSpPr>
          <p:cNvPr id="5" name="Date Placeholder 3"/>
          <p:cNvSpPr>
            <a:spLocks noGrp="1"/>
          </p:cNvSpPr>
          <p:nvPr>
            <p:ph type="dt" sz="quarter" idx="10"/>
          </p:nvPr>
        </p:nvSpPr>
        <p:spPr/>
        <p:txBody>
          <a:bodyPr/>
          <a:lstStyle/>
          <a:p>
            <a:pPr>
              <a:defRPr/>
            </a:pPr>
            <a:r>
              <a:rPr lang="en-US"/>
              <a:t>Copyright ©2015 Pearson Education, Inc.</a:t>
            </a:r>
            <a:endParaRPr lang="en-US" dirty="0"/>
          </a:p>
        </p:txBody>
      </p:sp>
    </p:spTree>
  </p:cSld>
  <p:clrMapOvr>
    <a:masterClrMapping/>
  </p:clrMapOvr>
  <p:transition>
    <p:pull dir="l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a:xfrm>
            <a:off x="457200" y="274638"/>
            <a:ext cx="8229600" cy="1325562"/>
          </a:xfrm>
        </p:spPr>
        <p:txBody>
          <a:bodyPr lIns="90488" tIns="44450" rIns="90488" bIns="44450" anchor="b"/>
          <a:lstStyle/>
          <a:p>
            <a:r>
              <a:rPr lang="en-US" sz="4000">
                <a:latin typeface="Arial" charset="0"/>
                <a:ea typeface="MS PGothic" pitchFamily="34" charset="-128"/>
                <a:cs typeface="Arial" charset="0"/>
              </a:rPr>
              <a:t>Changes in Resources or </a:t>
            </a:r>
            <a:br>
              <a:rPr lang="en-US" sz="4000">
                <a:latin typeface="Arial" charset="0"/>
                <a:ea typeface="MS PGothic" pitchFamily="34" charset="-128"/>
                <a:cs typeface="Arial" charset="0"/>
              </a:rPr>
            </a:br>
            <a:r>
              <a:rPr lang="en-US" sz="4000">
                <a:latin typeface="Arial" charset="0"/>
                <a:ea typeface="MS PGothic" pitchFamily="34" charset="-128"/>
                <a:cs typeface="Arial" charset="0"/>
              </a:rPr>
              <a:t>Right-Hand-Side Values</a:t>
            </a:r>
            <a:endParaRPr lang="en-US" sz="4000" b="0">
              <a:latin typeface="Arial" charset="0"/>
              <a:ea typeface="MS PGothic" pitchFamily="34" charset="-128"/>
              <a:cs typeface="Arial" charset="0"/>
            </a:endParaRPr>
          </a:p>
        </p:txBody>
      </p:sp>
      <p:sp>
        <p:nvSpPr>
          <p:cNvPr id="113666" name="Content Placeholder 1"/>
          <p:cNvSpPr>
            <a:spLocks noGrp="1"/>
          </p:cNvSpPr>
          <p:nvPr>
            <p:ph idx="1"/>
          </p:nvPr>
        </p:nvSpPr>
        <p:spPr>
          <a:xfrm>
            <a:off x="673100" y="1828800"/>
            <a:ext cx="7823200" cy="4470400"/>
          </a:xfrm>
        </p:spPr>
        <p:txBody>
          <a:bodyPr/>
          <a:lstStyle/>
          <a:p>
            <a:r>
              <a:rPr lang="en-US">
                <a:latin typeface="Arial" charset="0"/>
                <a:cs typeface="Arial" charset="0"/>
              </a:rPr>
              <a:t>Changing the RHS will change the feasible region, unless the constraint is redundant</a:t>
            </a:r>
          </a:p>
          <a:p>
            <a:r>
              <a:rPr lang="en-US">
                <a:latin typeface="Arial" charset="0"/>
                <a:cs typeface="Arial" charset="0"/>
              </a:rPr>
              <a:t>Often changes the optimal solution</a:t>
            </a:r>
          </a:p>
          <a:p>
            <a:r>
              <a:rPr lang="en-US">
                <a:latin typeface="Arial" charset="0"/>
                <a:cs typeface="Arial" charset="0"/>
              </a:rPr>
              <a:t>The </a:t>
            </a:r>
            <a:r>
              <a:rPr lang="en-US" b="1">
                <a:latin typeface="Arial" charset="0"/>
                <a:cs typeface="Arial" charset="0"/>
              </a:rPr>
              <a:t>dual price </a:t>
            </a:r>
            <a:r>
              <a:rPr lang="en-US">
                <a:latin typeface="Arial" charset="0"/>
                <a:cs typeface="Arial" charset="0"/>
              </a:rPr>
              <a:t>or dual value</a:t>
            </a:r>
          </a:p>
          <a:p>
            <a:pPr lvl="1"/>
            <a:r>
              <a:rPr lang="en-US">
                <a:latin typeface="Arial" charset="0"/>
                <a:cs typeface="Arial" charset="0"/>
              </a:rPr>
              <a:t>The amount of change in the objective function value that results from a unit change in one of the resources</a:t>
            </a:r>
          </a:p>
          <a:p>
            <a:pPr lvl="1"/>
            <a:r>
              <a:rPr lang="en-US">
                <a:latin typeface="Arial" charset="0"/>
                <a:cs typeface="Arial" charset="0"/>
              </a:rPr>
              <a:t>The dual price for a constraint is the improvement in the objective function value that results from a one-unit increase in the right-hand side of the constraint</a:t>
            </a:r>
          </a:p>
        </p:txBody>
      </p:sp>
      <p:sp>
        <p:nvSpPr>
          <p:cNvPr id="4" name="Slide Number Placeholder 9"/>
          <p:cNvSpPr>
            <a:spLocks noGrp="1"/>
          </p:cNvSpPr>
          <p:nvPr>
            <p:ph type="sldNum" sz="quarter" idx="11"/>
          </p:nvPr>
        </p:nvSpPr>
        <p:spPr/>
        <p:txBody>
          <a:bodyPr/>
          <a:lstStyle/>
          <a:p>
            <a:pPr>
              <a:defRPr/>
            </a:pPr>
            <a:r>
              <a:rPr lang="en-US"/>
              <a:t>7 – </a:t>
            </a:r>
            <a:fld id="{4DEB854E-689D-4246-B064-39B5139A40A9}" type="slidenum">
              <a:rPr lang="en-US"/>
              <a:pPr>
                <a:defRPr/>
              </a:pPr>
              <a:t>36</a:t>
            </a:fld>
            <a:endParaRPr lang="en-US"/>
          </a:p>
        </p:txBody>
      </p:sp>
      <p:sp>
        <p:nvSpPr>
          <p:cNvPr id="5" name="Date Placeholder 3"/>
          <p:cNvSpPr>
            <a:spLocks noGrp="1"/>
          </p:cNvSpPr>
          <p:nvPr>
            <p:ph type="dt" sz="quarter" idx="10"/>
          </p:nvPr>
        </p:nvSpPr>
        <p:spPr/>
        <p:txBody>
          <a:bodyPr/>
          <a:lstStyle/>
          <a:p>
            <a:pPr>
              <a:defRPr/>
            </a:pPr>
            <a:r>
              <a:rPr lang="en-US"/>
              <a:t>Copyright ©2015 Pearson Education, Inc.</a:t>
            </a:r>
            <a:endParaRPr lang="en-US" dirty="0"/>
          </a:p>
        </p:txBody>
      </p:sp>
    </p:spTree>
  </p:cSld>
  <p:clrMapOvr>
    <a:masterClrMapping/>
  </p:clrMapOvr>
  <p:transition spd="slow">
    <p:strips/>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ChangeArrowheads="1"/>
          </p:cNvSpPr>
          <p:nvPr>
            <p:ph type="title"/>
          </p:nvPr>
        </p:nvSpPr>
        <p:spPr>
          <a:xfrm>
            <a:off x="457200" y="274638"/>
            <a:ext cx="8229600" cy="1325562"/>
          </a:xfrm>
        </p:spPr>
        <p:txBody>
          <a:bodyPr lIns="90488" tIns="44450" rIns="90488" bIns="44450" anchor="b"/>
          <a:lstStyle/>
          <a:p>
            <a:r>
              <a:rPr lang="en-US" sz="4000">
                <a:latin typeface="Arial" charset="0"/>
                <a:ea typeface="MS PGothic" pitchFamily="34" charset="-128"/>
                <a:cs typeface="Arial" charset="0"/>
              </a:rPr>
              <a:t>Changes in Resources or </a:t>
            </a:r>
            <a:br>
              <a:rPr lang="en-US" sz="4000">
                <a:latin typeface="Arial" charset="0"/>
                <a:ea typeface="MS PGothic" pitchFamily="34" charset="-128"/>
                <a:cs typeface="Arial" charset="0"/>
              </a:rPr>
            </a:br>
            <a:r>
              <a:rPr lang="en-US" sz="4000">
                <a:latin typeface="Arial" charset="0"/>
                <a:ea typeface="MS PGothic" pitchFamily="34" charset="-128"/>
                <a:cs typeface="Arial" charset="0"/>
              </a:rPr>
              <a:t>Right-Hand-Side Values</a:t>
            </a:r>
            <a:endParaRPr lang="en-US" sz="4000" b="0">
              <a:latin typeface="Arial" charset="0"/>
              <a:ea typeface="MS PGothic" pitchFamily="34" charset="-128"/>
              <a:cs typeface="Arial" charset="0"/>
            </a:endParaRPr>
          </a:p>
        </p:txBody>
      </p:sp>
      <p:sp>
        <p:nvSpPr>
          <p:cNvPr id="114690" name="Content Placeholder 1"/>
          <p:cNvSpPr>
            <a:spLocks noGrp="1"/>
          </p:cNvSpPr>
          <p:nvPr>
            <p:ph idx="1"/>
          </p:nvPr>
        </p:nvSpPr>
        <p:spPr>
          <a:xfrm>
            <a:off x="673100" y="1828800"/>
            <a:ext cx="7823200" cy="4470400"/>
          </a:xfrm>
        </p:spPr>
        <p:txBody>
          <a:bodyPr/>
          <a:lstStyle/>
          <a:p>
            <a:r>
              <a:rPr lang="en-US">
                <a:latin typeface="Arial" charset="0"/>
                <a:cs typeface="Arial" charset="0"/>
              </a:rPr>
              <a:t>The amount of possible increase in the RHS is limited</a:t>
            </a:r>
          </a:p>
          <a:p>
            <a:r>
              <a:rPr lang="en-US">
                <a:latin typeface="Arial" charset="0"/>
                <a:cs typeface="Arial" charset="0"/>
              </a:rPr>
              <a:t>If the RHS is increased beyond the upper bound, then the objective function would no longer increase by the dual price</a:t>
            </a:r>
          </a:p>
          <a:p>
            <a:r>
              <a:rPr lang="en-US">
                <a:latin typeface="Arial" charset="0"/>
                <a:cs typeface="Arial" charset="0"/>
              </a:rPr>
              <a:t>There would be excess (slack) resources or the objective function may change by an amount different from the dual price</a:t>
            </a:r>
          </a:p>
          <a:p>
            <a:r>
              <a:rPr lang="en-US">
                <a:latin typeface="Arial" charset="0"/>
                <a:cs typeface="Arial" charset="0"/>
              </a:rPr>
              <a:t>The dual price is relevant only within limits</a:t>
            </a:r>
          </a:p>
        </p:txBody>
      </p:sp>
      <p:sp>
        <p:nvSpPr>
          <p:cNvPr id="4" name="Slide Number Placeholder 9"/>
          <p:cNvSpPr>
            <a:spLocks noGrp="1"/>
          </p:cNvSpPr>
          <p:nvPr>
            <p:ph type="sldNum" sz="quarter" idx="11"/>
          </p:nvPr>
        </p:nvSpPr>
        <p:spPr/>
        <p:txBody>
          <a:bodyPr/>
          <a:lstStyle/>
          <a:p>
            <a:pPr>
              <a:defRPr/>
            </a:pPr>
            <a:r>
              <a:rPr lang="en-US"/>
              <a:t>7 – </a:t>
            </a:r>
            <a:fld id="{E91C59D5-0D4E-4F8B-866A-6D73BBD40AE1}" type="slidenum">
              <a:rPr lang="en-US"/>
              <a:pPr>
                <a:defRPr/>
              </a:pPr>
              <a:t>37</a:t>
            </a:fld>
            <a:endParaRPr lang="en-US"/>
          </a:p>
        </p:txBody>
      </p:sp>
      <p:sp>
        <p:nvSpPr>
          <p:cNvPr id="6" name="Date Placeholder 3"/>
          <p:cNvSpPr>
            <a:spLocks noGrp="1"/>
          </p:cNvSpPr>
          <p:nvPr>
            <p:ph type="dt" sz="quarter" idx="10"/>
          </p:nvPr>
        </p:nvSpPr>
        <p:spPr/>
        <p:txBody>
          <a:bodyPr/>
          <a:lstStyle/>
          <a:p>
            <a:pPr>
              <a:defRPr/>
            </a:pPr>
            <a:r>
              <a:rPr lang="en-US"/>
              <a:t>Copyright ©2015 Pearson Education, Inc.</a:t>
            </a:r>
            <a:endParaRPr lang="en-US" dirty="0"/>
          </a:p>
        </p:txBody>
      </p:sp>
    </p:spTree>
  </p:cSld>
  <p:clrMapOvr>
    <a:masterClrMapping/>
  </p:clrMapOvr>
  <p:transition spd="slow">
    <p:strips/>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dirty="0"/>
              <a:t>Changes in the Electricians’ Time Resource </a:t>
            </a:r>
          </a:p>
        </p:txBody>
      </p:sp>
      <p:sp>
        <p:nvSpPr>
          <p:cNvPr id="115714" name="Date Placeholder 3"/>
          <p:cNvSpPr>
            <a:spLocks noGrp="1"/>
          </p:cNvSpPr>
          <p:nvPr>
            <p:ph type="dt" sz="quarter" idx="10"/>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latin typeface="Arial" charset="0"/>
                <a:cs typeface="Arial" charset="0"/>
              </a:rPr>
              <a:t>Copyright ©2015 Pearson Education, Inc.</a:t>
            </a:r>
          </a:p>
        </p:txBody>
      </p:sp>
      <p:sp>
        <p:nvSpPr>
          <p:cNvPr id="7" name="Freeform 25"/>
          <p:cNvSpPr>
            <a:spLocks/>
          </p:cNvSpPr>
          <p:nvPr/>
        </p:nvSpPr>
        <p:spPr bwMode="auto">
          <a:xfrm>
            <a:off x="1612900" y="4305300"/>
            <a:ext cx="1079500" cy="1333500"/>
          </a:xfrm>
          <a:custGeom>
            <a:avLst/>
            <a:gdLst>
              <a:gd name="T0" fmla="*/ 0 w 680"/>
              <a:gd name="T1" fmla="*/ 0 h 840"/>
              <a:gd name="T2" fmla="*/ 0 w 680"/>
              <a:gd name="T3" fmla="*/ 2147483647 h 840"/>
              <a:gd name="T4" fmla="*/ 2147483647 w 680"/>
              <a:gd name="T5" fmla="*/ 2147483647 h 840"/>
              <a:gd name="T6" fmla="*/ 2147483647 w 680"/>
              <a:gd name="T7" fmla="*/ 2147483647 h 840"/>
              <a:gd name="T8" fmla="*/ 0 w 680"/>
              <a:gd name="T9" fmla="*/ 0 h 840"/>
              <a:gd name="T10" fmla="*/ 0 60000 65536"/>
              <a:gd name="T11" fmla="*/ 0 60000 65536"/>
              <a:gd name="T12" fmla="*/ 0 60000 65536"/>
              <a:gd name="T13" fmla="*/ 0 60000 65536"/>
              <a:gd name="T14" fmla="*/ 0 60000 65536"/>
              <a:gd name="T15" fmla="*/ 0 w 680"/>
              <a:gd name="T16" fmla="*/ 0 h 840"/>
              <a:gd name="T17" fmla="*/ 680 w 680"/>
              <a:gd name="T18" fmla="*/ 840 h 840"/>
            </a:gdLst>
            <a:ahLst/>
            <a:cxnLst>
              <a:cxn ang="T10">
                <a:pos x="T0" y="T1"/>
              </a:cxn>
              <a:cxn ang="T11">
                <a:pos x="T2" y="T3"/>
              </a:cxn>
              <a:cxn ang="T12">
                <a:pos x="T4" y="T5"/>
              </a:cxn>
              <a:cxn ang="T13">
                <a:pos x="T6" y="T7"/>
              </a:cxn>
              <a:cxn ang="T14">
                <a:pos x="T8" y="T9"/>
              </a:cxn>
            </a:cxnLst>
            <a:rect l="T15" t="T16" r="T17" b="T18"/>
            <a:pathLst>
              <a:path w="680" h="840">
                <a:moveTo>
                  <a:pt x="0" y="0"/>
                </a:moveTo>
                <a:lnTo>
                  <a:pt x="0" y="840"/>
                </a:lnTo>
                <a:lnTo>
                  <a:pt x="680" y="840"/>
                </a:lnTo>
                <a:lnTo>
                  <a:pt x="472" y="240"/>
                </a:lnTo>
                <a:lnTo>
                  <a:pt x="0" y="0"/>
                </a:lnTo>
                <a:close/>
              </a:path>
            </a:pathLst>
          </a:custGeom>
          <a:solidFill>
            <a:srgbClr val="BBE2EE"/>
          </a:solidFill>
          <a:ln w="9525">
            <a:noFill/>
            <a:round/>
            <a:headEnd/>
            <a:tailEnd/>
          </a:ln>
        </p:spPr>
        <p:txBody>
          <a:bodyPr/>
          <a:lstStyle/>
          <a:p>
            <a:endParaRPr lang="en-US"/>
          </a:p>
        </p:txBody>
      </p:sp>
      <p:grpSp>
        <p:nvGrpSpPr>
          <p:cNvPr id="8" name="Group 26"/>
          <p:cNvGrpSpPr>
            <a:grpSpLocks/>
          </p:cNvGrpSpPr>
          <p:nvPr/>
        </p:nvGrpSpPr>
        <p:grpSpPr bwMode="auto">
          <a:xfrm>
            <a:off x="1165225" y="1597025"/>
            <a:ext cx="5416550" cy="4441825"/>
            <a:chOff x="822" y="958"/>
            <a:chExt cx="3412" cy="2798"/>
          </a:xfrm>
        </p:grpSpPr>
        <p:sp>
          <p:nvSpPr>
            <p:cNvPr id="115732" name="Freeform 5"/>
            <p:cNvSpPr>
              <a:spLocks/>
            </p:cNvSpPr>
            <p:nvPr/>
          </p:nvSpPr>
          <p:spPr bwMode="auto">
            <a:xfrm>
              <a:off x="1104" y="1168"/>
              <a:ext cx="3048" cy="2344"/>
            </a:xfrm>
            <a:custGeom>
              <a:avLst/>
              <a:gdLst>
                <a:gd name="T0" fmla="*/ 0 w 3048"/>
                <a:gd name="T1" fmla="*/ 0 h 2344"/>
                <a:gd name="T2" fmla="*/ 0 w 3048"/>
                <a:gd name="T3" fmla="*/ 2344 h 2344"/>
                <a:gd name="T4" fmla="*/ 3048 w 3048"/>
                <a:gd name="T5" fmla="*/ 2344 h 2344"/>
                <a:gd name="T6" fmla="*/ 0 60000 65536"/>
                <a:gd name="T7" fmla="*/ 0 60000 65536"/>
                <a:gd name="T8" fmla="*/ 0 60000 65536"/>
                <a:gd name="T9" fmla="*/ 0 w 3048"/>
                <a:gd name="T10" fmla="*/ 0 h 2344"/>
                <a:gd name="T11" fmla="*/ 3048 w 3048"/>
                <a:gd name="T12" fmla="*/ 2344 h 2344"/>
              </a:gdLst>
              <a:ahLst/>
              <a:cxnLst>
                <a:cxn ang="T6">
                  <a:pos x="T0" y="T1"/>
                </a:cxn>
                <a:cxn ang="T7">
                  <a:pos x="T2" y="T3"/>
                </a:cxn>
                <a:cxn ang="T8">
                  <a:pos x="T4" y="T5"/>
                </a:cxn>
              </a:cxnLst>
              <a:rect l="T9" t="T10" r="T11" b="T12"/>
              <a:pathLst>
                <a:path w="3048" h="2344">
                  <a:moveTo>
                    <a:pt x="0" y="0"/>
                  </a:moveTo>
                  <a:lnTo>
                    <a:pt x="0" y="2344"/>
                  </a:lnTo>
                  <a:lnTo>
                    <a:pt x="3048" y="2344"/>
                  </a:lnTo>
                </a:path>
              </a:pathLst>
            </a:custGeom>
            <a:noFill/>
            <a:ln w="38100" cmpd="sng">
              <a:solidFill>
                <a:schemeClr val="tx1"/>
              </a:solidFill>
              <a:round/>
              <a:headEnd type="triangle" w="sm" len="med"/>
              <a:tailEnd type="triangle" w="sm" len="med"/>
            </a:ln>
          </p:spPr>
          <p:txBody>
            <a:bodyPr/>
            <a:lstStyle/>
            <a:p>
              <a:endParaRPr lang="en-US"/>
            </a:p>
          </p:txBody>
        </p:sp>
        <p:sp>
          <p:nvSpPr>
            <p:cNvPr id="115733" name="Text Box 6"/>
            <p:cNvSpPr txBox="1">
              <a:spLocks noChangeArrowheads="1"/>
            </p:cNvSpPr>
            <p:nvPr/>
          </p:nvSpPr>
          <p:spPr bwMode="auto">
            <a:xfrm>
              <a:off x="856" y="958"/>
              <a:ext cx="376" cy="2013"/>
            </a:xfrm>
            <a:prstGeom prst="rect">
              <a:avLst/>
            </a:prstGeom>
            <a:noFill/>
            <a:ln w="9525">
              <a:noFill/>
              <a:miter lim="800000"/>
              <a:headEnd/>
              <a:tailEnd/>
            </a:ln>
          </p:spPr>
          <p:txBody>
            <a:bodyPr wrap="none">
              <a:spAutoFit/>
            </a:bodyPr>
            <a:lstStyle/>
            <a:p>
              <a:pPr algn="r">
                <a:lnSpc>
                  <a:spcPct val="439000"/>
                </a:lnSpc>
              </a:pPr>
              <a:r>
                <a:rPr lang="en-US" sz="1600">
                  <a:ea typeface="MS PGothic" pitchFamily="34" charset="-128"/>
                </a:rPr>
                <a:t>60 –</a:t>
              </a:r>
            </a:p>
            <a:p>
              <a:pPr algn="r">
                <a:lnSpc>
                  <a:spcPct val="439000"/>
                </a:lnSpc>
              </a:pPr>
              <a:r>
                <a:rPr lang="en-US" sz="1600">
                  <a:ea typeface="MS PGothic" pitchFamily="34" charset="-128"/>
                </a:rPr>
                <a:t>40 –</a:t>
              </a:r>
            </a:p>
            <a:p>
              <a:pPr algn="r">
                <a:lnSpc>
                  <a:spcPct val="439000"/>
                </a:lnSpc>
              </a:pPr>
              <a:r>
                <a:rPr lang="en-US" sz="1600">
                  <a:ea typeface="MS PGothic" pitchFamily="34" charset="-128"/>
                </a:rPr>
                <a:t>20 –</a:t>
              </a:r>
            </a:p>
          </p:txBody>
        </p:sp>
        <p:sp>
          <p:nvSpPr>
            <p:cNvPr id="115734" name="Text Box 7"/>
            <p:cNvSpPr txBox="1">
              <a:spLocks noChangeArrowheads="1"/>
            </p:cNvSpPr>
            <p:nvPr/>
          </p:nvSpPr>
          <p:spPr bwMode="auto">
            <a:xfrm>
              <a:off x="867" y="2550"/>
              <a:ext cx="365" cy="212"/>
            </a:xfrm>
            <a:prstGeom prst="rect">
              <a:avLst/>
            </a:prstGeom>
            <a:noFill/>
            <a:ln w="9525">
              <a:noFill/>
              <a:miter lim="800000"/>
              <a:headEnd/>
              <a:tailEnd/>
            </a:ln>
          </p:spPr>
          <p:txBody>
            <a:bodyPr wrap="none">
              <a:spAutoFit/>
            </a:bodyPr>
            <a:lstStyle/>
            <a:p>
              <a:pPr algn="r"/>
              <a:r>
                <a:rPr lang="en-US" sz="1600">
                  <a:ea typeface="MS PGothic" pitchFamily="34" charset="-128"/>
                </a:rPr>
                <a:t>25 –</a:t>
              </a:r>
            </a:p>
          </p:txBody>
        </p:sp>
        <p:sp>
          <p:nvSpPr>
            <p:cNvPr id="115735" name="Text Box 8"/>
            <p:cNvSpPr txBox="1">
              <a:spLocks noChangeArrowheads="1"/>
            </p:cNvSpPr>
            <p:nvPr/>
          </p:nvSpPr>
          <p:spPr bwMode="auto">
            <a:xfrm>
              <a:off x="934" y="3366"/>
              <a:ext cx="2618" cy="367"/>
            </a:xfrm>
            <a:prstGeom prst="rect">
              <a:avLst/>
            </a:prstGeom>
            <a:noFill/>
            <a:ln w="9525">
              <a:noFill/>
              <a:miter lim="800000"/>
              <a:headEnd/>
              <a:tailEnd/>
            </a:ln>
          </p:spPr>
          <p:txBody>
            <a:bodyPr>
              <a:spAutoFit/>
            </a:bodyPr>
            <a:lstStyle/>
            <a:p>
              <a:pPr>
                <a:lnSpc>
                  <a:spcPct val="115000"/>
                </a:lnSpc>
                <a:tabLst>
                  <a:tab pos="177800" algn="ctr"/>
                  <a:tab pos="1257300" algn="ctr"/>
                  <a:tab pos="2336800" algn="ctr"/>
                  <a:tab pos="3403600" algn="ctr"/>
                </a:tabLst>
              </a:pPr>
              <a:r>
                <a:rPr lang="en-US" sz="1200">
                  <a:ea typeface="MS PGothic" pitchFamily="34" charset="-128"/>
                </a:rPr>
                <a:t>		|	|	|</a:t>
              </a:r>
            </a:p>
            <a:p>
              <a:pPr>
                <a:lnSpc>
                  <a:spcPct val="115000"/>
                </a:lnSpc>
                <a:tabLst>
                  <a:tab pos="177800" algn="ctr"/>
                  <a:tab pos="1257300" algn="ctr"/>
                  <a:tab pos="2336800" algn="ctr"/>
                  <a:tab pos="3403600" algn="ctr"/>
                </a:tabLst>
              </a:pPr>
              <a:r>
                <a:rPr lang="en-US" sz="1600">
                  <a:ea typeface="MS PGothic" pitchFamily="34" charset="-128"/>
                </a:rPr>
                <a:t>	0	20	40	60</a:t>
              </a:r>
            </a:p>
          </p:txBody>
        </p:sp>
        <p:sp>
          <p:nvSpPr>
            <p:cNvPr id="115736" name="Text Box 9"/>
            <p:cNvSpPr txBox="1">
              <a:spLocks noChangeArrowheads="1"/>
            </p:cNvSpPr>
            <p:nvPr/>
          </p:nvSpPr>
          <p:spPr bwMode="auto">
            <a:xfrm>
              <a:off x="2678" y="3366"/>
              <a:ext cx="258" cy="367"/>
            </a:xfrm>
            <a:prstGeom prst="rect">
              <a:avLst/>
            </a:prstGeom>
            <a:noFill/>
            <a:ln w="9525">
              <a:noFill/>
              <a:miter lim="800000"/>
              <a:headEnd/>
              <a:tailEnd/>
            </a:ln>
          </p:spPr>
          <p:txBody>
            <a:bodyPr wrap="none">
              <a:spAutoFit/>
            </a:bodyPr>
            <a:lstStyle/>
            <a:p>
              <a:pPr algn="ctr">
                <a:lnSpc>
                  <a:spcPct val="115000"/>
                </a:lnSpc>
              </a:pPr>
              <a:r>
                <a:rPr lang="en-US" sz="1200">
                  <a:ea typeface="MS PGothic" pitchFamily="34" charset="-128"/>
                </a:rPr>
                <a:t>|</a:t>
              </a:r>
            </a:p>
            <a:p>
              <a:pPr algn="ctr">
                <a:lnSpc>
                  <a:spcPct val="115000"/>
                </a:lnSpc>
              </a:pPr>
              <a:r>
                <a:rPr lang="en-US" sz="1600">
                  <a:ea typeface="MS PGothic" pitchFamily="34" charset="-128"/>
                </a:rPr>
                <a:t>50</a:t>
              </a:r>
            </a:p>
          </p:txBody>
        </p:sp>
        <p:sp>
          <p:nvSpPr>
            <p:cNvPr id="115737" name="Text Box 10"/>
            <p:cNvSpPr txBox="1">
              <a:spLocks noChangeArrowheads="1"/>
            </p:cNvSpPr>
            <p:nvPr/>
          </p:nvSpPr>
          <p:spPr bwMode="auto">
            <a:xfrm>
              <a:off x="3974" y="3543"/>
              <a:ext cx="260" cy="213"/>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1</a:t>
              </a:r>
              <a:endParaRPr lang="en-US" sz="1600">
                <a:ea typeface="MS PGothic" pitchFamily="34" charset="-128"/>
              </a:endParaRPr>
            </a:p>
          </p:txBody>
        </p:sp>
        <p:sp>
          <p:nvSpPr>
            <p:cNvPr id="115738" name="Text Box 11"/>
            <p:cNvSpPr txBox="1">
              <a:spLocks noChangeArrowheads="1"/>
            </p:cNvSpPr>
            <p:nvPr/>
          </p:nvSpPr>
          <p:spPr bwMode="auto">
            <a:xfrm>
              <a:off x="822" y="1119"/>
              <a:ext cx="260" cy="213"/>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2</a:t>
              </a:r>
              <a:endParaRPr lang="en-US" sz="1600">
                <a:ea typeface="MS PGothic" pitchFamily="34" charset="-128"/>
              </a:endParaRPr>
            </a:p>
          </p:txBody>
        </p:sp>
        <p:sp>
          <p:nvSpPr>
            <p:cNvPr id="115739" name="Text Box 12"/>
            <p:cNvSpPr txBox="1">
              <a:spLocks noChangeArrowheads="1"/>
            </p:cNvSpPr>
            <p:nvPr/>
          </p:nvSpPr>
          <p:spPr bwMode="auto">
            <a:xfrm>
              <a:off x="2414" y="1126"/>
              <a:ext cx="273" cy="212"/>
            </a:xfrm>
            <a:prstGeom prst="rect">
              <a:avLst/>
            </a:prstGeom>
            <a:noFill/>
            <a:ln w="9525">
              <a:noFill/>
              <a:miter lim="800000"/>
              <a:headEnd/>
              <a:tailEnd/>
            </a:ln>
          </p:spPr>
          <p:txBody>
            <a:bodyPr wrap="none">
              <a:spAutoFit/>
            </a:bodyPr>
            <a:lstStyle/>
            <a:p>
              <a:r>
                <a:rPr lang="en-US" sz="1600">
                  <a:ea typeface="MS PGothic" pitchFamily="34" charset="-128"/>
                </a:rPr>
                <a:t>(a)</a:t>
              </a:r>
            </a:p>
          </p:txBody>
        </p:sp>
      </p:grpSp>
      <p:sp>
        <p:nvSpPr>
          <p:cNvPr id="17" name="Line 13"/>
          <p:cNvSpPr>
            <a:spLocks noChangeShapeType="1"/>
          </p:cNvSpPr>
          <p:nvPr/>
        </p:nvSpPr>
        <p:spPr bwMode="auto">
          <a:xfrm>
            <a:off x="1612900" y="2425700"/>
            <a:ext cx="1079500" cy="3225800"/>
          </a:xfrm>
          <a:prstGeom prst="line">
            <a:avLst/>
          </a:prstGeom>
          <a:noFill/>
          <a:ln w="57150">
            <a:solidFill>
              <a:schemeClr val="accent1"/>
            </a:solidFill>
            <a:round/>
            <a:headEnd/>
            <a:tailEnd/>
          </a:ln>
        </p:spPr>
        <p:txBody>
          <a:bodyPr/>
          <a:lstStyle/>
          <a:p>
            <a:endParaRPr lang="en-US"/>
          </a:p>
        </p:txBody>
      </p:sp>
      <p:sp>
        <p:nvSpPr>
          <p:cNvPr id="18" name="Line 14"/>
          <p:cNvSpPr>
            <a:spLocks noChangeShapeType="1"/>
          </p:cNvSpPr>
          <p:nvPr/>
        </p:nvSpPr>
        <p:spPr bwMode="auto">
          <a:xfrm>
            <a:off x="1612900" y="4305300"/>
            <a:ext cx="2667000" cy="1358900"/>
          </a:xfrm>
          <a:prstGeom prst="line">
            <a:avLst/>
          </a:prstGeom>
          <a:noFill/>
          <a:ln w="57150">
            <a:solidFill>
              <a:schemeClr val="accent1"/>
            </a:solidFill>
            <a:round/>
            <a:headEnd/>
            <a:tailEnd/>
          </a:ln>
        </p:spPr>
        <p:txBody>
          <a:bodyPr/>
          <a:lstStyle/>
          <a:p>
            <a:endParaRPr lang="en-US"/>
          </a:p>
        </p:txBody>
      </p:sp>
      <p:grpSp>
        <p:nvGrpSpPr>
          <p:cNvPr id="19" name="Group 27"/>
          <p:cNvGrpSpPr>
            <a:grpSpLocks/>
          </p:cNvGrpSpPr>
          <p:nvPr/>
        </p:nvGrpSpPr>
        <p:grpSpPr bwMode="auto">
          <a:xfrm>
            <a:off x="1549400" y="3997325"/>
            <a:ext cx="1501775" cy="1717675"/>
            <a:chOff x="1064" y="2470"/>
            <a:chExt cx="946" cy="1082"/>
          </a:xfrm>
        </p:grpSpPr>
        <p:sp>
          <p:nvSpPr>
            <p:cNvPr id="115726" name="Oval 15"/>
            <p:cNvSpPr>
              <a:spLocks noChangeArrowheads="1"/>
            </p:cNvSpPr>
            <p:nvPr/>
          </p:nvSpPr>
          <p:spPr bwMode="auto">
            <a:xfrm>
              <a:off x="1064" y="2624"/>
              <a:ext cx="88" cy="88"/>
            </a:xfrm>
            <a:prstGeom prst="ellipse">
              <a:avLst/>
            </a:prstGeom>
            <a:solidFill>
              <a:schemeClr val="tx1"/>
            </a:solidFill>
            <a:ln w="9525">
              <a:solidFill>
                <a:schemeClr val="tx1"/>
              </a:solidFill>
              <a:round/>
              <a:headEnd/>
              <a:tailEnd/>
            </a:ln>
          </p:spPr>
          <p:txBody>
            <a:bodyPr wrap="none" anchor="ctr"/>
            <a:lstStyle/>
            <a:p>
              <a:endParaRPr lang="en-US"/>
            </a:p>
          </p:txBody>
        </p:sp>
        <p:sp>
          <p:nvSpPr>
            <p:cNvPr id="115727" name="Oval 16"/>
            <p:cNvSpPr>
              <a:spLocks noChangeArrowheads="1"/>
            </p:cNvSpPr>
            <p:nvPr/>
          </p:nvSpPr>
          <p:spPr bwMode="auto">
            <a:xfrm>
              <a:off x="1744" y="3464"/>
              <a:ext cx="88" cy="88"/>
            </a:xfrm>
            <a:prstGeom prst="ellipse">
              <a:avLst/>
            </a:prstGeom>
            <a:solidFill>
              <a:schemeClr val="tx1"/>
            </a:solidFill>
            <a:ln w="9525">
              <a:solidFill>
                <a:schemeClr val="tx1"/>
              </a:solidFill>
              <a:round/>
              <a:headEnd/>
              <a:tailEnd/>
            </a:ln>
          </p:spPr>
          <p:txBody>
            <a:bodyPr wrap="none" anchor="ctr"/>
            <a:lstStyle/>
            <a:p>
              <a:endParaRPr lang="en-US"/>
            </a:p>
          </p:txBody>
        </p:sp>
        <p:sp>
          <p:nvSpPr>
            <p:cNvPr id="115728" name="Oval 17"/>
            <p:cNvSpPr>
              <a:spLocks noChangeArrowheads="1"/>
            </p:cNvSpPr>
            <p:nvPr/>
          </p:nvSpPr>
          <p:spPr bwMode="auto">
            <a:xfrm>
              <a:off x="1536" y="2864"/>
              <a:ext cx="88" cy="88"/>
            </a:xfrm>
            <a:prstGeom prst="ellipse">
              <a:avLst/>
            </a:prstGeom>
            <a:solidFill>
              <a:schemeClr val="tx1"/>
            </a:solidFill>
            <a:ln w="9525">
              <a:solidFill>
                <a:schemeClr val="tx1"/>
              </a:solidFill>
              <a:round/>
              <a:headEnd/>
              <a:tailEnd/>
            </a:ln>
          </p:spPr>
          <p:txBody>
            <a:bodyPr wrap="none" anchor="ctr"/>
            <a:lstStyle/>
            <a:p>
              <a:endParaRPr lang="en-US"/>
            </a:p>
          </p:txBody>
        </p:sp>
        <p:sp>
          <p:nvSpPr>
            <p:cNvPr id="115729" name="Text Box 18"/>
            <p:cNvSpPr txBox="1">
              <a:spLocks noChangeArrowheads="1"/>
            </p:cNvSpPr>
            <p:nvPr/>
          </p:nvSpPr>
          <p:spPr bwMode="auto">
            <a:xfrm>
              <a:off x="1134" y="2470"/>
              <a:ext cx="219" cy="213"/>
            </a:xfrm>
            <a:prstGeom prst="rect">
              <a:avLst/>
            </a:prstGeom>
            <a:noFill/>
            <a:ln w="9525">
              <a:noFill/>
              <a:miter lim="800000"/>
              <a:headEnd/>
              <a:tailEnd/>
            </a:ln>
          </p:spPr>
          <p:txBody>
            <a:bodyPr wrap="none">
              <a:spAutoFit/>
            </a:bodyPr>
            <a:lstStyle/>
            <a:p>
              <a:r>
                <a:rPr lang="en-US" sz="1600" i="1">
                  <a:ea typeface="MS PGothic" pitchFamily="34" charset="-128"/>
                </a:rPr>
                <a:t>a</a:t>
              </a:r>
            </a:p>
          </p:txBody>
        </p:sp>
        <p:sp>
          <p:nvSpPr>
            <p:cNvPr id="115730" name="Text Box 19"/>
            <p:cNvSpPr txBox="1">
              <a:spLocks noChangeArrowheads="1"/>
            </p:cNvSpPr>
            <p:nvPr/>
          </p:nvSpPr>
          <p:spPr bwMode="auto">
            <a:xfrm>
              <a:off x="1582" y="2694"/>
              <a:ext cx="219" cy="213"/>
            </a:xfrm>
            <a:prstGeom prst="rect">
              <a:avLst/>
            </a:prstGeom>
            <a:noFill/>
            <a:ln w="9525">
              <a:noFill/>
              <a:miter lim="800000"/>
              <a:headEnd/>
              <a:tailEnd/>
            </a:ln>
          </p:spPr>
          <p:txBody>
            <a:bodyPr wrap="none">
              <a:spAutoFit/>
            </a:bodyPr>
            <a:lstStyle/>
            <a:p>
              <a:r>
                <a:rPr lang="en-US" sz="1600" i="1">
                  <a:ea typeface="MS PGothic" pitchFamily="34" charset="-128"/>
                </a:rPr>
                <a:t>b</a:t>
              </a:r>
            </a:p>
          </p:txBody>
        </p:sp>
        <p:sp>
          <p:nvSpPr>
            <p:cNvPr id="115731" name="Text Box 20"/>
            <p:cNvSpPr txBox="1">
              <a:spLocks noChangeArrowheads="1"/>
            </p:cNvSpPr>
            <p:nvPr/>
          </p:nvSpPr>
          <p:spPr bwMode="auto">
            <a:xfrm>
              <a:off x="1798" y="3326"/>
              <a:ext cx="212" cy="213"/>
            </a:xfrm>
            <a:prstGeom prst="rect">
              <a:avLst/>
            </a:prstGeom>
            <a:noFill/>
            <a:ln w="9525">
              <a:noFill/>
              <a:miter lim="800000"/>
              <a:headEnd/>
              <a:tailEnd/>
            </a:ln>
          </p:spPr>
          <p:txBody>
            <a:bodyPr wrap="none">
              <a:spAutoFit/>
            </a:bodyPr>
            <a:lstStyle/>
            <a:p>
              <a:r>
                <a:rPr lang="en-US" sz="1600" i="1">
                  <a:ea typeface="MS PGothic" pitchFamily="34" charset="-128"/>
                </a:rPr>
                <a:t>c</a:t>
              </a:r>
            </a:p>
          </p:txBody>
        </p:sp>
      </p:grpSp>
      <p:sp>
        <p:nvSpPr>
          <p:cNvPr id="26" name="Text Box 21"/>
          <p:cNvSpPr txBox="1">
            <a:spLocks noChangeArrowheads="1"/>
          </p:cNvSpPr>
          <p:nvPr/>
        </p:nvSpPr>
        <p:spPr bwMode="auto">
          <a:xfrm>
            <a:off x="2701925" y="3416300"/>
            <a:ext cx="3897313" cy="539750"/>
          </a:xfrm>
          <a:prstGeom prst="rect">
            <a:avLst/>
          </a:prstGeom>
          <a:noFill/>
          <a:ln w="9525">
            <a:noFill/>
            <a:miter lim="800000"/>
            <a:headEnd/>
            <a:tailEnd/>
          </a:ln>
        </p:spPr>
        <p:txBody>
          <a:bodyPr>
            <a:spAutoFit/>
          </a:bodyPr>
          <a:lstStyle/>
          <a:p>
            <a:pPr>
              <a:lnSpc>
                <a:spcPct val="90000"/>
              </a:lnSpc>
            </a:pPr>
            <a:r>
              <a:rPr lang="en-US" sz="1600">
                <a:ea typeface="MS PGothic" pitchFamily="34" charset="-128"/>
              </a:rPr>
              <a:t>Constraint Representing 60 Hours of Audio Technician’s Time Resource</a:t>
            </a:r>
          </a:p>
        </p:txBody>
      </p:sp>
      <p:sp>
        <p:nvSpPr>
          <p:cNvPr id="27" name="Text Box 22"/>
          <p:cNvSpPr txBox="1">
            <a:spLocks noChangeArrowheads="1"/>
          </p:cNvSpPr>
          <p:nvPr/>
        </p:nvSpPr>
        <p:spPr bwMode="auto">
          <a:xfrm>
            <a:off x="3479800" y="4384675"/>
            <a:ext cx="4572000" cy="539750"/>
          </a:xfrm>
          <a:prstGeom prst="rect">
            <a:avLst/>
          </a:prstGeom>
          <a:noFill/>
          <a:ln w="9525">
            <a:noFill/>
            <a:miter lim="800000"/>
            <a:headEnd/>
            <a:tailEnd/>
          </a:ln>
        </p:spPr>
        <p:txBody>
          <a:bodyPr>
            <a:spAutoFit/>
          </a:bodyPr>
          <a:lstStyle/>
          <a:p>
            <a:pPr>
              <a:lnSpc>
                <a:spcPct val="90000"/>
              </a:lnSpc>
            </a:pPr>
            <a:r>
              <a:rPr lang="en-US" sz="1600">
                <a:ea typeface="MS PGothic" pitchFamily="34" charset="-128"/>
              </a:rPr>
              <a:t>Changed Constraint Representing 100 Hours of Electrician’s Time Resource</a:t>
            </a:r>
          </a:p>
        </p:txBody>
      </p:sp>
      <p:sp>
        <p:nvSpPr>
          <p:cNvPr id="28" name="Line 23"/>
          <p:cNvSpPr>
            <a:spLocks noChangeShapeType="1"/>
          </p:cNvSpPr>
          <p:nvPr/>
        </p:nvSpPr>
        <p:spPr bwMode="auto">
          <a:xfrm flipH="1">
            <a:off x="2159000" y="3657600"/>
            <a:ext cx="558800" cy="254000"/>
          </a:xfrm>
          <a:prstGeom prst="line">
            <a:avLst/>
          </a:prstGeom>
          <a:noFill/>
          <a:ln w="38100">
            <a:solidFill>
              <a:schemeClr val="tx1"/>
            </a:solidFill>
            <a:round/>
            <a:headEnd/>
            <a:tailEnd type="triangle" w="sm" len="med"/>
          </a:ln>
        </p:spPr>
        <p:txBody>
          <a:bodyPr/>
          <a:lstStyle/>
          <a:p>
            <a:endParaRPr lang="en-US"/>
          </a:p>
        </p:txBody>
      </p:sp>
      <p:sp>
        <p:nvSpPr>
          <p:cNvPr id="29" name="Line 24"/>
          <p:cNvSpPr>
            <a:spLocks noChangeShapeType="1"/>
          </p:cNvSpPr>
          <p:nvPr/>
        </p:nvSpPr>
        <p:spPr bwMode="auto">
          <a:xfrm flipH="1">
            <a:off x="2933700" y="4635500"/>
            <a:ext cx="558800" cy="254000"/>
          </a:xfrm>
          <a:prstGeom prst="line">
            <a:avLst/>
          </a:prstGeom>
          <a:noFill/>
          <a:ln w="38100">
            <a:solidFill>
              <a:schemeClr val="tx1"/>
            </a:solidFill>
            <a:round/>
            <a:headEnd/>
            <a:tailEnd type="triangle" w="sm" len="med"/>
          </a:ln>
        </p:spPr>
        <p:txBody>
          <a:bodyPr/>
          <a:lstStyle/>
          <a:p>
            <a:endParaRPr lang="en-US"/>
          </a:p>
        </p:txBody>
      </p:sp>
      <p:sp>
        <p:nvSpPr>
          <p:cNvPr id="30" name="Text Box 28"/>
          <p:cNvSpPr txBox="1">
            <a:spLocks noChangeArrowheads="1"/>
          </p:cNvSpPr>
          <p:nvPr/>
        </p:nvSpPr>
        <p:spPr bwMode="auto">
          <a:xfrm>
            <a:off x="447675" y="1403350"/>
            <a:ext cx="1312863" cy="307975"/>
          </a:xfrm>
          <a:prstGeom prst="rect">
            <a:avLst/>
          </a:prstGeom>
          <a:noFill/>
          <a:ln w="9525">
            <a:noFill/>
            <a:miter lim="800000"/>
            <a:headEnd/>
            <a:tailEnd/>
          </a:ln>
        </p:spPr>
        <p:txBody>
          <a:bodyPr wrap="none">
            <a:spAutoFit/>
          </a:bodyPr>
          <a:lstStyle/>
          <a:p>
            <a:r>
              <a:rPr lang="en-US" sz="1400">
                <a:ea typeface="MS PGothic" pitchFamily="34" charset="-128"/>
              </a:rPr>
              <a:t>FIGURE  7.19</a:t>
            </a:r>
          </a:p>
        </p:txBody>
      </p:sp>
      <p:sp>
        <p:nvSpPr>
          <p:cNvPr id="115725" name="Slide Number Placeholder 9"/>
          <p:cNvSpPr>
            <a:spLocks noGrp="1"/>
          </p:cNvSpPr>
          <p:nvPr>
            <p:ph type="sldNum" sz="quarter" idx="11"/>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latin typeface="Arial" charset="0"/>
                <a:cs typeface="Arial" charset="0"/>
              </a:rPr>
              <a:t>7 – </a:t>
            </a:r>
            <a:fld id="{D6B3514C-8AEA-40C3-8FB8-770E3618EE6B}" type="slidenum">
              <a:rPr lang="en-US">
                <a:latin typeface="Arial" charset="0"/>
                <a:cs typeface="Arial" charset="0"/>
              </a:rPr>
              <a:pPr fontAlgn="base">
                <a:spcBef>
                  <a:spcPct val="0"/>
                </a:spcBef>
                <a:spcAft>
                  <a:spcPct val="0"/>
                </a:spcAft>
              </a:pPr>
              <a:t>38</a:t>
            </a:fld>
            <a:endParaRPr lang="en-US">
              <a:latin typeface="Arial" charset="0"/>
              <a:cs typeface="Arial" charset="0"/>
            </a:endParaRPr>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strips(upRight)">
                                      <p:cBhvr>
                                        <p:cTn id="7" dur="1000"/>
                                        <p:tgtEl>
                                          <p:spTgt spid="8"/>
                                        </p:tgtEl>
                                      </p:cBhvr>
                                    </p:animEffect>
                                  </p:childTnLst>
                                </p:cTn>
                              </p:par>
                            </p:childTnLst>
                          </p:cTn>
                        </p:par>
                        <p:par>
                          <p:cTn id="8" fill="hold">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17"/>
                                        </p:tgtEl>
                                        <p:attrNameLst>
                                          <p:attrName>style.visibility</p:attrName>
                                        </p:attrNameLst>
                                      </p:cBhvr>
                                      <p:to>
                                        <p:strVal val="visible"/>
                                      </p:to>
                                    </p:set>
                                    <p:animEffect transition="in" filter="strips(downRight)">
                                      <p:cBhvr>
                                        <p:cTn id="11" dur="1000"/>
                                        <p:tgtEl>
                                          <p:spTgt spid="17"/>
                                        </p:tgtEl>
                                      </p:cBhvr>
                                    </p:animEffect>
                                  </p:childTnLst>
                                </p:cTn>
                              </p:par>
                            </p:childTnLst>
                          </p:cTn>
                        </p:par>
                        <p:par>
                          <p:cTn id="12" fill="hold">
                            <p:stCondLst>
                              <p:cond delay="4000"/>
                            </p:stCondLst>
                            <p:childTnLst>
                              <p:par>
                                <p:cTn id="13" presetID="22" presetClass="entr" presetSubtype="8" fill="hold" grpId="0" nodeType="afterEffect">
                                  <p:stCondLst>
                                    <p:cond delay="100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1000"/>
                                        <p:tgtEl>
                                          <p:spTgt spid="26"/>
                                        </p:tgtEl>
                                      </p:cBhvr>
                                    </p:animEffect>
                                  </p:childTnLst>
                                </p:cTn>
                              </p:par>
                              <p:par>
                                <p:cTn id="16" presetID="18" presetClass="entr" presetSubtype="12" fill="hold" grpId="0" nodeType="withEffect">
                                  <p:stCondLst>
                                    <p:cond delay="1000"/>
                                  </p:stCondLst>
                                  <p:childTnLst>
                                    <p:set>
                                      <p:cBhvr>
                                        <p:cTn id="17" dur="1" fill="hold">
                                          <p:stCondLst>
                                            <p:cond delay="0"/>
                                          </p:stCondLst>
                                        </p:cTn>
                                        <p:tgtEl>
                                          <p:spTgt spid="28"/>
                                        </p:tgtEl>
                                        <p:attrNameLst>
                                          <p:attrName>style.visibility</p:attrName>
                                        </p:attrNameLst>
                                      </p:cBhvr>
                                      <p:to>
                                        <p:strVal val="visible"/>
                                      </p:to>
                                    </p:set>
                                    <p:animEffect transition="in" filter="strips(downLeft)">
                                      <p:cBhvr>
                                        <p:cTn id="18" dur="1000"/>
                                        <p:tgtEl>
                                          <p:spTgt spid="28"/>
                                        </p:tgtEl>
                                      </p:cBhvr>
                                    </p:animEffect>
                                  </p:childTnLst>
                                </p:cTn>
                              </p:par>
                            </p:childTnLst>
                          </p:cTn>
                        </p:par>
                        <p:par>
                          <p:cTn id="19" fill="hold">
                            <p:stCondLst>
                              <p:cond delay="6000"/>
                            </p:stCondLst>
                            <p:childTnLst>
                              <p:par>
                                <p:cTn id="20" presetID="18" presetClass="entr" presetSubtype="6" fill="hold" grpId="0" nodeType="afterEffect">
                                  <p:stCondLst>
                                    <p:cond delay="1000"/>
                                  </p:stCondLst>
                                  <p:childTnLst>
                                    <p:set>
                                      <p:cBhvr>
                                        <p:cTn id="21" dur="1" fill="hold">
                                          <p:stCondLst>
                                            <p:cond delay="0"/>
                                          </p:stCondLst>
                                        </p:cTn>
                                        <p:tgtEl>
                                          <p:spTgt spid="18"/>
                                        </p:tgtEl>
                                        <p:attrNameLst>
                                          <p:attrName>style.visibility</p:attrName>
                                        </p:attrNameLst>
                                      </p:cBhvr>
                                      <p:to>
                                        <p:strVal val="visible"/>
                                      </p:to>
                                    </p:set>
                                    <p:animEffect transition="in" filter="strips(downRight)">
                                      <p:cBhvr>
                                        <p:cTn id="22" dur="1000"/>
                                        <p:tgtEl>
                                          <p:spTgt spid="18"/>
                                        </p:tgtEl>
                                      </p:cBhvr>
                                    </p:animEffect>
                                  </p:childTnLst>
                                </p:cTn>
                              </p:par>
                            </p:childTnLst>
                          </p:cTn>
                        </p:par>
                        <p:par>
                          <p:cTn id="23" fill="hold">
                            <p:stCondLst>
                              <p:cond delay="8000"/>
                            </p:stCondLst>
                            <p:childTnLst>
                              <p:par>
                                <p:cTn id="24" presetID="22" presetClass="entr" presetSubtype="8" fill="hold" grpId="0" nodeType="afterEffect">
                                  <p:stCondLst>
                                    <p:cond delay="100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1000"/>
                                        <p:tgtEl>
                                          <p:spTgt spid="27"/>
                                        </p:tgtEl>
                                      </p:cBhvr>
                                    </p:animEffect>
                                  </p:childTnLst>
                                </p:cTn>
                              </p:par>
                              <p:par>
                                <p:cTn id="27" presetID="18" presetClass="entr" presetSubtype="12" fill="hold" grpId="0" nodeType="withEffect">
                                  <p:stCondLst>
                                    <p:cond delay="1000"/>
                                  </p:stCondLst>
                                  <p:childTnLst>
                                    <p:set>
                                      <p:cBhvr>
                                        <p:cTn id="28" dur="1" fill="hold">
                                          <p:stCondLst>
                                            <p:cond delay="0"/>
                                          </p:stCondLst>
                                        </p:cTn>
                                        <p:tgtEl>
                                          <p:spTgt spid="29"/>
                                        </p:tgtEl>
                                        <p:attrNameLst>
                                          <p:attrName>style.visibility</p:attrName>
                                        </p:attrNameLst>
                                      </p:cBhvr>
                                      <p:to>
                                        <p:strVal val="visible"/>
                                      </p:to>
                                    </p:set>
                                    <p:animEffect transition="in" filter="strips(downLeft)">
                                      <p:cBhvr>
                                        <p:cTn id="29" dur="1000"/>
                                        <p:tgtEl>
                                          <p:spTgt spid="29"/>
                                        </p:tgtEl>
                                      </p:cBhvr>
                                    </p:animEffect>
                                  </p:childTnLst>
                                </p:cTn>
                              </p:par>
                            </p:childTnLst>
                          </p:cTn>
                        </p:par>
                        <p:par>
                          <p:cTn id="30" fill="hold">
                            <p:stCondLst>
                              <p:cond delay="10000"/>
                            </p:stCondLst>
                            <p:childTnLst>
                              <p:par>
                                <p:cTn id="31" presetID="18" presetClass="entr" presetSubtype="6" fill="hold" nodeType="afterEffect">
                                  <p:stCondLst>
                                    <p:cond delay="1000"/>
                                  </p:stCondLst>
                                  <p:childTnLst>
                                    <p:set>
                                      <p:cBhvr>
                                        <p:cTn id="32" dur="1" fill="hold">
                                          <p:stCondLst>
                                            <p:cond delay="0"/>
                                          </p:stCondLst>
                                        </p:cTn>
                                        <p:tgtEl>
                                          <p:spTgt spid="19"/>
                                        </p:tgtEl>
                                        <p:attrNameLst>
                                          <p:attrName>style.visibility</p:attrName>
                                        </p:attrNameLst>
                                      </p:cBhvr>
                                      <p:to>
                                        <p:strVal val="visible"/>
                                      </p:to>
                                    </p:set>
                                    <p:animEffect transition="in" filter="strips(downRight)">
                                      <p:cBhvr>
                                        <p:cTn id="33" dur="1000"/>
                                        <p:tgtEl>
                                          <p:spTgt spid="19"/>
                                        </p:tgtEl>
                                      </p:cBhvr>
                                    </p:animEffect>
                                  </p:childTnLst>
                                </p:cTn>
                              </p:par>
                            </p:childTnLst>
                          </p:cTn>
                        </p:par>
                        <p:par>
                          <p:cTn id="34" fill="hold">
                            <p:stCondLst>
                              <p:cond delay="12000"/>
                            </p:stCondLst>
                            <p:childTnLst>
                              <p:par>
                                <p:cTn id="35" presetID="9" presetClass="entr" presetSubtype="0" fill="hold" grpId="0" nodeType="afterEffect">
                                  <p:stCondLst>
                                    <p:cond delay="100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1000"/>
                                        <p:tgtEl>
                                          <p:spTgt spid="7"/>
                                        </p:tgtEl>
                                      </p:cBhvr>
                                    </p:animEffect>
                                  </p:childTnLst>
                                </p:cTn>
                              </p:par>
                            </p:childTnLst>
                          </p:cTn>
                        </p:par>
                        <p:par>
                          <p:cTn id="38" fill="hold">
                            <p:stCondLst>
                              <p:cond delay="14000"/>
                            </p:stCondLst>
                            <p:childTnLst>
                              <p:par>
                                <p:cTn id="39" presetID="22" presetClass="entr" presetSubtype="8"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wipe(left)">
                                      <p:cBhvr>
                                        <p:cTn id="41"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P spid="18" grpId="0" animBg="1"/>
      <p:bldP spid="26" grpId="0"/>
      <p:bldP spid="27" grpId="0"/>
      <p:bldP spid="28" grpId="0" animBg="1"/>
      <p:bldP spid="29" grpId="0" animBg="1"/>
      <p:bldP spid="3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7" name="Group 2"/>
          <p:cNvGrpSpPr>
            <a:grpSpLocks/>
          </p:cNvGrpSpPr>
          <p:nvPr/>
        </p:nvGrpSpPr>
        <p:grpSpPr bwMode="auto">
          <a:xfrm>
            <a:off x="1549400" y="1863725"/>
            <a:ext cx="6502400" cy="3851275"/>
            <a:chOff x="2184400" y="1863726"/>
            <a:chExt cx="6502400" cy="3851275"/>
          </a:xfrm>
        </p:grpSpPr>
        <p:sp>
          <p:nvSpPr>
            <p:cNvPr id="116750" name="Freeform 2"/>
            <p:cNvSpPr>
              <a:spLocks/>
            </p:cNvSpPr>
            <p:nvPr/>
          </p:nvSpPr>
          <p:spPr bwMode="auto">
            <a:xfrm>
              <a:off x="2247900" y="4838701"/>
              <a:ext cx="1079500" cy="800100"/>
            </a:xfrm>
            <a:custGeom>
              <a:avLst/>
              <a:gdLst>
                <a:gd name="T0" fmla="*/ 0 w 680"/>
                <a:gd name="T1" fmla="*/ 0 h 504"/>
                <a:gd name="T2" fmla="*/ 0 w 680"/>
                <a:gd name="T3" fmla="*/ 800100 h 504"/>
                <a:gd name="T4" fmla="*/ 1079500 w 680"/>
                <a:gd name="T5" fmla="*/ 800100 h 504"/>
                <a:gd name="T6" fmla="*/ 966788 w 680"/>
                <a:gd name="T7" fmla="*/ 476250 h 504"/>
                <a:gd name="T8" fmla="*/ 0 w 680"/>
                <a:gd name="T9" fmla="*/ 0 h 504"/>
                <a:gd name="T10" fmla="*/ 0 60000 65536"/>
                <a:gd name="T11" fmla="*/ 0 60000 65536"/>
                <a:gd name="T12" fmla="*/ 0 60000 65536"/>
                <a:gd name="T13" fmla="*/ 0 60000 65536"/>
                <a:gd name="T14" fmla="*/ 0 60000 65536"/>
                <a:gd name="T15" fmla="*/ 0 w 680"/>
                <a:gd name="T16" fmla="*/ 0 h 504"/>
                <a:gd name="T17" fmla="*/ 680 w 680"/>
                <a:gd name="T18" fmla="*/ 504 h 504"/>
              </a:gdLst>
              <a:ahLst/>
              <a:cxnLst>
                <a:cxn ang="T10">
                  <a:pos x="T0" y="T1"/>
                </a:cxn>
                <a:cxn ang="T11">
                  <a:pos x="T2" y="T3"/>
                </a:cxn>
                <a:cxn ang="T12">
                  <a:pos x="T4" y="T5"/>
                </a:cxn>
                <a:cxn ang="T13">
                  <a:pos x="T6" y="T7"/>
                </a:cxn>
                <a:cxn ang="T14">
                  <a:pos x="T8" y="T9"/>
                </a:cxn>
              </a:cxnLst>
              <a:rect l="T15" t="T16" r="T17" b="T18"/>
              <a:pathLst>
                <a:path w="680" h="504">
                  <a:moveTo>
                    <a:pt x="0" y="0"/>
                  </a:moveTo>
                  <a:lnTo>
                    <a:pt x="0" y="504"/>
                  </a:lnTo>
                  <a:lnTo>
                    <a:pt x="680" y="504"/>
                  </a:lnTo>
                  <a:lnTo>
                    <a:pt x="609" y="300"/>
                  </a:lnTo>
                  <a:lnTo>
                    <a:pt x="0" y="0"/>
                  </a:lnTo>
                  <a:close/>
                </a:path>
              </a:pathLst>
            </a:custGeom>
            <a:solidFill>
              <a:srgbClr val="BBE2EE"/>
            </a:solidFill>
            <a:ln w="9525">
              <a:noFill/>
              <a:round/>
              <a:headEnd/>
              <a:tailEnd/>
            </a:ln>
          </p:spPr>
          <p:txBody>
            <a:bodyPr/>
            <a:lstStyle/>
            <a:p>
              <a:endParaRPr lang="en-US"/>
            </a:p>
          </p:txBody>
        </p:sp>
        <p:sp>
          <p:nvSpPr>
            <p:cNvPr id="116751" name="Text Box 12"/>
            <p:cNvSpPr txBox="1">
              <a:spLocks noChangeArrowheads="1"/>
            </p:cNvSpPr>
            <p:nvPr/>
          </p:nvSpPr>
          <p:spPr bwMode="auto">
            <a:xfrm>
              <a:off x="4327525" y="1863726"/>
              <a:ext cx="444500" cy="336550"/>
            </a:xfrm>
            <a:prstGeom prst="rect">
              <a:avLst/>
            </a:prstGeom>
            <a:noFill/>
            <a:ln w="9525">
              <a:noFill/>
              <a:miter lim="800000"/>
              <a:headEnd/>
              <a:tailEnd/>
            </a:ln>
          </p:spPr>
          <p:txBody>
            <a:bodyPr wrap="none">
              <a:spAutoFit/>
            </a:bodyPr>
            <a:lstStyle/>
            <a:p>
              <a:r>
                <a:rPr lang="en-US" sz="1600">
                  <a:ea typeface="MS PGothic" pitchFamily="34" charset="-128"/>
                </a:rPr>
                <a:t>(b)</a:t>
              </a:r>
            </a:p>
          </p:txBody>
        </p:sp>
        <p:sp>
          <p:nvSpPr>
            <p:cNvPr id="116752" name="Line 13"/>
            <p:cNvSpPr>
              <a:spLocks noChangeShapeType="1"/>
            </p:cNvSpPr>
            <p:nvPr/>
          </p:nvSpPr>
          <p:spPr bwMode="auto">
            <a:xfrm>
              <a:off x="2247900" y="2425701"/>
              <a:ext cx="1079500" cy="3225800"/>
            </a:xfrm>
            <a:prstGeom prst="line">
              <a:avLst/>
            </a:prstGeom>
            <a:noFill/>
            <a:ln w="57150">
              <a:solidFill>
                <a:schemeClr val="accent1"/>
              </a:solidFill>
              <a:round/>
              <a:headEnd/>
              <a:tailEnd/>
            </a:ln>
          </p:spPr>
          <p:txBody>
            <a:bodyPr/>
            <a:lstStyle/>
            <a:p>
              <a:endParaRPr lang="en-US"/>
            </a:p>
          </p:txBody>
        </p:sp>
        <p:sp>
          <p:nvSpPr>
            <p:cNvPr id="116753" name="Line 14"/>
            <p:cNvSpPr>
              <a:spLocks noChangeShapeType="1"/>
            </p:cNvSpPr>
            <p:nvPr/>
          </p:nvSpPr>
          <p:spPr bwMode="auto">
            <a:xfrm>
              <a:off x="2247900" y="4826001"/>
              <a:ext cx="1600200" cy="812800"/>
            </a:xfrm>
            <a:prstGeom prst="line">
              <a:avLst/>
            </a:prstGeom>
            <a:noFill/>
            <a:ln w="57150">
              <a:solidFill>
                <a:schemeClr val="accent1"/>
              </a:solidFill>
              <a:round/>
              <a:headEnd/>
              <a:tailEnd/>
            </a:ln>
          </p:spPr>
          <p:txBody>
            <a:bodyPr/>
            <a:lstStyle/>
            <a:p>
              <a:endParaRPr lang="en-US"/>
            </a:p>
          </p:txBody>
        </p:sp>
        <p:sp>
          <p:nvSpPr>
            <p:cNvPr id="116754" name="Oval 16"/>
            <p:cNvSpPr>
              <a:spLocks noChangeArrowheads="1"/>
            </p:cNvSpPr>
            <p:nvPr/>
          </p:nvSpPr>
          <p:spPr bwMode="auto">
            <a:xfrm>
              <a:off x="2184400" y="4775201"/>
              <a:ext cx="139700" cy="139700"/>
            </a:xfrm>
            <a:prstGeom prst="ellipse">
              <a:avLst/>
            </a:prstGeom>
            <a:solidFill>
              <a:schemeClr val="tx1"/>
            </a:solidFill>
            <a:ln w="9525">
              <a:solidFill>
                <a:schemeClr val="tx1"/>
              </a:solidFill>
              <a:round/>
              <a:headEnd/>
              <a:tailEnd/>
            </a:ln>
          </p:spPr>
          <p:txBody>
            <a:bodyPr wrap="none" anchor="ctr"/>
            <a:lstStyle/>
            <a:p>
              <a:endParaRPr lang="en-US"/>
            </a:p>
          </p:txBody>
        </p:sp>
        <p:sp>
          <p:nvSpPr>
            <p:cNvPr id="116755" name="Oval 17"/>
            <p:cNvSpPr>
              <a:spLocks noChangeArrowheads="1"/>
            </p:cNvSpPr>
            <p:nvPr/>
          </p:nvSpPr>
          <p:spPr bwMode="auto">
            <a:xfrm>
              <a:off x="3263900" y="5575301"/>
              <a:ext cx="139700" cy="139700"/>
            </a:xfrm>
            <a:prstGeom prst="ellipse">
              <a:avLst/>
            </a:prstGeom>
            <a:solidFill>
              <a:schemeClr val="tx1"/>
            </a:solidFill>
            <a:ln w="9525">
              <a:solidFill>
                <a:schemeClr val="tx1"/>
              </a:solidFill>
              <a:round/>
              <a:headEnd/>
              <a:tailEnd/>
            </a:ln>
          </p:spPr>
          <p:txBody>
            <a:bodyPr wrap="none" anchor="ctr"/>
            <a:lstStyle/>
            <a:p>
              <a:endParaRPr lang="en-US"/>
            </a:p>
          </p:txBody>
        </p:sp>
        <p:sp>
          <p:nvSpPr>
            <p:cNvPr id="116756" name="Oval 18"/>
            <p:cNvSpPr>
              <a:spLocks noChangeArrowheads="1"/>
            </p:cNvSpPr>
            <p:nvPr/>
          </p:nvSpPr>
          <p:spPr bwMode="auto">
            <a:xfrm>
              <a:off x="3136900" y="5245101"/>
              <a:ext cx="139700" cy="139700"/>
            </a:xfrm>
            <a:prstGeom prst="ellipse">
              <a:avLst/>
            </a:prstGeom>
            <a:solidFill>
              <a:schemeClr val="tx1"/>
            </a:solidFill>
            <a:ln w="9525">
              <a:solidFill>
                <a:schemeClr val="tx1"/>
              </a:solidFill>
              <a:round/>
              <a:headEnd/>
              <a:tailEnd/>
            </a:ln>
          </p:spPr>
          <p:txBody>
            <a:bodyPr wrap="none" anchor="ctr"/>
            <a:lstStyle/>
            <a:p>
              <a:endParaRPr lang="en-US"/>
            </a:p>
          </p:txBody>
        </p:sp>
        <p:sp>
          <p:nvSpPr>
            <p:cNvPr id="116757" name="Text Box 19"/>
            <p:cNvSpPr txBox="1">
              <a:spLocks noChangeArrowheads="1"/>
            </p:cNvSpPr>
            <p:nvPr/>
          </p:nvSpPr>
          <p:spPr bwMode="auto">
            <a:xfrm>
              <a:off x="2295525" y="4530726"/>
              <a:ext cx="347663" cy="338138"/>
            </a:xfrm>
            <a:prstGeom prst="rect">
              <a:avLst/>
            </a:prstGeom>
            <a:noFill/>
            <a:ln w="9525">
              <a:noFill/>
              <a:miter lim="800000"/>
              <a:headEnd/>
              <a:tailEnd/>
            </a:ln>
          </p:spPr>
          <p:txBody>
            <a:bodyPr wrap="none">
              <a:spAutoFit/>
            </a:bodyPr>
            <a:lstStyle/>
            <a:p>
              <a:r>
                <a:rPr lang="en-US" sz="1600" i="1">
                  <a:ea typeface="MS PGothic" pitchFamily="34" charset="-128"/>
                </a:rPr>
                <a:t>a</a:t>
              </a:r>
            </a:p>
          </p:txBody>
        </p:sp>
        <p:sp>
          <p:nvSpPr>
            <p:cNvPr id="116758" name="Text Box 20"/>
            <p:cNvSpPr txBox="1">
              <a:spLocks noChangeArrowheads="1"/>
            </p:cNvSpPr>
            <p:nvPr/>
          </p:nvSpPr>
          <p:spPr bwMode="auto">
            <a:xfrm>
              <a:off x="3209925" y="4975226"/>
              <a:ext cx="358775" cy="338138"/>
            </a:xfrm>
            <a:prstGeom prst="rect">
              <a:avLst/>
            </a:prstGeom>
            <a:noFill/>
            <a:ln w="9525">
              <a:noFill/>
              <a:miter lim="800000"/>
              <a:headEnd/>
              <a:tailEnd/>
            </a:ln>
          </p:spPr>
          <p:txBody>
            <a:bodyPr wrap="none">
              <a:spAutoFit/>
            </a:bodyPr>
            <a:lstStyle/>
            <a:p>
              <a:r>
                <a:rPr lang="en-US" sz="1600" i="1">
                  <a:ea typeface="MS PGothic" pitchFamily="34" charset="-128"/>
                </a:rPr>
                <a:t>b</a:t>
              </a:r>
            </a:p>
          </p:txBody>
        </p:sp>
        <p:sp>
          <p:nvSpPr>
            <p:cNvPr id="116759" name="Text Box 21"/>
            <p:cNvSpPr txBox="1">
              <a:spLocks noChangeArrowheads="1"/>
            </p:cNvSpPr>
            <p:nvPr/>
          </p:nvSpPr>
          <p:spPr bwMode="auto">
            <a:xfrm>
              <a:off x="2981325" y="5343526"/>
              <a:ext cx="347663" cy="338138"/>
            </a:xfrm>
            <a:prstGeom prst="rect">
              <a:avLst/>
            </a:prstGeom>
            <a:noFill/>
            <a:ln w="9525">
              <a:noFill/>
              <a:miter lim="800000"/>
              <a:headEnd/>
              <a:tailEnd/>
            </a:ln>
          </p:spPr>
          <p:txBody>
            <a:bodyPr wrap="none">
              <a:spAutoFit/>
            </a:bodyPr>
            <a:lstStyle/>
            <a:p>
              <a:r>
                <a:rPr lang="en-US" sz="1600" i="1">
                  <a:ea typeface="MS PGothic" pitchFamily="34" charset="-128"/>
                </a:rPr>
                <a:t>c</a:t>
              </a:r>
            </a:p>
          </p:txBody>
        </p:sp>
        <p:sp>
          <p:nvSpPr>
            <p:cNvPr id="116760" name="Text Box 22"/>
            <p:cNvSpPr txBox="1">
              <a:spLocks noChangeArrowheads="1"/>
            </p:cNvSpPr>
            <p:nvPr/>
          </p:nvSpPr>
          <p:spPr bwMode="auto">
            <a:xfrm>
              <a:off x="3336925" y="3416301"/>
              <a:ext cx="3897313" cy="539750"/>
            </a:xfrm>
            <a:prstGeom prst="rect">
              <a:avLst/>
            </a:prstGeom>
            <a:noFill/>
            <a:ln w="9525">
              <a:noFill/>
              <a:miter lim="800000"/>
              <a:headEnd/>
              <a:tailEnd/>
            </a:ln>
          </p:spPr>
          <p:txBody>
            <a:bodyPr>
              <a:spAutoFit/>
            </a:bodyPr>
            <a:lstStyle/>
            <a:p>
              <a:pPr>
                <a:lnSpc>
                  <a:spcPct val="90000"/>
                </a:lnSpc>
              </a:pPr>
              <a:r>
                <a:rPr lang="en-US" sz="1600">
                  <a:ea typeface="MS PGothic" pitchFamily="34" charset="-128"/>
                </a:rPr>
                <a:t>Constraint Representing 60 Hours of Audio Technician’s Time Resource</a:t>
              </a:r>
            </a:p>
          </p:txBody>
        </p:sp>
        <p:sp>
          <p:nvSpPr>
            <p:cNvPr id="116761" name="Text Box 23"/>
            <p:cNvSpPr txBox="1">
              <a:spLocks noChangeArrowheads="1"/>
            </p:cNvSpPr>
            <p:nvPr/>
          </p:nvSpPr>
          <p:spPr bwMode="auto">
            <a:xfrm>
              <a:off x="4114800" y="4384676"/>
              <a:ext cx="4572000" cy="539750"/>
            </a:xfrm>
            <a:prstGeom prst="rect">
              <a:avLst/>
            </a:prstGeom>
            <a:noFill/>
            <a:ln w="9525">
              <a:noFill/>
              <a:miter lim="800000"/>
              <a:headEnd/>
              <a:tailEnd/>
            </a:ln>
          </p:spPr>
          <p:txBody>
            <a:bodyPr>
              <a:spAutoFit/>
            </a:bodyPr>
            <a:lstStyle/>
            <a:p>
              <a:pPr>
                <a:lnSpc>
                  <a:spcPct val="90000"/>
                </a:lnSpc>
              </a:pPr>
              <a:r>
                <a:rPr lang="en-US" sz="1600">
                  <a:ea typeface="MS PGothic" pitchFamily="34" charset="-128"/>
                </a:rPr>
                <a:t>Changed Constraint Representing 60 Hours of Electrician’s Time Resource</a:t>
              </a:r>
            </a:p>
          </p:txBody>
        </p:sp>
        <p:sp>
          <p:nvSpPr>
            <p:cNvPr id="116762" name="Line 24"/>
            <p:cNvSpPr>
              <a:spLocks noChangeShapeType="1"/>
            </p:cNvSpPr>
            <p:nvPr/>
          </p:nvSpPr>
          <p:spPr bwMode="auto">
            <a:xfrm flipH="1">
              <a:off x="2794000" y="3657601"/>
              <a:ext cx="558800" cy="254000"/>
            </a:xfrm>
            <a:prstGeom prst="line">
              <a:avLst/>
            </a:prstGeom>
            <a:noFill/>
            <a:ln w="38100">
              <a:solidFill>
                <a:schemeClr val="tx1"/>
              </a:solidFill>
              <a:round/>
              <a:headEnd/>
              <a:tailEnd type="triangle" w="sm" len="med"/>
            </a:ln>
          </p:spPr>
          <p:txBody>
            <a:bodyPr/>
            <a:lstStyle/>
            <a:p>
              <a:endParaRPr lang="en-US"/>
            </a:p>
          </p:txBody>
        </p:sp>
        <p:sp>
          <p:nvSpPr>
            <p:cNvPr id="116763" name="Line 25"/>
            <p:cNvSpPr>
              <a:spLocks noChangeShapeType="1"/>
            </p:cNvSpPr>
            <p:nvPr/>
          </p:nvSpPr>
          <p:spPr bwMode="auto">
            <a:xfrm flipH="1">
              <a:off x="3556000" y="4635501"/>
              <a:ext cx="571500" cy="774700"/>
            </a:xfrm>
            <a:prstGeom prst="line">
              <a:avLst/>
            </a:prstGeom>
            <a:noFill/>
            <a:ln w="38100">
              <a:solidFill>
                <a:schemeClr val="tx1"/>
              </a:solidFill>
              <a:round/>
              <a:headEnd/>
              <a:tailEnd type="triangle" w="sm" len="med"/>
            </a:ln>
          </p:spPr>
          <p:txBody>
            <a:bodyPr/>
            <a:lstStyle/>
            <a:p>
              <a:endParaRPr lang="en-US"/>
            </a:p>
          </p:txBody>
        </p:sp>
      </p:grpSp>
      <p:sp>
        <p:nvSpPr>
          <p:cNvPr id="2" name="Title 1"/>
          <p:cNvSpPr>
            <a:spLocks noGrp="1"/>
          </p:cNvSpPr>
          <p:nvPr>
            <p:ph type="title"/>
          </p:nvPr>
        </p:nvSpPr>
        <p:spPr/>
        <p:txBody>
          <a:bodyPr rtlCol="0">
            <a:normAutofit fontScale="90000"/>
          </a:bodyPr>
          <a:lstStyle/>
          <a:p>
            <a:pPr fontAlgn="auto">
              <a:spcAft>
                <a:spcPts val="0"/>
              </a:spcAft>
              <a:defRPr/>
            </a:pPr>
            <a:r>
              <a:rPr lang="en-US" dirty="0"/>
              <a:t>Changes in the Electricians’ Time Resource </a:t>
            </a:r>
          </a:p>
        </p:txBody>
      </p:sp>
      <p:sp>
        <p:nvSpPr>
          <p:cNvPr id="116739" name="Date Placeholder 3"/>
          <p:cNvSpPr>
            <a:spLocks noGrp="1"/>
          </p:cNvSpPr>
          <p:nvPr>
            <p:ph type="dt" sz="quarter" idx="10"/>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latin typeface="Arial" charset="0"/>
                <a:cs typeface="Arial" charset="0"/>
              </a:rPr>
              <a:t>Copyright ©2015 Pearson Education, Inc.</a:t>
            </a:r>
          </a:p>
        </p:txBody>
      </p:sp>
      <p:grpSp>
        <p:nvGrpSpPr>
          <p:cNvPr id="116740" name="Group 26"/>
          <p:cNvGrpSpPr>
            <a:grpSpLocks/>
          </p:cNvGrpSpPr>
          <p:nvPr/>
        </p:nvGrpSpPr>
        <p:grpSpPr bwMode="auto">
          <a:xfrm>
            <a:off x="1165225" y="1597025"/>
            <a:ext cx="5416550" cy="4441825"/>
            <a:chOff x="822" y="958"/>
            <a:chExt cx="3412" cy="2798"/>
          </a:xfrm>
        </p:grpSpPr>
        <p:sp>
          <p:nvSpPr>
            <p:cNvPr id="116743" name="Freeform 5"/>
            <p:cNvSpPr>
              <a:spLocks/>
            </p:cNvSpPr>
            <p:nvPr/>
          </p:nvSpPr>
          <p:spPr bwMode="auto">
            <a:xfrm>
              <a:off x="1104" y="1168"/>
              <a:ext cx="3048" cy="2344"/>
            </a:xfrm>
            <a:custGeom>
              <a:avLst/>
              <a:gdLst>
                <a:gd name="T0" fmla="*/ 0 w 3048"/>
                <a:gd name="T1" fmla="*/ 0 h 2344"/>
                <a:gd name="T2" fmla="*/ 0 w 3048"/>
                <a:gd name="T3" fmla="*/ 2344 h 2344"/>
                <a:gd name="T4" fmla="*/ 3048 w 3048"/>
                <a:gd name="T5" fmla="*/ 2344 h 2344"/>
                <a:gd name="T6" fmla="*/ 0 60000 65536"/>
                <a:gd name="T7" fmla="*/ 0 60000 65536"/>
                <a:gd name="T8" fmla="*/ 0 60000 65536"/>
                <a:gd name="T9" fmla="*/ 0 w 3048"/>
                <a:gd name="T10" fmla="*/ 0 h 2344"/>
                <a:gd name="T11" fmla="*/ 3048 w 3048"/>
                <a:gd name="T12" fmla="*/ 2344 h 2344"/>
              </a:gdLst>
              <a:ahLst/>
              <a:cxnLst>
                <a:cxn ang="T6">
                  <a:pos x="T0" y="T1"/>
                </a:cxn>
                <a:cxn ang="T7">
                  <a:pos x="T2" y="T3"/>
                </a:cxn>
                <a:cxn ang="T8">
                  <a:pos x="T4" y="T5"/>
                </a:cxn>
              </a:cxnLst>
              <a:rect l="T9" t="T10" r="T11" b="T12"/>
              <a:pathLst>
                <a:path w="3048" h="2344">
                  <a:moveTo>
                    <a:pt x="0" y="0"/>
                  </a:moveTo>
                  <a:lnTo>
                    <a:pt x="0" y="2344"/>
                  </a:lnTo>
                  <a:lnTo>
                    <a:pt x="3048" y="2344"/>
                  </a:lnTo>
                </a:path>
              </a:pathLst>
            </a:custGeom>
            <a:noFill/>
            <a:ln w="38100" cmpd="sng">
              <a:solidFill>
                <a:schemeClr val="tx1"/>
              </a:solidFill>
              <a:round/>
              <a:headEnd type="triangle" w="sm" len="med"/>
              <a:tailEnd type="triangle" w="sm" len="med"/>
            </a:ln>
          </p:spPr>
          <p:txBody>
            <a:bodyPr/>
            <a:lstStyle/>
            <a:p>
              <a:endParaRPr lang="en-US"/>
            </a:p>
          </p:txBody>
        </p:sp>
        <p:sp>
          <p:nvSpPr>
            <p:cNvPr id="116744" name="Text Box 6"/>
            <p:cNvSpPr txBox="1">
              <a:spLocks noChangeArrowheads="1"/>
            </p:cNvSpPr>
            <p:nvPr/>
          </p:nvSpPr>
          <p:spPr bwMode="auto">
            <a:xfrm>
              <a:off x="856" y="958"/>
              <a:ext cx="376" cy="2013"/>
            </a:xfrm>
            <a:prstGeom prst="rect">
              <a:avLst/>
            </a:prstGeom>
            <a:noFill/>
            <a:ln w="9525">
              <a:noFill/>
              <a:miter lim="800000"/>
              <a:headEnd/>
              <a:tailEnd/>
            </a:ln>
          </p:spPr>
          <p:txBody>
            <a:bodyPr wrap="none">
              <a:spAutoFit/>
            </a:bodyPr>
            <a:lstStyle/>
            <a:p>
              <a:pPr algn="r">
                <a:lnSpc>
                  <a:spcPct val="439000"/>
                </a:lnSpc>
              </a:pPr>
              <a:r>
                <a:rPr lang="en-US" sz="1600">
                  <a:ea typeface="MS PGothic" pitchFamily="34" charset="-128"/>
                </a:rPr>
                <a:t>60 –</a:t>
              </a:r>
            </a:p>
            <a:p>
              <a:pPr algn="r">
                <a:lnSpc>
                  <a:spcPct val="439000"/>
                </a:lnSpc>
              </a:pPr>
              <a:r>
                <a:rPr lang="en-US" sz="1600">
                  <a:ea typeface="MS PGothic" pitchFamily="34" charset="-128"/>
                </a:rPr>
                <a:t>40 –</a:t>
              </a:r>
            </a:p>
            <a:p>
              <a:pPr algn="r">
                <a:lnSpc>
                  <a:spcPct val="439000"/>
                </a:lnSpc>
              </a:pPr>
              <a:r>
                <a:rPr lang="en-US" sz="1600">
                  <a:ea typeface="MS PGothic" pitchFamily="34" charset="-128"/>
                </a:rPr>
                <a:t>20 –</a:t>
              </a:r>
            </a:p>
          </p:txBody>
        </p:sp>
        <p:sp>
          <p:nvSpPr>
            <p:cNvPr id="116745" name="Text Box 7"/>
            <p:cNvSpPr txBox="1">
              <a:spLocks noChangeArrowheads="1"/>
            </p:cNvSpPr>
            <p:nvPr/>
          </p:nvSpPr>
          <p:spPr bwMode="auto">
            <a:xfrm>
              <a:off x="867" y="2550"/>
              <a:ext cx="365" cy="212"/>
            </a:xfrm>
            <a:prstGeom prst="rect">
              <a:avLst/>
            </a:prstGeom>
            <a:noFill/>
            <a:ln w="9525">
              <a:noFill/>
              <a:miter lim="800000"/>
              <a:headEnd/>
              <a:tailEnd/>
            </a:ln>
          </p:spPr>
          <p:txBody>
            <a:bodyPr wrap="none">
              <a:spAutoFit/>
            </a:bodyPr>
            <a:lstStyle/>
            <a:p>
              <a:pPr algn="r"/>
              <a:r>
                <a:rPr lang="en-US" sz="1600">
                  <a:ea typeface="MS PGothic" pitchFamily="34" charset="-128"/>
                </a:rPr>
                <a:t>25 –</a:t>
              </a:r>
            </a:p>
          </p:txBody>
        </p:sp>
        <p:sp>
          <p:nvSpPr>
            <p:cNvPr id="116746" name="Text Box 8"/>
            <p:cNvSpPr txBox="1">
              <a:spLocks noChangeArrowheads="1"/>
            </p:cNvSpPr>
            <p:nvPr/>
          </p:nvSpPr>
          <p:spPr bwMode="auto">
            <a:xfrm>
              <a:off x="934" y="3366"/>
              <a:ext cx="2618" cy="367"/>
            </a:xfrm>
            <a:prstGeom prst="rect">
              <a:avLst/>
            </a:prstGeom>
            <a:noFill/>
            <a:ln w="9525">
              <a:noFill/>
              <a:miter lim="800000"/>
              <a:headEnd/>
              <a:tailEnd/>
            </a:ln>
          </p:spPr>
          <p:txBody>
            <a:bodyPr>
              <a:spAutoFit/>
            </a:bodyPr>
            <a:lstStyle/>
            <a:p>
              <a:pPr>
                <a:lnSpc>
                  <a:spcPct val="115000"/>
                </a:lnSpc>
                <a:tabLst>
                  <a:tab pos="177800" algn="ctr"/>
                  <a:tab pos="1257300" algn="ctr"/>
                  <a:tab pos="2336800" algn="ctr"/>
                  <a:tab pos="3403600" algn="ctr"/>
                </a:tabLst>
              </a:pPr>
              <a:r>
                <a:rPr lang="en-US" sz="1200">
                  <a:ea typeface="MS PGothic" pitchFamily="34" charset="-128"/>
                </a:rPr>
                <a:t>		|	|	|</a:t>
              </a:r>
            </a:p>
            <a:p>
              <a:pPr>
                <a:lnSpc>
                  <a:spcPct val="115000"/>
                </a:lnSpc>
                <a:tabLst>
                  <a:tab pos="177800" algn="ctr"/>
                  <a:tab pos="1257300" algn="ctr"/>
                  <a:tab pos="2336800" algn="ctr"/>
                  <a:tab pos="3403600" algn="ctr"/>
                </a:tabLst>
              </a:pPr>
              <a:r>
                <a:rPr lang="en-US" sz="1600">
                  <a:ea typeface="MS PGothic" pitchFamily="34" charset="-128"/>
                </a:rPr>
                <a:t>	0	20	40	60</a:t>
              </a:r>
            </a:p>
          </p:txBody>
        </p:sp>
        <p:sp>
          <p:nvSpPr>
            <p:cNvPr id="116747" name="Text Box 9"/>
            <p:cNvSpPr txBox="1">
              <a:spLocks noChangeArrowheads="1"/>
            </p:cNvSpPr>
            <p:nvPr/>
          </p:nvSpPr>
          <p:spPr bwMode="auto">
            <a:xfrm>
              <a:off x="2678" y="3366"/>
              <a:ext cx="258" cy="367"/>
            </a:xfrm>
            <a:prstGeom prst="rect">
              <a:avLst/>
            </a:prstGeom>
            <a:noFill/>
            <a:ln w="9525">
              <a:noFill/>
              <a:miter lim="800000"/>
              <a:headEnd/>
              <a:tailEnd/>
            </a:ln>
          </p:spPr>
          <p:txBody>
            <a:bodyPr wrap="none">
              <a:spAutoFit/>
            </a:bodyPr>
            <a:lstStyle/>
            <a:p>
              <a:pPr algn="ctr">
                <a:lnSpc>
                  <a:spcPct val="115000"/>
                </a:lnSpc>
              </a:pPr>
              <a:r>
                <a:rPr lang="en-US" sz="1200">
                  <a:ea typeface="MS PGothic" pitchFamily="34" charset="-128"/>
                </a:rPr>
                <a:t>|</a:t>
              </a:r>
            </a:p>
            <a:p>
              <a:pPr algn="ctr">
                <a:lnSpc>
                  <a:spcPct val="115000"/>
                </a:lnSpc>
              </a:pPr>
              <a:r>
                <a:rPr lang="en-US" sz="1600">
                  <a:ea typeface="MS PGothic" pitchFamily="34" charset="-128"/>
                </a:rPr>
                <a:t>50</a:t>
              </a:r>
            </a:p>
          </p:txBody>
        </p:sp>
        <p:sp>
          <p:nvSpPr>
            <p:cNvPr id="116748" name="Text Box 10"/>
            <p:cNvSpPr txBox="1">
              <a:spLocks noChangeArrowheads="1"/>
            </p:cNvSpPr>
            <p:nvPr/>
          </p:nvSpPr>
          <p:spPr bwMode="auto">
            <a:xfrm>
              <a:off x="3974" y="3543"/>
              <a:ext cx="260" cy="213"/>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1</a:t>
              </a:r>
              <a:endParaRPr lang="en-US" sz="1600">
                <a:ea typeface="MS PGothic" pitchFamily="34" charset="-128"/>
              </a:endParaRPr>
            </a:p>
          </p:txBody>
        </p:sp>
        <p:sp>
          <p:nvSpPr>
            <p:cNvPr id="116749" name="Text Box 11"/>
            <p:cNvSpPr txBox="1">
              <a:spLocks noChangeArrowheads="1"/>
            </p:cNvSpPr>
            <p:nvPr/>
          </p:nvSpPr>
          <p:spPr bwMode="auto">
            <a:xfrm>
              <a:off x="822" y="1119"/>
              <a:ext cx="260" cy="213"/>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2</a:t>
              </a:r>
              <a:endParaRPr lang="en-US" sz="1600">
                <a:ea typeface="MS PGothic" pitchFamily="34" charset="-128"/>
              </a:endParaRPr>
            </a:p>
          </p:txBody>
        </p:sp>
      </p:grpSp>
      <p:sp>
        <p:nvSpPr>
          <p:cNvPr id="116741" name="Text Box 28"/>
          <p:cNvSpPr txBox="1">
            <a:spLocks noChangeArrowheads="1"/>
          </p:cNvSpPr>
          <p:nvPr/>
        </p:nvSpPr>
        <p:spPr bwMode="auto">
          <a:xfrm>
            <a:off x="447675" y="1403350"/>
            <a:ext cx="1312863" cy="307975"/>
          </a:xfrm>
          <a:prstGeom prst="rect">
            <a:avLst/>
          </a:prstGeom>
          <a:noFill/>
          <a:ln w="9525">
            <a:noFill/>
            <a:miter lim="800000"/>
            <a:headEnd/>
            <a:tailEnd/>
          </a:ln>
        </p:spPr>
        <p:txBody>
          <a:bodyPr wrap="none">
            <a:spAutoFit/>
          </a:bodyPr>
          <a:lstStyle/>
          <a:p>
            <a:r>
              <a:rPr lang="en-US" sz="1400">
                <a:ea typeface="MS PGothic" pitchFamily="34" charset="-128"/>
              </a:rPr>
              <a:t>FIGURE  7.19</a:t>
            </a:r>
          </a:p>
        </p:txBody>
      </p:sp>
      <p:sp>
        <p:nvSpPr>
          <p:cNvPr id="116742" name="Slide Number Placeholder 9"/>
          <p:cNvSpPr>
            <a:spLocks noGrp="1"/>
          </p:cNvSpPr>
          <p:nvPr>
            <p:ph type="sldNum" sz="quarter" idx="11"/>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latin typeface="Arial" charset="0"/>
                <a:cs typeface="Arial" charset="0"/>
              </a:rPr>
              <a:t>7 – </a:t>
            </a:r>
            <a:fld id="{7E8DD9DB-D053-43B3-891B-E76CF920105D}" type="slidenum">
              <a:rPr lang="en-US">
                <a:latin typeface="Arial" charset="0"/>
                <a:cs typeface="Arial" charset="0"/>
              </a:rPr>
              <a:pPr fontAlgn="base">
                <a:spcBef>
                  <a:spcPct val="0"/>
                </a:spcBef>
                <a:spcAft>
                  <a:spcPct val="0"/>
                </a:spcAft>
              </a:pPr>
              <a:t>39</a:t>
            </a:fld>
            <a:endParaRPr lang="en-US">
              <a:latin typeface="Arial" charset="0"/>
              <a:cs typeface="Arial" charset="0"/>
            </a:endParaRPr>
          </a:p>
        </p:txBody>
      </p:sp>
    </p:spTree>
  </p:cSld>
  <p:clrMapOvr>
    <a:masterClrMapping/>
  </p:clrMapOvr>
  <p:transition spd="slow">
    <p:dissolv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dirty="0"/>
              <a:t>Changes in the Electricians’ Time Resource </a:t>
            </a:r>
          </a:p>
        </p:txBody>
      </p:sp>
      <p:sp>
        <p:nvSpPr>
          <p:cNvPr id="117762" name="Date Placeholder 3"/>
          <p:cNvSpPr>
            <a:spLocks noGrp="1"/>
          </p:cNvSpPr>
          <p:nvPr>
            <p:ph type="dt" sz="quarter" idx="10"/>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latin typeface="Arial" charset="0"/>
                <a:cs typeface="Arial" charset="0"/>
              </a:rPr>
              <a:t>Copyright ©2015 Pearson Education, Inc.</a:t>
            </a:r>
          </a:p>
        </p:txBody>
      </p:sp>
      <p:sp>
        <p:nvSpPr>
          <p:cNvPr id="117763" name="Text Box 28"/>
          <p:cNvSpPr txBox="1">
            <a:spLocks noChangeArrowheads="1"/>
          </p:cNvSpPr>
          <p:nvPr/>
        </p:nvSpPr>
        <p:spPr bwMode="auto">
          <a:xfrm>
            <a:off x="447675" y="1403350"/>
            <a:ext cx="1312863" cy="307975"/>
          </a:xfrm>
          <a:prstGeom prst="rect">
            <a:avLst/>
          </a:prstGeom>
          <a:noFill/>
          <a:ln w="9525">
            <a:noFill/>
            <a:miter lim="800000"/>
            <a:headEnd/>
            <a:tailEnd/>
          </a:ln>
        </p:spPr>
        <p:txBody>
          <a:bodyPr wrap="none">
            <a:spAutoFit/>
          </a:bodyPr>
          <a:lstStyle/>
          <a:p>
            <a:r>
              <a:rPr lang="en-US" sz="1400">
                <a:ea typeface="MS PGothic" pitchFamily="34" charset="-128"/>
              </a:rPr>
              <a:t>FIGURE  7.19</a:t>
            </a:r>
          </a:p>
        </p:txBody>
      </p:sp>
      <p:grpSp>
        <p:nvGrpSpPr>
          <p:cNvPr id="117764" name="Group 28"/>
          <p:cNvGrpSpPr>
            <a:grpSpLocks/>
          </p:cNvGrpSpPr>
          <p:nvPr/>
        </p:nvGrpSpPr>
        <p:grpSpPr bwMode="auto">
          <a:xfrm>
            <a:off x="1625600" y="1863725"/>
            <a:ext cx="6743700" cy="3851275"/>
            <a:chOff x="1562100" y="1787526"/>
            <a:chExt cx="6743700" cy="3851275"/>
          </a:xfrm>
        </p:grpSpPr>
        <p:sp>
          <p:nvSpPr>
            <p:cNvPr id="117773" name="Freeform 5"/>
            <p:cNvSpPr>
              <a:spLocks/>
            </p:cNvSpPr>
            <p:nvPr/>
          </p:nvSpPr>
          <p:spPr bwMode="auto">
            <a:xfrm>
              <a:off x="1562100" y="2368551"/>
              <a:ext cx="1079500" cy="3194050"/>
            </a:xfrm>
            <a:custGeom>
              <a:avLst/>
              <a:gdLst>
                <a:gd name="T0" fmla="*/ 0 w 680"/>
                <a:gd name="T1" fmla="*/ 0 h 2012"/>
                <a:gd name="T2" fmla="*/ 0 w 680"/>
                <a:gd name="T3" fmla="*/ 3194050 h 2012"/>
                <a:gd name="T4" fmla="*/ 1079500 w 680"/>
                <a:gd name="T5" fmla="*/ 3194050 h 2012"/>
                <a:gd name="T6" fmla="*/ 0 w 680"/>
                <a:gd name="T7" fmla="*/ 0 h 2012"/>
                <a:gd name="T8" fmla="*/ 0 60000 65536"/>
                <a:gd name="T9" fmla="*/ 0 60000 65536"/>
                <a:gd name="T10" fmla="*/ 0 60000 65536"/>
                <a:gd name="T11" fmla="*/ 0 60000 65536"/>
                <a:gd name="T12" fmla="*/ 0 w 680"/>
                <a:gd name="T13" fmla="*/ 0 h 2012"/>
                <a:gd name="T14" fmla="*/ 680 w 680"/>
                <a:gd name="T15" fmla="*/ 2012 h 2012"/>
              </a:gdLst>
              <a:ahLst/>
              <a:cxnLst>
                <a:cxn ang="T8">
                  <a:pos x="T0" y="T1"/>
                </a:cxn>
                <a:cxn ang="T9">
                  <a:pos x="T2" y="T3"/>
                </a:cxn>
                <a:cxn ang="T10">
                  <a:pos x="T4" y="T5"/>
                </a:cxn>
                <a:cxn ang="T11">
                  <a:pos x="T6" y="T7"/>
                </a:cxn>
              </a:cxnLst>
              <a:rect l="T12" t="T13" r="T14" b="T15"/>
              <a:pathLst>
                <a:path w="680" h="2012">
                  <a:moveTo>
                    <a:pt x="0" y="0"/>
                  </a:moveTo>
                  <a:lnTo>
                    <a:pt x="0" y="2012"/>
                  </a:lnTo>
                  <a:lnTo>
                    <a:pt x="680" y="2012"/>
                  </a:lnTo>
                  <a:lnTo>
                    <a:pt x="0" y="0"/>
                  </a:lnTo>
                  <a:close/>
                </a:path>
              </a:pathLst>
            </a:custGeom>
            <a:solidFill>
              <a:srgbClr val="BBE2EE"/>
            </a:solidFill>
            <a:ln w="9525">
              <a:noFill/>
              <a:round/>
              <a:headEnd/>
              <a:tailEnd/>
            </a:ln>
          </p:spPr>
          <p:txBody>
            <a:bodyPr/>
            <a:lstStyle/>
            <a:p>
              <a:endParaRPr lang="en-US"/>
            </a:p>
          </p:txBody>
        </p:sp>
        <p:sp>
          <p:nvSpPr>
            <p:cNvPr id="117774" name="Text Box 12"/>
            <p:cNvSpPr txBox="1">
              <a:spLocks noChangeArrowheads="1"/>
            </p:cNvSpPr>
            <p:nvPr/>
          </p:nvSpPr>
          <p:spPr bwMode="auto">
            <a:xfrm>
              <a:off x="3641725" y="1787526"/>
              <a:ext cx="433388" cy="336550"/>
            </a:xfrm>
            <a:prstGeom prst="rect">
              <a:avLst/>
            </a:prstGeom>
            <a:noFill/>
            <a:ln w="9525">
              <a:noFill/>
              <a:miter lim="800000"/>
              <a:headEnd/>
              <a:tailEnd/>
            </a:ln>
          </p:spPr>
          <p:txBody>
            <a:bodyPr wrap="none">
              <a:spAutoFit/>
            </a:bodyPr>
            <a:lstStyle/>
            <a:p>
              <a:r>
                <a:rPr lang="en-US" sz="1600">
                  <a:ea typeface="MS PGothic" pitchFamily="34" charset="-128"/>
                </a:rPr>
                <a:t>(c)</a:t>
              </a:r>
            </a:p>
          </p:txBody>
        </p:sp>
        <p:sp>
          <p:nvSpPr>
            <p:cNvPr id="117775" name="Line 13"/>
            <p:cNvSpPr>
              <a:spLocks noChangeShapeType="1"/>
            </p:cNvSpPr>
            <p:nvPr/>
          </p:nvSpPr>
          <p:spPr bwMode="auto">
            <a:xfrm>
              <a:off x="1562100" y="2349501"/>
              <a:ext cx="1079500" cy="3225800"/>
            </a:xfrm>
            <a:prstGeom prst="line">
              <a:avLst/>
            </a:prstGeom>
            <a:noFill/>
            <a:ln w="57150">
              <a:solidFill>
                <a:schemeClr val="accent1"/>
              </a:solidFill>
              <a:round/>
              <a:headEnd/>
              <a:tailEnd/>
            </a:ln>
          </p:spPr>
          <p:txBody>
            <a:bodyPr/>
            <a:lstStyle/>
            <a:p>
              <a:endParaRPr lang="en-US"/>
            </a:p>
          </p:txBody>
        </p:sp>
        <p:sp>
          <p:nvSpPr>
            <p:cNvPr id="117776" name="Line 14"/>
            <p:cNvSpPr>
              <a:spLocks noChangeShapeType="1"/>
            </p:cNvSpPr>
            <p:nvPr/>
          </p:nvSpPr>
          <p:spPr bwMode="auto">
            <a:xfrm>
              <a:off x="1562100" y="2336801"/>
              <a:ext cx="6438900" cy="3238500"/>
            </a:xfrm>
            <a:prstGeom prst="line">
              <a:avLst/>
            </a:prstGeom>
            <a:noFill/>
            <a:ln w="57150">
              <a:solidFill>
                <a:schemeClr val="accent1"/>
              </a:solidFill>
              <a:round/>
              <a:headEnd/>
              <a:tailEnd/>
            </a:ln>
          </p:spPr>
          <p:txBody>
            <a:bodyPr/>
            <a:lstStyle/>
            <a:p>
              <a:endParaRPr lang="en-US"/>
            </a:p>
          </p:txBody>
        </p:sp>
        <p:sp>
          <p:nvSpPr>
            <p:cNvPr id="117777" name="Oval 15"/>
            <p:cNvSpPr>
              <a:spLocks noChangeArrowheads="1"/>
            </p:cNvSpPr>
            <p:nvPr/>
          </p:nvSpPr>
          <p:spPr bwMode="auto">
            <a:xfrm>
              <a:off x="2578100" y="5499101"/>
              <a:ext cx="139700" cy="139700"/>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117778" name="Text Box 21"/>
            <p:cNvSpPr txBox="1">
              <a:spLocks noChangeArrowheads="1"/>
            </p:cNvSpPr>
            <p:nvPr/>
          </p:nvSpPr>
          <p:spPr bwMode="auto">
            <a:xfrm>
              <a:off x="3070225" y="3835401"/>
              <a:ext cx="2081213" cy="1195388"/>
            </a:xfrm>
            <a:prstGeom prst="rect">
              <a:avLst/>
            </a:prstGeom>
            <a:noFill/>
            <a:ln w="9525">
              <a:noFill/>
              <a:miter lim="800000"/>
              <a:headEnd/>
              <a:tailEnd/>
            </a:ln>
          </p:spPr>
          <p:txBody>
            <a:bodyPr>
              <a:spAutoFit/>
            </a:bodyPr>
            <a:lstStyle/>
            <a:p>
              <a:pPr>
                <a:lnSpc>
                  <a:spcPct val="90000"/>
                </a:lnSpc>
              </a:pPr>
              <a:r>
                <a:rPr lang="en-US" sz="1600">
                  <a:ea typeface="MS PGothic" pitchFamily="34" charset="-128"/>
                </a:rPr>
                <a:t>Constraint Representing </a:t>
              </a:r>
              <a:br>
                <a:rPr lang="en-US" sz="1600">
                  <a:ea typeface="MS PGothic" pitchFamily="34" charset="-128"/>
                </a:rPr>
              </a:br>
              <a:r>
                <a:rPr lang="en-US" sz="1600">
                  <a:ea typeface="MS PGothic" pitchFamily="34" charset="-128"/>
                </a:rPr>
                <a:t>60 Hours of Audio Technician’s </a:t>
              </a:r>
              <a:br>
                <a:rPr lang="en-US" sz="1600">
                  <a:ea typeface="MS PGothic" pitchFamily="34" charset="-128"/>
                </a:rPr>
              </a:br>
              <a:r>
                <a:rPr lang="en-US" sz="1600">
                  <a:ea typeface="MS PGothic" pitchFamily="34" charset="-128"/>
                </a:rPr>
                <a:t>Time Resource</a:t>
              </a:r>
            </a:p>
          </p:txBody>
        </p:sp>
        <p:sp>
          <p:nvSpPr>
            <p:cNvPr id="117779" name="Text Box 22"/>
            <p:cNvSpPr txBox="1">
              <a:spLocks noChangeArrowheads="1"/>
            </p:cNvSpPr>
            <p:nvPr/>
          </p:nvSpPr>
          <p:spPr bwMode="auto">
            <a:xfrm>
              <a:off x="3733800" y="2416176"/>
              <a:ext cx="4572000" cy="539635"/>
            </a:xfrm>
            <a:prstGeom prst="rect">
              <a:avLst/>
            </a:prstGeom>
            <a:noFill/>
            <a:ln w="9525">
              <a:noFill/>
              <a:miter lim="800000"/>
              <a:headEnd/>
              <a:tailEnd/>
            </a:ln>
          </p:spPr>
          <p:txBody>
            <a:bodyPr>
              <a:spAutoFit/>
            </a:bodyPr>
            <a:lstStyle/>
            <a:p>
              <a:pPr>
                <a:lnSpc>
                  <a:spcPct val="90000"/>
                </a:lnSpc>
              </a:pPr>
              <a:r>
                <a:rPr lang="en-US" sz="1600">
                  <a:ea typeface="MS PGothic" pitchFamily="34" charset="-128"/>
                </a:rPr>
                <a:t>Changed Constraint Representing 240 Hours of Electrician’s Time Resource</a:t>
              </a:r>
            </a:p>
          </p:txBody>
        </p:sp>
        <p:sp>
          <p:nvSpPr>
            <p:cNvPr id="117780" name="Line 23"/>
            <p:cNvSpPr>
              <a:spLocks noChangeShapeType="1"/>
            </p:cNvSpPr>
            <p:nvPr/>
          </p:nvSpPr>
          <p:spPr bwMode="auto">
            <a:xfrm flipH="1">
              <a:off x="2984500" y="2717801"/>
              <a:ext cx="723900" cy="292100"/>
            </a:xfrm>
            <a:prstGeom prst="line">
              <a:avLst/>
            </a:prstGeom>
            <a:noFill/>
            <a:ln w="38100">
              <a:solidFill>
                <a:schemeClr val="tx1"/>
              </a:solidFill>
              <a:round/>
              <a:headEnd/>
              <a:tailEnd type="triangle" w="sm" len="med"/>
            </a:ln>
          </p:spPr>
          <p:txBody>
            <a:bodyPr/>
            <a:lstStyle/>
            <a:p>
              <a:endParaRPr lang="en-US"/>
            </a:p>
          </p:txBody>
        </p:sp>
        <p:sp>
          <p:nvSpPr>
            <p:cNvPr id="117781" name="Line 24"/>
            <p:cNvSpPr>
              <a:spLocks noChangeShapeType="1"/>
            </p:cNvSpPr>
            <p:nvPr/>
          </p:nvSpPr>
          <p:spPr bwMode="auto">
            <a:xfrm flipH="1" flipV="1">
              <a:off x="2362200" y="4521201"/>
              <a:ext cx="685800" cy="101600"/>
            </a:xfrm>
            <a:prstGeom prst="line">
              <a:avLst/>
            </a:prstGeom>
            <a:noFill/>
            <a:ln w="38100">
              <a:solidFill>
                <a:schemeClr val="tx1"/>
              </a:solidFill>
              <a:round/>
              <a:headEnd/>
              <a:tailEnd type="triangle" w="sm" len="med"/>
            </a:ln>
          </p:spPr>
          <p:txBody>
            <a:bodyPr/>
            <a:lstStyle/>
            <a:p>
              <a:endParaRPr lang="en-US"/>
            </a:p>
          </p:txBody>
        </p:sp>
      </p:grpSp>
      <p:grpSp>
        <p:nvGrpSpPr>
          <p:cNvPr id="117765" name="Group 5"/>
          <p:cNvGrpSpPr>
            <a:grpSpLocks/>
          </p:cNvGrpSpPr>
          <p:nvPr/>
        </p:nvGrpSpPr>
        <p:grpSpPr bwMode="auto">
          <a:xfrm>
            <a:off x="1165225" y="1597025"/>
            <a:ext cx="7623175" cy="4441825"/>
            <a:chOff x="1800225" y="1597024"/>
            <a:chExt cx="7623174" cy="4441826"/>
          </a:xfrm>
        </p:grpSpPr>
        <p:sp>
          <p:nvSpPr>
            <p:cNvPr id="117767" name="Freeform 5"/>
            <p:cNvSpPr>
              <a:spLocks/>
            </p:cNvSpPr>
            <p:nvPr/>
          </p:nvSpPr>
          <p:spPr bwMode="auto">
            <a:xfrm>
              <a:off x="2247900" y="1930399"/>
              <a:ext cx="6642100" cy="3721101"/>
            </a:xfrm>
            <a:custGeom>
              <a:avLst/>
              <a:gdLst>
                <a:gd name="T0" fmla="*/ 0 w 3048"/>
                <a:gd name="T1" fmla="*/ 0 h 2344"/>
                <a:gd name="T2" fmla="*/ 0 w 3048"/>
                <a:gd name="T3" fmla="*/ 3721101 h 2344"/>
                <a:gd name="T4" fmla="*/ 6642100 w 3048"/>
                <a:gd name="T5" fmla="*/ 3721101 h 2344"/>
                <a:gd name="T6" fmla="*/ 0 60000 65536"/>
                <a:gd name="T7" fmla="*/ 0 60000 65536"/>
                <a:gd name="T8" fmla="*/ 0 60000 65536"/>
                <a:gd name="T9" fmla="*/ 0 w 3048"/>
                <a:gd name="T10" fmla="*/ 0 h 2344"/>
                <a:gd name="T11" fmla="*/ 3048 w 3048"/>
                <a:gd name="T12" fmla="*/ 2344 h 2344"/>
              </a:gdLst>
              <a:ahLst/>
              <a:cxnLst>
                <a:cxn ang="T6">
                  <a:pos x="T0" y="T1"/>
                </a:cxn>
                <a:cxn ang="T7">
                  <a:pos x="T2" y="T3"/>
                </a:cxn>
                <a:cxn ang="T8">
                  <a:pos x="T4" y="T5"/>
                </a:cxn>
              </a:cxnLst>
              <a:rect l="T9" t="T10" r="T11" b="T12"/>
              <a:pathLst>
                <a:path w="3048" h="2344">
                  <a:moveTo>
                    <a:pt x="0" y="0"/>
                  </a:moveTo>
                  <a:lnTo>
                    <a:pt x="0" y="2344"/>
                  </a:lnTo>
                  <a:lnTo>
                    <a:pt x="3048" y="2344"/>
                  </a:lnTo>
                </a:path>
              </a:pathLst>
            </a:custGeom>
            <a:noFill/>
            <a:ln w="38100" cmpd="sng">
              <a:solidFill>
                <a:schemeClr val="tx1"/>
              </a:solidFill>
              <a:round/>
              <a:headEnd type="triangle" w="sm" len="med"/>
              <a:tailEnd type="triangle" w="sm" len="med"/>
            </a:ln>
          </p:spPr>
          <p:txBody>
            <a:bodyPr/>
            <a:lstStyle/>
            <a:p>
              <a:endParaRPr lang="en-US"/>
            </a:p>
          </p:txBody>
        </p:sp>
        <p:sp>
          <p:nvSpPr>
            <p:cNvPr id="117768" name="Text Box 6"/>
            <p:cNvSpPr txBox="1">
              <a:spLocks noChangeArrowheads="1"/>
            </p:cNvSpPr>
            <p:nvPr/>
          </p:nvSpPr>
          <p:spPr bwMode="auto">
            <a:xfrm>
              <a:off x="1854262" y="1597024"/>
              <a:ext cx="596838" cy="3195952"/>
            </a:xfrm>
            <a:prstGeom prst="rect">
              <a:avLst/>
            </a:prstGeom>
            <a:noFill/>
            <a:ln w="9525">
              <a:noFill/>
              <a:miter lim="800000"/>
              <a:headEnd/>
              <a:tailEnd/>
            </a:ln>
          </p:spPr>
          <p:txBody>
            <a:bodyPr wrap="none">
              <a:spAutoFit/>
            </a:bodyPr>
            <a:lstStyle/>
            <a:p>
              <a:pPr algn="r">
                <a:lnSpc>
                  <a:spcPct val="439000"/>
                </a:lnSpc>
              </a:pPr>
              <a:r>
                <a:rPr lang="en-US" sz="1600">
                  <a:ea typeface="MS PGothic" pitchFamily="34" charset="-128"/>
                </a:rPr>
                <a:t>60 –</a:t>
              </a:r>
            </a:p>
            <a:p>
              <a:pPr algn="r">
                <a:lnSpc>
                  <a:spcPct val="439000"/>
                </a:lnSpc>
              </a:pPr>
              <a:r>
                <a:rPr lang="en-US" sz="1600">
                  <a:ea typeface="MS PGothic" pitchFamily="34" charset="-128"/>
                </a:rPr>
                <a:t>40 –</a:t>
              </a:r>
            </a:p>
            <a:p>
              <a:pPr algn="r">
                <a:lnSpc>
                  <a:spcPct val="439000"/>
                </a:lnSpc>
              </a:pPr>
              <a:r>
                <a:rPr lang="en-US" sz="1600">
                  <a:ea typeface="MS PGothic" pitchFamily="34" charset="-128"/>
                </a:rPr>
                <a:t>20 –</a:t>
              </a:r>
            </a:p>
          </p:txBody>
        </p:sp>
        <p:sp>
          <p:nvSpPr>
            <p:cNvPr id="117769" name="Text Box 7"/>
            <p:cNvSpPr txBox="1">
              <a:spLocks noChangeArrowheads="1"/>
            </p:cNvSpPr>
            <p:nvPr/>
          </p:nvSpPr>
          <p:spPr bwMode="auto">
            <a:xfrm>
              <a:off x="1871663" y="4124325"/>
              <a:ext cx="579438" cy="336550"/>
            </a:xfrm>
            <a:prstGeom prst="rect">
              <a:avLst/>
            </a:prstGeom>
            <a:noFill/>
            <a:ln w="9525">
              <a:noFill/>
              <a:miter lim="800000"/>
              <a:headEnd/>
              <a:tailEnd/>
            </a:ln>
          </p:spPr>
          <p:txBody>
            <a:bodyPr wrap="none">
              <a:spAutoFit/>
            </a:bodyPr>
            <a:lstStyle/>
            <a:p>
              <a:pPr algn="r"/>
              <a:r>
                <a:rPr lang="en-US" sz="1600">
                  <a:ea typeface="MS PGothic" pitchFamily="34" charset="-128"/>
                </a:rPr>
                <a:t>25 –</a:t>
              </a:r>
            </a:p>
          </p:txBody>
        </p:sp>
        <p:sp>
          <p:nvSpPr>
            <p:cNvPr id="117770" name="Text Box 8"/>
            <p:cNvSpPr txBox="1">
              <a:spLocks noChangeArrowheads="1"/>
            </p:cNvSpPr>
            <p:nvPr/>
          </p:nvSpPr>
          <p:spPr bwMode="auto">
            <a:xfrm>
              <a:off x="1978024" y="5419725"/>
              <a:ext cx="7445375" cy="581698"/>
            </a:xfrm>
            <a:prstGeom prst="rect">
              <a:avLst/>
            </a:prstGeom>
            <a:noFill/>
            <a:ln w="9525">
              <a:noFill/>
              <a:miter lim="800000"/>
              <a:headEnd/>
              <a:tailEnd/>
            </a:ln>
          </p:spPr>
          <p:txBody>
            <a:bodyPr>
              <a:spAutoFit/>
            </a:bodyPr>
            <a:lstStyle/>
            <a:p>
              <a:pPr>
                <a:lnSpc>
                  <a:spcPct val="115000"/>
                </a:lnSpc>
                <a:tabLst>
                  <a:tab pos="177800" algn="ctr"/>
                  <a:tab pos="1257300" algn="ctr"/>
                  <a:tab pos="2336800" algn="ctr"/>
                  <a:tab pos="3403600" algn="ctr"/>
                  <a:tab pos="4483100" algn="ctr"/>
                  <a:tab pos="5562600" algn="ctr"/>
                  <a:tab pos="6642100" algn="ctr"/>
                </a:tabLst>
              </a:pPr>
              <a:r>
                <a:rPr lang="en-US" sz="1200">
                  <a:ea typeface="MS PGothic" pitchFamily="34" charset="-128"/>
                </a:rPr>
                <a:t>		|	|	|	|	|	|</a:t>
              </a:r>
            </a:p>
            <a:p>
              <a:pPr>
                <a:lnSpc>
                  <a:spcPct val="115000"/>
                </a:lnSpc>
                <a:tabLst>
                  <a:tab pos="177800" algn="ctr"/>
                  <a:tab pos="1257300" algn="ctr"/>
                  <a:tab pos="2336800" algn="ctr"/>
                  <a:tab pos="3403600" algn="ctr"/>
                  <a:tab pos="4483100" algn="ctr"/>
                  <a:tab pos="5562600" algn="ctr"/>
                  <a:tab pos="6642100" algn="ctr"/>
                </a:tabLst>
              </a:pPr>
              <a:r>
                <a:rPr lang="en-US" sz="1600">
                  <a:ea typeface="MS PGothic" pitchFamily="34" charset="-128"/>
                </a:rPr>
                <a:t>	0	20	40	60	80	100	120</a:t>
              </a:r>
            </a:p>
          </p:txBody>
        </p:sp>
        <p:sp>
          <p:nvSpPr>
            <p:cNvPr id="117771" name="Text Box 10"/>
            <p:cNvSpPr txBox="1">
              <a:spLocks noChangeArrowheads="1"/>
            </p:cNvSpPr>
            <p:nvPr/>
          </p:nvSpPr>
          <p:spPr bwMode="auto">
            <a:xfrm>
              <a:off x="8912225" y="5700712"/>
              <a:ext cx="412750" cy="338138"/>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1</a:t>
              </a:r>
              <a:endParaRPr lang="en-US" sz="1600">
                <a:ea typeface="MS PGothic" pitchFamily="34" charset="-128"/>
              </a:endParaRPr>
            </a:p>
          </p:txBody>
        </p:sp>
        <p:sp>
          <p:nvSpPr>
            <p:cNvPr id="117772" name="Text Box 11"/>
            <p:cNvSpPr txBox="1">
              <a:spLocks noChangeArrowheads="1"/>
            </p:cNvSpPr>
            <p:nvPr/>
          </p:nvSpPr>
          <p:spPr bwMode="auto">
            <a:xfrm>
              <a:off x="1800225" y="1852612"/>
              <a:ext cx="412750" cy="338138"/>
            </a:xfrm>
            <a:prstGeom prst="rect">
              <a:avLst/>
            </a:prstGeom>
            <a:noFill/>
            <a:ln w="9525">
              <a:noFill/>
              <a:miter lim="800000"/>
              <a:headEnd/>
              <a:tailEnd/>
            </a:ln>
          </p:spPr>
          <p:txBody>
            <a:bodyPr wrap="none">
              <a:spAutoFit/>
            </a:bodyPr>
            <a:lstStyle/>
            <a:p>
              <a:r>
                <a:rPr lang="en-US" sz="1600" i="1">
                  <a:ea typeface="MS PGothic" pitchFamily="34" charset="-128"/>
                </a:rPr>
                <a:t>X</a:t>
              </a:r>
              <a:r>
                <a:rPr lang="en-US" sz="1600" baseline="-25000">
                  <a:ea typeface="MS PGothic" pitchFamily="34" charset="-128"/>
                </a:rPr>
                <a:t>2</a:t>
              </a:r>
              <a:endParaRPr lang="en-US" sz="1600">
                <a:ea typeface="MS PGothic" pitchFamily="34" charset="-128"/>
              </a:endParaRPr>
            </a:p>
          </p:txBody>
        </p:sp>
      </p:grpSp>
      <p:sp>
        <p:nvSpPr>
          <p:cNvPr id="117766" name="Slide Number Placeholder 9"/>
          <p:cNvSpPr>
            <a:spLocks noGrp="1"/>
          </p:cNvSpPr>
          <p:nvPr>
            <p:ph type="sldNum" sz="quarter" idx="11"/>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latin typeface="Arial" charset="0"/>
                <a:cs typeface="Arial" charset="0"/>
              </a:rPr>
              <a:t>7 – </a:t>
            </a:r>
            <a:fld id="{72B9AFDA-AD29-4AD9-90AD-4C6B8FF2FAB2}" type="slidenum">
              <a:rPr lang="en-US">
                <a:latin typeface="Arial" charset="0"/>
                <a:cs typeface="Arial" charset="0"/>
              </a:rPr>
              <a:pPr fontAlgn="base">
                <a:spcBef>
                  <a:spcPct val="0"/>
                </a:spcBef>
                <a:spcAft>
                  <a:spcPct val="0"/>
                </a:spcAft>
              </a:pPr>
              <a:t>40</a:t>
            </a:fld>
            <a:endParaRPr lang="en-US">
              <a:latin typeface="Arial" charset="0"/>
              <a:cs typeface="Arial" charset="0"/>
            </a:endParaRPr>
          </a:p>
        </p:txBody>
      </p:sp>
    </p:spTree>
  </p:cSld>
  <p:clrMapOvr>
    <a:masterClrMapping/>
  </p:clrMapOvr>
  <p:transition spd="slow">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p:cNvSpPr>
            <a:spLocks noGrp="1"/>
          </p:cNvSpPr>
          <p:nvPr>
            <p:ph type="title"/>
          </p:nvPr>
        </p:nvSpPr>
        <p:spPr/>
        <p:txBody>
          <a:bodyPr/>
          <a:lstStyle/>
          <a:p>
            <a:r>
              <a:rPr lang="en-US">
                <a:latin typeface="Arial" charset="0"/>
                <a:cs typeface="Arial" charset="0"/>
              </a:rPr>
              <a:t>Excel Solver</a:t>
            </a:r>
          </a:p>
        </p:txBody>
      </p:sp>
      <p:sp>
        <p:nvSpPr>
          <p:cNvPr id="4" name="Date Placeholder 3"/>
          <p:cNvSpPr>
            <a:spLocks noGrp="1"/>
          </p:cNvSpPr>
          <p:nvPr>
            <p:ph type="dt" sz="quarter" idx="10"/>
          </p:nvPr>
        </p:nvSpPr>
        <p:spPr/>
        <p:txBody>
          <a:bodyPr/>
          <a:lstStyle/>
          <a:p>
            <a:pPr>
              <a:defRPr/>
            </a:pPr>
            <a:r>
              <a:rPr lang="en-US"/>
              <a:t>Copyright ©2015 Pearson Education, Inc.</a:t>
            </a:r>
            <a:endParaRPr lang="en-US" dirty="0"/>
          </a:p>
        </p:txBody>
      </p:sp>
      <p:sp>
        <p:nvSpPr>
          <p:cNvPr id="7" name="Text Box 5"/>
          <p:cNvSpPr txBox="1">
            <a:spLocks noChangeArrowheads="1"/>
          </p:cNvSpPr>
          <p:nvPr/>
        </p:nvSpPr>
        <p:spPr bwMode="auto">
          <a:xfrm>
            <a:off x="622300" y="1438275"/>
            <a:ext cx="1698625" cy="738188"/>
          </a:xfrm>
          <a:prstGeom prst="rect">
            <a:avLst/>
          </a:prstGeom>
          <a:noFill/>
          <a:ln w="9525">
            <a:noFill/>
            <a:miter lim="800000"/>
            <a:headEnd/>
            <a:tailEnd/>
          </a:ln>
        </p:spPr>
        <p:txBody>
          <a:bodyPr wrap="none">
            <a:spAutoFit/>
          </a:bodyPr>
          <a:lstStyle/>
          <a:p>
            <a:r>
              <a:rPr lang="en-US" sz="1400">
                <a:ea typeface="MS PGothic" pitchFamily="34" charset="-128"/>
              </a:rPr>
              <a:t>PROGRAM 7.7C – </a:t>
            </a:r>
          </a:p>
          <a:p>
            <a:r>
              <a:rPr lang="en-US" sz="1400">
                <a:ea typeface="MS PGothic" pitchFamily="34" charset="-128"/>
              </a:rPr>
              <a:t>Excel 2013 </a:t>
            </a:r>
          </a:p>
          <a:p>
            <a:r>
              <a:rPr lang="en-US" sz="1400">
                <a:ea typeface="MS PGothic" pitchFamily="34" charset="-128"/>
              </a:rPr>
              <a:t>Sensitivity Report</a:t>
            </a:r>
          </a:p>
        </p:txBody>
      </p:sp>
      <p:pic>
        <p:nvPicPr>
          <p:cNvPr id="6" name="Picture 5" descr="p 7-7c.pdf"/>
          <p:cNvPicPr>
            <a:picLocks noChangeAspect="1"/>
          </p:cNvPicPr>
          <p:nvPr/>
        </p:nvPicPr>
        <p:blipFill>
          <a:blip r:embed="rId2"/>
          <a:srcRect/>
          <a:stretch>
            <a:fillRect/>
          </a:stretch>
        </p:blipFill>
        <p:spPr bwMode="auto">
          <a:xfrm>
            <a:off x="2741613" y="1417638"/>
            <a:ext cx="5945187" cy="4616450"/>
          </a:xfrm>
          <a:prstGeom prst="rect">
            <a:avLst/>
          </a:prstGeom>
          <a:noFill/>
          <a:ln w="9525">
            <a:noFill/>
            <a:miter lim="800000"/>
            <a:headEnd/>
            <a:tailEnd/>
          </a:ln>
        </p:spPr>
      </p:pic>
      <p:sp>
        <p:nvSpPr>
          <p:cNvPr id="8" name="Rectangle 7"/>
          <p:cNvSpPr/>
          <p:nvPr/>
        </p:nvSpPr>
        <p:spPr>
          <a:xfrm>
            <a:off x="2741613" y="4279900"/>
            <a:ext cx="5894387" cy="939800"/>
          </a:xfrm>
          <a:prstGeom prst="rect">
            <a:avLst/>
          </a:prstGeom>
          <a:noFill/>
          <a:ln w="57150" cmpd="sng">
            <a:solidFill>
              <a:schemeClr val="accent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lide Number Placeholder 9"/>
          <p:cNvSpPr>
            <a:spLocks noGrp="1"/>
          </p:cNvSpPr>
          <p:nvPr>
            <p:ph type="sldNum" sz="quarter" idx="11"/>
          </p:nvPr>
        </p:nvSpPr>
        <p:spPr/>
        <p:txBody>
          <a:bodyPr/>
          <a:lstStyle/>
          <a:p>
            <a:pPr>
              <a:defRPr/>
            </a:pPr>
            <a:r>
              <a:rPr lang="en-US"/>
              <a:t>7 – </a:t>
            </a:r>
            <a:fld id="{5D4066B3-E4B0-46CB-B4D0-433450C74D53}" type="slidenum">
              <a:rPr lang="en-US"/>
              <a:pPr>
                <a:defRPr/>
              </a:pPr>
              <a:t>41</a:t>
            </a:fld>
            <a:endParaRPr lang="en-US"/>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2/3*#ppt_w"/>
                                          </p:val>
                                        </p:tav>
                                        <p:tav tm="100000">
                                          <p:val>
                                            <p:strVal val="#ppt_w"/>
                                          </p:val>
                                        </p:tav>
                                      </p:tavLst>
                                    </p:anim>
                                    <p:anim calcmode="lin" valueType="num">
                                      <p:cBhvr>
                                        <p:cTn id="8" dur="1000" fill="hold"/>
                                        <p:tgtEl>
                                          <p:spTgt spid="6"/>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par>
                          <p:cTn id="13" fill="hold">
                            <p:stCondLst>
                              <p:cond delay="3000"/>
                            </p:stCondLst>
                            <p:childTnLst>
                              <p:par>
                                <p:cTn id="14" presetID="18" presetClass="entr" presetSubtype="6" fill="hold" grpId="0" nodeType="afterEffect">
                                  <p:stCondLst>
                                    <p:cond delay="1000"/>
                                  </p:stCondLst>
                                  <p:childTnLst>
                                    <p:set>
                                      <p:cBhvr>
                                        <p:cTn id="15" dur="1" fill="hold">
                                          <p:stCondLst>
                                            <p:cond delay="0"/>
                                          </p:stCondLst>
                                        </p:cTn>
                                        <p:tgtEl>
                                          <p:spTgt spid="8"/>
                                        </p:tgtEl>
                                        <p:attrNameLst>
                                          <p:attrName>style.visibility</p:attrName>
                                        </p:attrNameLst>
                                      </p:cBhvr>
                                      <p:to>
                                        <p:strVal val="visible"/>
                                      </p:to>
                                    </p:set>
                                    <p:animEffect transition="in" filter="strips(downRight)">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3"/>
          <p:cNvSpPr>
            <a:spLocks noGrp="1"/>
          </p:cNvSpPr>
          <p:nvPr>
            <p:ph type="title"/>
          </p:nvPr>
        </p:nvSpPr>
        <p:spPr/>
        <p:txBody>
          <a:bodyPr/>
          <a:lstStyle/>
          <a:p>
            <a:r>
              <a:rPr lang="en-US">
                <a:latin typeface="Arial" charset="0"/>
                <a:ea typeface="MS PGothic" pitchFamily="34" charset="-128"/>
                <a:cs typeface="Arial" charset="0"/>
              </a:rPr>
              <a:t>Copyright</a:t>
            </a:r>
          </a:p>
        </p:txBody>
      </p:sp>
      <p:pic>
        <p:nvPicPr>
          <p:cNvPr id="120834" name="Picture 2" descr="3293795473_47524415"/>
          <p:cNvPicPr>
            <a:picLocks noChangeAspect="1" noChangeArrowheads="1"/>
          </p:cNvPicPr>
          <p:nvPr/>
        </p:nvPicPr>
        <p:blipFill>
          <a:blip r:embed="rId2"/>
          <a:srcRect/>
          <a:stretch>
            <a:fillRect/>
          </a:stretch>
        </p:blipFill>
        <p:spPr bwMode="auto">
          <a:xfrm>
            <a:off x="977900" y="1714500"/>
            <a:ext cx="6985000" cy="2182813"/>
          </a:xfrm>
          <a:prstGeom prst="rect">
            <a:avLst/>
          </a:prstGeom>
          <a:noFill/>
          <a:ln w="9525">
            <a:noFill/>
            <a:miter lim="800000"/>
            <a:headEnd/>
            <a:tailEnd/>
          </a:ln>
        </p:spPr>
      </p:pic>
      <p:sp>
        <p:nvSpPr>
          <p:cNvPr id="120835" name="TextBox 4"/>
          <p:cNvSpPr txBox="1">
            <a:spLocks noChangeArrowheads="1"/>
          </p:cNvSpPr>
          <p:nvPr/>
        </p:nvSpPr>
        <p:spPr bwMode="auto">
          <a:xfrm>
            <a:off x="304800" y="4025900"/>
            <a:ext cx="8737600" cy="2308225"/>
          </a:xfrm>
          <a:prstGeom prst="rect">
            <a:avLst/>
          </a:prstGeom>
          <a:noFill/>
          <a:ln w="9525">
            <a:noFill/>
            <a:miter lim="800000"/>
            <a:headEnd/>
            <a:tailEnd/>
          </a:ln>
        </p:spPr>
        <p:txBody>
          <a:bodyPr>
            <a:spAutoFit/>
          </a:bodyPr>
          <a:lstStyle/>
          <a:p>
            <a:r>
              <a:rPr lang="en-US" sz="2400" b="1">
                <a:ea typeface="MS PGothic" pitchFamily="34" charset="-128"/>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120836" name="Date Placeholder 3"/>
          <p:cNvSpPr txBox="1">
            <a:spLocks/>
          </p:cNvSpPr>
          <p:nvPr/>
        </p:nvSpPr>
        <p:spPr bwMode="auto">
          <a:xfrm>
            <a:off x="457200" y="6356350"/>
            <a:ext cx="2819400" cy="365125"/>
          </a:xfrm>
          <a:prstGeom prst="rect">
            <a:avLst/>
          </a:prstGeom>
          <a:noFill/>
          <a:ln w="9525">
            <a:noFill/>
            <a:miter lim="800000"/>
            <a:headEnd/>
            <a:tailEnd/>
          </a:ln>
        </p:spPr>
        <p:txBody>
          <a:bodyPr anchor="ctr"/>
          <a:lstStyle/>
          <a:p>
            <a:pPr algn="ctr"/>
            <a:r>
              <a:rPr lang="en-US" sz="1200">
                <a:solidFill>
                  <a:srgbClr val="898989"/>
                </a:solidFill>
                <a:latin typeface="Calibri" pitchFamily="34" charset="0"/>
              </a:rPr>
              <a:t>Copyright ©2015 Pearson Education, Inc.</a:t>
            </a:r>
          </a:p>
        </p:txBody>
      </p:sp>
    </p:spTree>
  </p:cSld>
  <p:clrMapOvr>
    <a:masterClrMapping/>
  </p:clrMapOvr>
</p:sld>
</file>

<file path=ppt/theme/theme1.xml><?xml version="1.0" encoding="utf-8"?>
<a:theme xmlns:a="http://schemas.openxmlformats.org/drawingml/2006/main" name="Office Theme">
  <a:themeElements>
    <a:clrScheme name="RSHH 12">
      <a:dk1>
        <a:srgbClr val="000000"/>
      </a:dk1>
      <a:lt1>
        <a:srgbClr val="FFFFFF"/>
      </a:lt1>
      <a:dk2>
        <a:srgbClr val="8BAEB8"/>
      </a:dk2>
      <a:lt2>
        <a:srgbClr val="FFFFFF"/>
      </a:lt2>
      <a:accent1>
        <a:srgbClr val="086B97"/>
      </a:accent1>
      <a:accent2>
        <a:srgbClr val="414141"/>
      </a:accent2>
      <a:accent3>
        <a:srgbClr val="808080"/>
      </a:accent3>
      <a:accent4>
        <a:srgbClr val="B6DDE6"/>
      </a:accent4>
      <a:accent5>
        <a:srgbClr val="95B2BD"/>
      </a:accent5>
      <a:accent6>
        <a:srgbClr val="0392D1"/>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2406</TotalTime>
  <Words>2156</Words>
  <Application>Microsoft Office PowerPoint</Application>
  <PresentationFormat>On-screen Show (4:3)</PresentationFormat>
  <Paragraphs>426</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MS PGothic</vt:lpstr>
      <vt:lpstr>MS PGothic</vt:lpstr>
      <vt:lpstr>Arial</vt:lpstr>
      <vt:lpstr>Calibri</vt:lpstr>
      <vt:lpstr>Calibri Light</vt:lpstr>
      <vt:lpstr>Wingdings</vt:lpstr>
      <vt:lpstr>Office Theme</vt:lpstr>
      <vt:lpstr>Sensitivity Analysis</vt:lpstr>
      <vt:lpstr>PowerPoint Presentation</vt:lpstr>
      <vt:lpstr>Introduction</vt:lpstr>
      <vt:lpstr>Requirements of a  Linear Programming Problem</vt:lpstr>
      <vt:lpstr>Formulating LP Problems</vt:lpstr>
      <vt:lpstr>Formulating LP Problems</vt:lpstr>
      <vt:lpstr>Flair Furniture Company</vt:lpstr>
      <vt:lpstr>Flair Furniture Company</vt:lpstr>
      <vt:lpstr>Flair Furniture Company</vt:lpstr>
      <vt:lpstr>Flair Furniture Company</vt:lpstr>
      <vt:lpstr>Solving Flair Furniture’s  LP Problem</vt:lpstr>
      <vt:lpstr>Using Excel’s Solver</vt:lpstr>
      <vt:lpstr>Using Solver</vt:lpstr>
      <vt:lpstr>Using Solver</vt:lpstr>
      <vt:lpstr>Using Solver</vt:lpstr>
      <vt:lpstr>Using Solver</vt:lpstr>
      <vt:lpstr>Using Solver</vt:lpstr>
      <vt:lpstr>Using Solver</vt:lpstr>
      <vt:lpstr>Using Solver</vt:lpstr>
      <vt:lpstr>Using Solver</vt:lpstr>
      <vt:lpstr>Using Solver</vt:lpstr>
      <vt:lpstr>Using Solver</vt:lpstr>
      <vt:lpstr>Sensitivity Analysis</vt:lpstr>
      <vt:lpstr>Sensitivity Analysis</vt:lpstr>
      <vt:lpstr>High Note Sound Company</vt:lpstr>
      <vt:lpstr>High Note Sound Company</vt:lpstr>
      <vt:lpstr>High Note Sound Company</vt:lpstr>
      <vt:lpstr>Changes in the  Objective Function Coefficient</vt:lpstr>
      <vt:lpstr>Changes in the  Objective Function Coefficient</vt:lpstr>
      <vt:lpstr>Excel Solver</vt:lpstr>
      <vt:lpstr>Excel Solver</vt:lpstr>
      <vt:lpstr>Excel Solver</vt:lpstr>
      <vt:lpstr>Changes in the  Technological Coefficients</vt:lpstr>
      <vt:lpstr>Changes in the  Technological Coefficients</vt:lpstr>
      <vt:lpstr>Changes in Resources or  Right-Hand-Side Values</vt:lpstr>
      <vt:lpstr>Changes in Resources or  Right-Hand-Side Values</vt:lpstr>
      <vt:lpstr>Changes in Resources or  Right-Hand-Side Values</vt:lpstr>
      <vt:lpstr>Changes in the Electricians’ Time Resource </vt:lpstr>
      <vt:lpstr>Changes in the Electricians’ Time Resource </vt:lpstr>
      <vt:lpstr>Changes in the Electricians’ Time Resource </vt:lpstr>
      <vt:lpstr>Excel Solver</vt:lpstr>
      <vt:lpstr>Copyright</vt:lpstr>
    </vt:vector>
  </TitlesOfParts>
  <Manager/>
  <Company>Lincoln University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RSHH QAM 12</dc:title>
  <dc:subject>Ch 7 – Linear Programming Models: Graphical and Computer Methods</dc:subject>
  <dc:creator>Jeff Heyl</dc:creator>
  <cp:keywords/>
  <dc:description/>
  <cp:lastModifiedBy>yucc</cp:lastModifiedBy>
  <cp:revision>334</cp:revision>
  <dcterms:created xsi:type="dcterms:W3CDTF">2013-10-16T01:01:25Z</dcterms:created>
  <dcterms:modified xsi:type="dcterms:W3CDTF">2025-02-22T14:32:56Z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84e309d-6359-4367-9d03-e248bac620e6_Enabled">
    <vt:lpwstr>true</vt:lpwstr>
  </property>
  <property fmtid="{D5CDD505-2E9C-101B-9397-08002B2CF9AE}" pid="3" name="MSIP_Label_284e309d-6359-4367-9d03-e248bac620e6_SetDate">
    <vt:lpwstr>2025-02-17T13:13:00Z</vt:lpwstr>
  </property>
  <property fmtid="{D5CDD505-2E9C-101B-9397-08002B2CF9AE}" pid="4" name="MSIP_Label_284e309d-6359-4367-9d03-e248bac620e6_Method">
    <vt:lpwstr>Standard</vt:lpwstr>
  </property>
  <property fmtid="{D5CDD505-2E9C-101B-9397-08002B2CF9AE}" pid="5" name="MSIP_Label_284e309d-6359-4367-9d03-e248bac620e6_Name">
    <vt:lpwstr>defa4170-0d19-0005-0004-bc88714345d2</vt:lpwstr>
  </property>
  <property fmtid="{D5CDD505-2E9C-101B-9397-08002B2CF9AE}" pid="6" name="MSIP_Label_284e309d-6359-4367-9d03-e248bac620e6_SiteId">
    <vt:lpwstr>4bf7cbc0-71a9-4cae-9625-6dc374768c3e</vt:lpwstr>
  </property>
  <property fmtid="{D5CDD505-2E9C-101B-9397-08002B2CF9AE}" pid="7" name="MSIP_Label_284e309d-6359-4367-9d03-e248bac620e6_ActionId">
    <vt:lpwstr>1e7f0b84-2942-4e06-ba1b-3429de99e98b</vt:lpwstr>
  </property>
  <property fmtid="{D5CDD505-2E9C-101B-9397-08002B2CF9AE}" pid="8" name="MSIP_Label_284e309d-6359-4367-9d03-e248bac620e6_ContentBits">
    <vt:lpwstr>0</vt:lpwstr>
  </property>
  <property fmtid="{D5CDD505-2E9C-101B-9397-08002B2CF9AE}" pid="9" name="MSIP_Label_284e309d-6359-4367-9d03-e248bac620e6_Tag">
    <vt:lpwstr>10, 3, 0, 2</vt:lpwstr>
  </property>
</Properties>
</file>